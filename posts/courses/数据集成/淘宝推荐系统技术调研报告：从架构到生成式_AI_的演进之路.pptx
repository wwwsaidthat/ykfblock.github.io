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9"/>
    <p:sldId id="263" r:id="rId10"/>
    <p:sldId id="266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87" autoAdjust="0"/>
    <p:restoredTop sz="94610"/>
  </p:normalViewPr>
  <p:slideViewPr>
    <p:cSldViewPr snapToGrid="0" snapToObjects="1">
      <p:cViewPr varScale="1">
        <p:scale>
          <a:sx n="107" d="100"/>
          <a:sy n="107" d="100"/>
        </p:scale>
        <p:origin x="782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336550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9.jpe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10" Type="http://schemas.openxmlformats.org/officeDocument/2006/relationships/image" Target="../media/image16.png"/><Relationship Id="rId4" Type="http://schemas.openxmlformats.org/officeDocument/2006/relationships/image" Target="../media/image10.png"/><Relationship Id="rId9" Type="http://schemas.openxmlformats.org/officeDocument/2006/relationships/image" Target="../media/image1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9448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3919" y="1096332"/>
            <a:ext cx="7418609" cy="11496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4300"/>
              </a:lnSpc>
              <a:buNone/>
            </a:pPr>
            <a:r>
              <a:rPr lang="en-US" sz="4800" b="1" dirty="0" err="1">
                <a:solidFill>
                  <a:srgbClr val="0F172A"/>
                </a:solidFill>
                <a:latin typeface="华文行楷" panose="02010800040101010101" pitchFamily="2" charset="-122"/>
                <a:ea typeface="华文行楷" panose="02010800040101010101" pitchFamily="2" charset="-122"/>
                <a:cs typeface="Playfair Display" pitchFamily="34" charset="-120"/>
              </a:rPr>
              <a:t>淘宝推荐系统</a:t>
            </a:r>
            <a:endParaRPr lang="en-US" sz="4800" b="1" dirty="0">
              <a:solidFill>
                <a:srgbClr val="0F172A"/>
              </a:solidFill>
              <a:latin typeface="华文行楷" panose="02010800040101010101" pitchFamily="2" charset="-122"/>
              <a:ea typeface="华文行楷" panose="02010800040101010101" pitchFamily="2" charset="-122"/>
              <a:cs typeface="Playfair Display" pitchFamily="34" charset="-120"/>
            </a:endParaRPr>
          </a:p>
          <a:p>
            <a:pPr marL="0" indent="0" algn="l">
              <a:lnSpc>
                <a:spcPts val="4300"/>
              </a:lnSpc>
              <a:buNone/>
            </a:pPr>
            <a:r>
              <a:rPr lang="en-US" sz="4800" b="1" dirty="0">
                <a:solidFill>
                  <a:srgbClr val="0F172A"/>
                </a:solidFill>
                <a:latin typeface="华文行楷" panose="02010800040101010101" pitchFamily="2" charset="-122"/>
                <a:ea typeface="华文行楷" panose="02010800040101010101" pitchFamily="2" charset="-122"/>
                <a:cs typeface="Playfair Display" pitchFamily="34" charset="-120"/>
              </a:rPr>
              <a:t>     </a:t>
            </a:r>
            <a:r>
              <a:rPr lang="en-US" sz="4800" b="1" dirty="0" err="1">
                <a:solidFill>
                  <a:srgbClr val="0F172A"/>
                </a:solidFill>
                <a:latin typeface="华文行楷" panose="02010800040101010101" pitchFamily="2" charset="-122"/>
                <a:ea typeface="华文行楷" panose="02010800040101010101" pitchFamily="2" charset="-122"/>
                <a:cs typeface="Playfair Display" pitchFamily="34" charset="-120"/>
              </a:rPr>
              <a:t>技术调研报告</a:t>
            </a:r>
            <a:endParaRPr lang="en-US" sz="4800" dirty="0"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  <p:sp>
        <p:nvSpPr>
          <p:cNvPr id="4" name="Text 1"/>
          <p:cNvSpPr/>
          <p:nvPr/>
        </p:nvSpPr>
        <p:spPr>
          <a:xfrm>
            <a:off x="2107499" y="2388932"/>
            <a:ext cx="3371308" cy="243656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486" dirty="0">
                <a:solidFill>
                  <a:srgbClr val="8B5CF6"/>
                </a:solidFill>
                <a:latin typeface="华文行楷" panose="02010800040101010101" pitchFamily="2" charset="-122"/>
                <a:ea typeface="华文行楷" panose="02010800040101010101" pitchFamily="2" charset="-122"/>
                <a:cs typeface="Inter" pitchFamily="34" charset="-120"/>
              </a:rPr>
              <a:t>从全链路架构到生成式 </a:t>
            </a:r>
            <a:r>
              <a:rPr lang="en-US" sz="1486" dirty="0">
                <a:solidFill>
                  <a:srgbClr val="8B5CF6"/>
                </a:solidFill>
                <a:latin typeface="Ink Free" panose="03080402000500000000" pitchFamily="66" charset="0"/>
                <a:ea typeface="华文行楷" panose="02010800040101010101" pitchFamily="2" charset="-122"/>
                <a:cs typeface="Inter" pitchFamily="34" charset="-120"/>
              </a:rPr>
              <a:t>AI</a:t>
            </a:r>
            <a:r>
              <a:rPr lang="en-US" sz="1486" dirty="0">
                <a:solidFill>
                  <a:srgbClr val="8B5CF6"/>
                </a:solidFill>
                <a:latin typeface="华文行楷" panose="02010800040101010101" pitchFamily="2" charset="-122"/>
                <a:ea typeface="华文行楷" panose="02010800040101010101" pitchFamily="2" charset="-122"/>
                <a:cs typeface="Inter" pitchFamily="34" charset="-120"/>
              </a:rPr>
              <a:t> 的演进之路</a:t>
            </a:r>
            <a:endParaRPr lang="en-US" sz="1486" dirty="0"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11564" y="3191037"/>
            <a:ext cx="112514" cy="128588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2895516" y="3178535"/>
            <a:ext cx="841577" cy="14657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42" dirty="0" err="1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汇报人</a:t>
            </a:r>
            <a:r>
              <a:rPr lang="en-US" sz="942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：</a:t>
            </a:r>
            <a:r>
              <a:rPr lang="zh-CN" altLang="en-US" sz="942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姚凯方</a:t>
            </a:r>
            <a:endParaRPr lang="en-US" sz="942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11564" y="3435710"/>
            <a:ext cx="112514" cy="128588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2895516" y="3435710"/>
            <a:ext cx="726161" cy="14657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42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2026年4月</a:t>
            </a:r>
            <a:r>
              <a:rPr lang="en-US" altLang="zh-CN" sz="942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r>
              <a:rPr lang="en-US" sz="942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日</a:t>
            </a:r>
            <a:endParaRPr lang="en-US" sz="942" dirty="0"/>
          </a:p>
        </p:txBody>
      </p:sp>
      <p:sp>
        <p:nvSpPr>
          <p:cNvPr id="9" name="Shape 4"/>
          <p:cNvSpPr/>
          <p:nvPr/>
        </p:nvSpPr>
        <p:spPr>
          <a:xfrm rot="240000">
            <a:off x="6589332" y="1144854"/>
            <a:ext cx="2078831" cy="1322987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0" name="Shape 5"/>
          <p:cNvSpPr/>
          <p:nvPr/>
        </p:nvSpPr>
        <p:spPr>
          <a:xfrm rot="228087">
            <a:off x="6634284" y="1142841"/>
            <a:ext cx="2078831" cy="28575"/>
          </a:xfrm>
          <a:prstGeom prst="rect">
            <a:avLst/>
          </a:prstGeom>
          <a:solidFill>
            <a:srgbClr val="8B5CF6"/>
          </a:solidFill>
          <a:ln/>
        </p:spPr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59488" y="1316726"/>
            <a:ext cx="342900" cy="342900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 rot="265206">
            <a:off x="6758693" y="1894632"/>
            <a:ext cx="1650206" cy="36572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核心驱动：</a:t>
            </a:r>
            <a:r>
              <a:rPr lang="en-US" sz="834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
算法创新 × 极致工程 × 业务理解</a:t>
            </a:r>
            <a:endParaRPr lang="en-US" sz="834" dirty="0"/>
          </a:p>
        </p:txBody>
      </p:sp>
      <p:sp>
        <p:nvSpPr>
          <p:cNvPr id="13" name="Text 2">
            <a:extLst>
              <a:ext uri="{FF2B5EF4-FFF2-40B4-BE49-F238E27FC236}">
                <a16:creationId xmlns:a16="http://schemas.microsoft.com/office/drawing/2014/main" id="{86E4D15F-68B8-BC5B-A68F-8944A3F23CFD}"/>
              </a:ext>
            </a:extLst>
          </p:cNvPr>
          <p:cNvSpPr/>
          <p:nvPr/>
        </p:nvSpPr>
        <p:spPr>
          <a:xfrm>
            <a:off x="2895516" y="3699946"/>
            <a:ext cx="1737655" cy="14657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zh-CN" altLang="en-US" sz="942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小组成员</a:t>
            </a:r>
            <a:r>
              <a:rPr lang="en-US" sz="942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：</a:t>
            </a:r>
            <a:r>
              <a:rPr lang="zh-CN" altLang="en-US" sz="942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顾奕博 周楚然 张文宇</a:t>
            </a:r>
            <a:endParaRPr lang="en-US" sz="942" dirty="0"/>
          </a:p>
        </p:txBody>
      </p:sp>
      <p:pic>
        <p:nvPicPr>
          <p:cNvPr id="14" name="Image 1" descr="preencoded.png">
            <a:extLst>
              <a:ext uri="{FF2B5EF4-FFF2-40B4-BE49-F238E27FC236}">
                <a16:creationId xmlns:a16="http://schemas.microsoft.com/office/drawing/2014/main" id="{368F5898-10D8-0546-8E04-8DA63D1B8AE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11798" y="3713346"/>
            <a:ext cx="112514" cy="12858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72464" y="288591"/>
            <a:ext cx="5049459" cy="299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2800" b="1" dirty="0">
                <a:solidFill>
                  <a:srgbClr val="0F172A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淘宝推荐系统：全链路架构解析</a:t>
            </a:r>
            <a:endParaRPr lang="en-US" sz="28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10545" y="1006606"/>
            <a:ext cx="285750" cy="28575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2196556" y="1138658"/>
            <a:ext cx="2518318" cy="22377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2400" b="1" dirty="0" err="1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技术底座：A</a:t>
            </a:r>
            <a:r>
              <a:rPr lang="en-US" sz="24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I · O S</a:t>
            </a:r>
            <a:endParaRPr lang="en-US" sz="2400" dirty="0"/>
          </a:p>
        </p:txBody>
      </p:sp>
      <p:sp>
        <p:nvSpPr>
          <p:cNvPr id="9" name="Text 5"/>
          <p:cNvSpPr/>
          <p:nvPr/>
        </p:nvSpPr>
        <p:spPr>
          <a:xfrm>
            <a:off x="2838395" y="1962113"/>
            <a:ext cx="65" cy="16293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endParaRPr lang="en-US" sz="834" dirty="0"/>
          </a:p>
        </p:txBody>
      </p:sp>
      <p:sp>
        <p:nvSpPr>
          <p:cNvPr id="10" name="Text 6"/>
          <p:cNvSpPr/>
          <p:nvPr/>
        </p:nvSpPr>
        <p:spPr>
          <a:xfrm>
            <a:off x="252291" y="2029965"/>
            <a:ext cx="128240" cy="16293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127000" indent="-127000" algn="l">
              <a:lnSpc>
                <a:spcPts val="1400"/>
              </a:lnSpc>
              <a:buSzPct val="100000"/>
              <a:buChar char="•"/>
            </a:pPr>
            <a:endParaRPr lang="en-US" sz="834" dirty="0"/>
          </a:p>
        </p:txBody>
      </p:sp>
      <p:sp>
        <p:nvSpPr>
          <p:cNvPr id="11" name="Text 7"/>
          <p:cNvSpPr/>
          <p:nvPr/>
        </p:nvSpPr>
        <p:spPr>
          <a:xfrm>
            <a:off x="1332166" y="2673574"/>
            <a:ext cx="65" cy="16293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>
              <a:lnSpc>
                <a:spcPts val="1400"/>
              </a:lnSpc>
              <a:buSzPct val="100000"/>
            </a:pPr>
            <a:endParaRPr lang="en-US" sz="834" dirty="0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61411" y="2726414"/>
            <a:ext cx="285750" cy="28575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4822413" y="2830639"/>
            <a:ext cx="2386872" cy="205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2000" b="1" dirty="0" err="1">
                <a:solidFill>
                  <a:srgbClr val="0F172A"/>
                </a:solidFill>
                <a:latin typeface="Inter" pitchFamily="34" charset="0"/>
                <a:ea typeface="Inter" pitchFamily="34" charset="-122"/>
              </a:rPr>
              <a:t>资源管理：H</a:t>
            </a:r>
            <a:r>
              <a:rPr lang="en-US" sz="20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</a:rPr>
              <a:t> </a:t>
            </a:r>
            <a:r>
              <a:rPr lang="en-US" altLang="zh-CN" sz="2000" b="1" dirty="0" err="1">
                <a:solidFill>
                  <a:srgbClr val="0F172A"/>
                </a:solidFill>
                <a:latin typeface="Inter" pitchFamily="34" charset="0"/>
                <a:ea typeface="Inter" pitchFamily="34" charset="-122"/>
              </a:rPr>
              <a:t>i</a:t>
            </a:r>
            <a:r>
              <a:rPr lang="en-US" altLang="zh-CN" sz="20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</a:rPr>
              <a:t> </a:t>
            </a:r>
            <a:r>
              <a:rPr lang="en-US" sz="20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</a:rPr>
              <a:t>p p o</a:t>
            </a:r>
          </a:p>
        </p:txBody>
      </p:sp>
      <p:sp>
        <p:nvSpPr>
          <p:cNvPr id="17" name="Text 12"/>
          <p:cNvSpPr/>
          <p:nvPr/>
        </p:nvSpPr>
        <p:spPr>
          <a:xfrm>
            <a:off x="5065280" y="3273508"/>
            <a:ext cx="3693319" cy="17953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>
              <a:lnSpc>
                <a:spcPts val="1400"/>
              </a:lnSpc>
            </a:pPr>
            <a:r>
              <a:rPr lang="en-US" sz="1200" dirty="0" err="1"/>
              <a:t>底层分布式资源调度引擎</a:t>
            </a:r>
            <a:r>
              <a:rPr lang="zh-CN" altLang="en-US" sz="1200" dirty="0"/>
              <a:t>，</a:t>
            </a:r>
            <a:r>
              <a:rPr lang="en-US" sz="1200" dirty="0" err="1"/>
              <a:t>为海量计算提供弹性</a:t>
            </a:r>
            <a:r>
              <a:rPr lang="en-US" altLang="zh-CN" sz="1200" dirty="0" err="1"/>
              <a:t>支撑</a:t>
            </a:r>
            <a:r>
              <a:rPr lang="zh-CN" altLang="en-US" sz="1200" dirty="0"/>
              <a:t>。</a:t>
            </a:r>
            <a:endParaRPr lang="en-US" sz="1200" dirty="0"/>
          </a:p>
        </p:txBody>
      </p:sp>
      <p:sp>
        <p:nvSpPr>
          <p:cNvPr id="18" name="Text 13"/>
          <p:cNvSpPr/>
          <p:nvPr/>
        </p:nvSpPr>
        <p:spPr>
          <a:xfrm>
            <a:off x="5426854" y="3964942"/>
            <a:ext cx="65" cy="16293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endParaRPr lang="en-US" sz="834" dirty="0"/>
          </a:p>
        </p:txBody>
      </p:sp>
      <p:sp>
        <p:nvSpPr>
          <p:cNvPr id="19" name="Text 14"/>
          <p:cNvSpPr/>
          <p:nvPr/>
        </p:nvSpPr>
        <p:spPr>
          <a:xfrm>
            <a:off x="5187898" y="3655423"/>
            <a:ext cx="1667123" cy="8810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127000" indent="-127000" algn="l">
              <a:lnSpc>
                <a:spcPts val="1400"/>
              </a:lnSpc>
              <a:buSzPct val="100000"/>
              <a:buChar char="•"/>
            </a:pPr>
            <a:r>
              <a:rPr lang="en-US" sz="1200" dirty="0" err="1"/>
              <a:t>毫秒级资源调度响应</a:t>
            </a:r>
            <a:endParaRPr lang="en-US" sz="1200" dirty="0"/>
          </a:p>
          <a:p>
            <a:pPr marL="127000" indent="-127000">
              <a:lnSpc>
                <a:spcPts val="1400"/>
              </a:lnSpc>
              <a:buSzPct val="100000"/>
              <a:buFontTx/>
              <a:buChar char="•"/>
            </a:pPr>
            <a:r>
              <a:rPr lang="en-US" altLang="zh-CN" sz="1200" dirty="0" err="1"/>
              <a:t>异构计算资源统一管理</a:t>
            </a:r>
            <a:endParaRPr lang="en-US" altLang="zh-CN" sz="1200" dirty="0"/>
          </a:p>
          <a:p>
            <a:pPr marL="127000" indent="-127000">
              <a:lnSpc>
                <a:spcPts val="1400"/>
              </a:lnSpc>
              <a:buSzPct val="100000"/>
              <a:buFontTx/>
              <a:buChar char="•"/>
            </a:pPr>
            <a:r>
              <a:rPr lang="en-US" altLang="zh-CN" sz="1200" dirty="0" err="1"/>
              <a:t>极致的成本效能平衡</a:t>
            </a:r>
            <a:endParaRPr lang="en-US" altLang="zh-CN" sz="1200" dirty="0"/>
          </a:p>
          <a:p>
            <a:pPr marL="127000" indent="-127000">
              <a:lnSpc>
                <a:spcPts val="1400"/>
              </a:lnSpc>
              <a:buSzPct val="100000"/>
              <a:buFontTx/>
              <a:buChar char="•"/>
            </a:pPr>
            <a:endParaRPr lang="en-US" altLang="zh-CN" sz="834" dirty="0"/>
          </a:p>
          <a:p>
            <a:pPr marL="127000" indent="-127000" algn="l">
              <a:lnSpc>
                <a:spcPts val="1400"/>
              </a:lnSpc>
              <a:buSzPct val="100000"/>
              <a:buChar char="•"/>
            </a:pPr>
            <a:endParaRPr lang="en-US" sz="834" dirty="0"/>
          </a:p>
        </p:txBody>
      </p:sp>
      <p:sp>
        <p:nvSpPr>
          <p:cNvPr id="20" name="Text 15"/>
          <p:cNvSpPr/>
          <p:nvPr/>
        </p:nvSpPr>
        <p:spPr>
          <a:xfrm>
            <a:off x="5655585" y="4425609"/>
            <a:ext cx="128240" cy="16293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127000" indent="-127000" algn="l">
              <a:lnSpc>
                <a:spcPts val="1400"/>
              </a:lnSpc>
              <a:buSzPct val="100000"/>
              <a:buChar char="•"/>
            </a:pPr>
            <a:endParaRPr lang="en-US" sz="834" dirty="0"/>
          </a:p>
        </p:txBody>
      </p:sp>
      <p:sp>
        <p:nvSpPr>
          <p:cNvPr id="21" name="Text 16"/>
          <p:cNvSpPr/>
          <p:nvPr/>
        </p:nvSpPr>
        <p:spPr>
          <a:xfrm>
            <a:off x="5646971" y="4790780"/>
            <a:ext cx="128240" cy="16293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127000" indent="-127000" algn="l">
              <a:lnSpc>
                <a:spcPts val="1400"/>
              </a:lnSpc>
              <a:buSzPct val="100000"/>
              <a:buChar char="•"/>
            </a:pPr>
            <a:endParaRPr lang="en-US" sz="834" dirty="0"/>
          </a:p>
        </p:txBody>
      </p:sp>
      <p:sp>
        <p:nvSpPr>
          <p:cNvPr id="23" name="Shape 18"/>
          <p:cNvSpPr/>
          <p:nvPr/>
        </p:nvSpPr>
        <p:spPr>
          <a:xfrm flipV="1">
            <a:off x="380531" y="2423181"/>
            <a:ext cx="7729341" cy="65095"/>
          </a:xfrm>
          <a:prstGeom prst="rect">
            <a:avLst/>
          </a:prstGeom>
          <a:solidFill>
            <a:srgbClr val="8B5CF6"/>
          </a:solidFill>
          <a:ln/>
        </p:spPr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90078" y="2743092"/>
            <a:ext cx="285750" cy="285750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587313" y="2801594"/>
            <a:ext cx="1902765" cy="21057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2000" b="1" dirty="0" err="1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搜索引擎：H</a:t>
            </a:r>
            <a:r>
              <a:rPr lang="en-US" sz="20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 3</a:t>
            </a:r>
            <a:endParaRPr lang="en-US" sz="2000" dirty="0"/>
          </a:p>
        </p:txBody>
      </p:sp>
      <p:sp>
        <p:nvSpPr>
          <p:cNvPr id="26" name="Text 20"/>
          <p:cNvSpPr/>
          <p:nvPr/>
        </p:nvSpPr>
        <p:spPr>
          <a:xfrm>
            <a:off x="517351" y="3273508"/>
            <a:ext cx="3570703" cy="1795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400"/>
              </a:lnSpc>
            </a:pPr>
            <a:r>
              <a:rPr lang="en-US" sz="1200" dirty="0" err="1"/>
              <a:t>高性能在线搜索引擎，支撑淘宝</a:t>
            </a:r>
            <a:r>
              <a:rPr lang="en-US" sz="1200" b="1" dirty="0" err="1"/>
              <a:t>数亿商品</a:t>
            </a:r>
            <a:r>
              <a:rPr lang="en-US" sz="1200" dirty="0" err="1"/>
              <a:t>的实时</a:t>
            </a:r>
            <a:r>
              <a:rPr lang="en-US" altLang="zh-CN" sz="1200" dirty="0" err="1"/>
              <a:t>检索</a:t>
            </a:r>
            <a:endParaRPr lang="en-US" sz="1200" dirty="0"/>
          </a:p>
        </p:txBody>
      </p:sp>
      <p:sp>
        <p:nvSpPr>
          <p:cNvPr id="27" name="Text 21"/>
          <p:cNvSpPr/>
          <p:nvPr/>
        </p:nvSpPr>
        <p:spPr>
          <a:xfrm>
            <a:off x="825782" y="3866779"/>
            <a:ext cx="65" cy="16293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endParaRPr lang="en-US" sz="834" dirty="0"/>
          </a:p>
        </p:txBody>
      </p:sp>
      <p:sp>
        <p:nvSpPr>
          <p:cNvPr id="28" name="Text 22"/>
          <p:cNvSpPr/>
          <p:nvPr/>
        </p:nvSpPr>
        <p:spPr>
          <a:xfrm>
            <a:off x="517352" y="3667683"/>
            <a:ext cx="3570702" cy="14196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228600" indent="-228600">
              <a:lnSpc>
                <a:spcPts val="140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sz="1200" dirty="0" err="1"/>
              <a:t>万亿级数据秒级索引</a:t>
            </a:r>
            <a:r>
              <a:rPr lang="zh-CN" altLang="en-US" sz="1200" dirty="0"/>
              <a:t>（分布式、压缩索引等技术）</a:t>
            </a:r>
            <a:endParaRPr lang="en-US" altLang="zh-CN" sz="1200" dirty="0"/>
          </a:p>
          <a:p>
            <a:pPr marL="228600" indent="-228600">
              <a:lnSpc>
                <a:spcPts val="1400"/>
              </a:lnSpc>
              <a:buSzPct val="100000"/>
              <a:buFont typeface="Arial" panose="020B0604020202020204" pitchFamily="34" charset="0"/>
              <a:buChar char="•"/>
            </a:pPr>
            <a:r>
              <a:rPr lang="zh-CN" altLang="en-US" sz="1200" dirty="0"/>
              <a:t>深度集成深度学习模型（匹配和排序一起完成）</a:t>
            </a:r>
            <a:endParaRPr lang="en-US" altLang="zh-CN" sz="1200" dirty="0"/>
          </a:p>
          <a:p>
            <a:pPr marL="228600" indent="-228600">
              <a:lnSpc>
                <a:spcPts val="1400"/>
              </a:lnSpc>
              <a:buSzPct val="100000"/>
              <a:buFont typeface="Arial" panose="020B0604020202020204" pitchFamily="34" charset="0"/>
              <a:buChar char="•"/>
            </a:pPr>
            <a:r>
              <a:rPr lang="zh-CN" altLang="en-US" sz="1200" dirty="0"/>
              <a:t>支持复杂的多维过滤（多个筛选条件）</a:t>
            </a:r>
            <a:endParaRPr lang="en-US" sz="1200" dirty="0"/>
          </a:p>
          <a:p>
            <a:pPr marL="228600" lvl="1" indent="-228600">
              <a:lnSpc>
                <a:spcPts val="1400"/>
              </a:lnSpc>
              <a:buSzPct val="100000"/>
              <a:buFont typeface="Arial" panose="020B0604020202020204" pitchFamily="34" charset="0"/>
              <a:buChar char="•"/>
            </a:pPr>
            <a:endParaRPr lang="en-US" sz="1200" dirty="0"/>
          </a:p>
          <a:p>
            <a:pPr marL="127000" indent="-127000" algn="l">
              <a:lnSpc>
                <a:spcPts val="1400"/>
              </a:lnSpc>
              <a:buSzPct val="100000"/>
              <a:buChar char="•"/>
            </a:pPr>
            <a:endParaRPr lang="en-US" sz="834" dirty="0">
              <a:solidFill>
                <a:srgbClr val="334155"/>
              </a:solidFill>
              <a:latin typeface="Inter" pitchFamily="34" charset="0"/>
              <a:ea typeface="Inter" pitchFamily="34" charset="-122"/>
              <a:cs typeface="Inter" pitchFamily="34" charset="-120"/>
            </a:endParaRPr>
          </a:p>
          <a:p>
            <a:pPr lvl="1">
              <a:lnSpc>
                <a:spcPts val="1400"/>
              </a:lnSpc>
              <a:buSzPct val="100000"/>
            </a:pPr>
            <a:endParaRPr lang="en-US" altLang="zh-CN" sz="834" dirty="0"/>
          </a:p>
          <a:p>
            <a:pPr marL="584200" lvl="1" indent="-127000">
              <a:lnSpc>
                <a:spcPts val="1400"/>
              </a:lnSpc>
              <a:buSzPct val="100000"/>
              <a:buChar char="•"/>
            </a:pPr>
            <a:endParaRPr lang="en-US" altLang="zh-CN" sz="834" dirty="0"/>
          </a:p>
          <a:p>
            <a:pPr lvl="1">
              <a:lnSpc>
                <a:spcPts val="1400"/>
              </a:lnSpc>
              <a:buSzPct val="100000"/>
            </a:pPr>
            <a:endParaRPr lang="en-US" sz="834" dirty="0"/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0FEDD17A-ADCD-AF24-04CE-E19D7473DE8E}"/>
              </a:ext>
            </a:extLst>
          </p:cNvPr>
          <p:cNvSpPr txBox="1"/>
          <p:nvPr/>
        </p:nvSpPr>
        <p:spPr>
          <a:xfrm>
            <a:off x="1446387" y="1370040"/>
            <a:ext cx="42714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搜索、推荐、广告三大场景一体化管理</a:t>
            </a:r>
          </a:p>
        </p:txBody>
      </p:sp>
      <p:pic>
        <p:nvPicPr>
          <p:cNvPr id="37" name="图片 36">
            <a:extLst>
              <a:ext uri="{FF2B5EF4-FFF2-40B4-BE49-F238E27FC236}">
                <a16:creationId xmlns:a16="http://schemas.microsoft.com/office/drawing/2014/main" id="{3975AE01-B239-59BE-5E8E-4CF0EAC6A25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22469" y="921009"/>
            <a:ext cx="2378939" cy="1337608"/>
          </a:xfrm>
          <a:prstGeom prst="rect">
            <a:avLst/>
          </a:prstGeom>
        </p:spPr>
      </p:pic>
      <p:sp>
        <p:nvSpPr>
          <p:cNvPr id="38" name="文本框 37">
            <a:extLst>
              <a:ext uri="{FF2B5EF4-FFF2-40B4-BE49-F238E27FC236}">
                <a16:creationId xmlns:a16="http://schemas.microsoft.com/office/drawing/2014/main" id="{4FF5747E-D213-7B84-DA05-2BCC45CEE0EA}"/>
              </a:ext>
            </a:extLst>
          </p:cNvPr>
          <p:cNvSpPr txBox="1"/>
          <p:nvPr/>
        </p:nvSpPr>
        <p:spPr>
          <a:xfrm>
            <a:off x="1476036" y="1738747"/>
            <a:ext cx="395935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8600" indent="-228600">
              <a:buFont typeface="Arial" panose="020B0604020202020204" pitchFamily="34" charset="0"/>
              <a:buChar char="•"/>
            </a:pPr>
            <a:r>
              <a:rPr lang="zh-CN" altLang="en-US" sz="1200" dirty="0"/>
              <a:t>端到端优化</a:t>
            </a:r>
            <a:endParaRPr lang="en-US" altLang="zh-CN" sz="1200" dirty="0"/>
          </a:p>
          <a:p>
            <a:pPr marL="228600" indent="-228600">
              <a:buFont typeface="Arial" panose="020B0604020202020204" pitchFamily="34" charset="0"/>
              <a:buChar char="•"/>
            </a:pPr>
            <a:r>
              <a:rPr lang="zh-CN" altLang="en-US" sz="1200" dirty="0"/>
              <a:t>场景间模型与数据共享</a:t>
            </a:r>
            <a:endParaRPr lang="en-US" altLang="zh-CN" sz="1200" dirty="0"/>
          </a:p>
          <a:p>
            <a:pPr marL="228600" indent="-228600">
              <a:buFont typeface="Arial" panose="020B0604020202020204" pitchFamily="34" charset="0"/>
              <a:buChar char="•"/>
            </a:pPr>
            <a:r>
              <a:rPr lang="zh-CN" altLang="en-US" sz="1200" dirty="0"/>
              <a:t>分钟级别模型更新能力</a:t>
            </a:r>
          </a:p>
        </p:txBody>
      </p:sp>
      <p:sp>
        <p:nvSpPr>
          <p:cNvPr id="39" name="Shape 18">
            <a:extLst>
              <a:ext uri="{FF2B5EF4-FFF2-40B4-BE49-F238E27FC236}">
                <a16:creationId xmlns:a16="http://schemas.microsoft.com/office/drawing/2014/main" id="{52EDD303-9A55-C22B-31B3-E3F439A9668A}"/>
              </a:ext>
            </a:extLst>
          </p:cNvPr>
          <p:cNvSpPr/>
          <p:nvPr/>
        </p:nvSpPr>
        <p:spPr>
          <a:xfrm>
            <a:off x="380531" y="4649097"/>
            <a:ext cx="3855994" cy="62817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40" name="Shape 18">
            <a:extLst>
              <a:ext uri="{FF2B5EF4-FFF2-40B4-BE49-F238E27FC236}">
                <a16:creationId xmlns:a16="http://schemas.microsoft.com/office/drawing/2014/main" id="{4E07B7B2-9558-FD3E-2BD3-550F5900ED92}"/>
              </a:ext>
            </a:extLst>
          </p:cNvPr>
          <p:cNvSpPr/>
          <p:nvPr/>
        </p:nvSpPr>
        <p:spPr>
          <a:xfrm>
            <a:off x="4724069" y="4644553"/>
            <a:ext cx="3561211" cy="62817"/>
          </a:xfrm>
          <a:prstGeom prst="rect">
            <a:avLst/>
          </a:prstGeom>
          <a:solidFill>
            <a:srgbClr val="8B5CF6"/>
          </a:solidFill>
          <a:ln/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7144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73592" y="459200"/>
            <a:ext cx="5770811" cy="28905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>
              <a:lnSpc>
                <a:spcPts val="2200"/>
              </a:lnSpc>
            </a:pPr>
            <a:r>
              <a:rPr lang="en-US" sz="2800" b="1" dirty="0" err="1">
                <a:solidFill>
                  <a:srgbClr val="0F172A"/>
                </a:solidFill>
                <a:latin typeface="Playfair Display" pitchFamily="34" charset="0"/>
              </a:rPr>
              <a:t>推荐流程：四大核心阶段的全景视图</a:t>
            </a:r>
            <a:endParaRPr lang="en-US" sz="2800" b="1" dirty="0">
              <a:solidFill>
                <a:srgbClr val="0F172A"/>
              </a:solidFill>
              <a:latin typeface="Playfair Display" pitchFamily="34" charset="0"/>
            </a:endParaRPr>
          </a:p>
        </p:txBody>
      </p:sp>
      <p:sp>
        <p:nvSpPr>
          <p:cNvPr id="4" name="Text 1"/>
          <p:cNvSpPr/>
          <p:nvPr/>
        </p:nvSpPr>
        <p:spPr>
          <a:xfrm>
            <a:off x="547514" y="1156947"/>
            <a:ext cx="970394" cy="17953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200" b="1" dirty="0">
                <a:solidFill>
                  <a:srgbClr val="8B5C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1. 召回 (Recall)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547514" y="1421266"/>
            <a:ext cx="2961084" cy="1375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34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50ms 内从数亿商品中筛选出万级候选集，追求高召回率。</a:t>
            </a:r>
            <a:endParaRPr lang="en-US" sz="834" dirty="0"/>
          </a:p>
        </p:txBody>
      </p:sp>
      <p:sp>
        <p:nvSpPr>
          <p:cNvPr id="6" name="Text 3"/>
          <p:cNvSpPr/>
          <p:nvPr/>
        </p:nvSpPr>
        <p:spPr>
          <a:xfrm>
            <a:off x="547514" y="1976851"/>
            <a:ext cx="1336135" cy="17953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200" b="1" dirty="0">
                <a:solidFill>
                  <a:srgbClr val="8B5C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2. 粗排 (Pre-ranking)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547514" y="2241170"/>
            <a:ext cx="2400300" cy="1375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34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使用轻量级模型对万级商品进行初步打分筛选。</a:t>
            </a:r>
            <a:endParaRPr lang="en-US" sz="834" dirty="0"/>
          </a:p>
        </p:txBody>
      </p:sp>
      <p:sp>
        <p:nvSpPr>
          <p:cNvPr id="8" name="Text 5"/>
          <p:cNvSpPr/>
          <p:nvPr/>
        </p:nvSpPr>
        <p:spPr>
          <a:xfrm>
            <a:off x="559710" y="2773763"/>
            <a:ext cx="1109278" cy="17953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200" b="1" dirty="0">
                <a:solidFill>
                  <a:srgbClr val="8B5C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3. 精排 (Ranking)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559710" y="3038081"/>
            <a:ext cx="2857500" cy="1375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34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利用复杂深度学习模型进行精细化打分，追求极致精度。</a:t>
            </a:r>
            <a:endParaRPr lang="en-US" sz="834" dirty="0"/>
          </a:p>
        </p:txBody>
      </p:sp>
      <p:sp>
        <p:nvSpPr>
          <p:cNvPr id="10" name="Text 7"/>
          <p:cNvSpPr/>
          <p:nvPr/>
        </p:nvSpPr>
        <p:spPr>
          <a:xfrm>
            <a:off x="600669" y="3717629"/>
            <a:ext cx="1282980" cy="17953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200" b="1" dirty="0">
                <a:solidFill>
                  <a:srgbClr val="8B5C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4. 重排 (Re-ranking)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600669" y="3981948"/>
            <a:ext cx="2628900" cy="1375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34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平衡用户体验、多样性与商业价值，确定最终列表。</a:t>
            </a:r>
            <a:endParaRPr lang="en-US" sz="834" dirty="0"/>
          </a:p>
        </p:txBody>
      </p:sp>
      <p:sp>
        <p:nvSpPr>
          <p:cNvPr id="12" name="Shape 9"/>
          <p:cNvSpPr/>
          <p:nvPr/>
        </p:nvSpPr>
        <p:spPr>
          <a:xfrm>
            <a:off x="4486274" y="996971"/>
            <a:ext cx="3999357" cy="63400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3" name="Shape 10"/>
          <p:cNvSpPr/>
          <p:nvPr/>
        </p:nvSpPr>
        <p:spPr>
          <a:xfrm>
            <a:off x="4486275" y="996971"/>
            <a:ext cx="60596" cy="634008"/>
          </a:xfrm>
          <a:prstGeom prst="rect">
            <a:avLst/>
          </a:prstGeom>
          <a:solidFill>
            <a:srgbClr val="8B5CF6"/>
          </a:solidFill>
          <a:ln/>
        </p:spPr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29917" y="1114214"/>
            <a:ext cx="528638" cy="422909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5077088" y="1145216"/>
            <a:ext cx="3408543" cy="1551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12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召回阶段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5102197" y="1391617"/>
            <a:ext cx="3408543" cy="1106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27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规模：数亿 → 万级</a:t>
            </a:r>
            <a:endParaRPr lang="en-US" sz="727" dirty="0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15968" y="1686344"/>
            <a:ext cx="112514" cy="128588"/>
          </a:xfrm>
          <a:prstGeom prst="rect">
            <a:avLst/>
          </a:prstGeom>
        </p:spPr>
      </p:pic>
      <p:sp>
        <p:nvSpPr>
          <p:cNvPr id="18" name="Shape 13"/>
          <p:cNvSpPr/>
          <p:nvPr/>
        </p:nvSpPr>
        <p:spPr>
          <a:xfrm>
            <a:off x="4761851" y="1912909"/>
            <a:ext cx="3583876" cy="56078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9" name="Shape 14"/>
          <p:cNvSpPr/>
          <p:nvPr/>
        </p:nvSpPr>
        <p:spPr>
          <a:xfrm>
            <a:off x="4700588" y="1848864"/>
            <a:ext cx="61263" cy="560784"/>
          </a:xfrm>
          <a:prstGeom prst="rect">
            <a:avLst/>
          </a:prstGeom>
          <a:solidFill>
            <a:srgbClr val="8B5CF6"/>
          </a:solidFill>
          <a:ln/>
        </p:spPr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72039" y="2082330"/>
            <a:ext cx="308689" cy="246951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5229226" y="1994886"/>
            <a:ext cx="2986564" cy="144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粗排阶段</a:t>
            </a:r>
            <a:endParaRPr lang="en-US" sz="885" dirty="0"/>
          </a:p>
        </p:txBody>
      </p:sp>
      <p:sp>
        <p:nvSpPr>
          <p:cNvPr id="22" name="Text 16"/>
          <p:cNvSpPr/>
          <p:nvPr/>
        </p:nvSpPr>
        <p:spPr>
          <a:xfrm>
            <a:off x="5229226" y="2201283"/>
            <a:ext cx="2986564" cy="1106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27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规模：万级 → 千级</a:t>
            </a:r>
            <a:endParaRPr lang="en-US" sz="727" dirty="0"/>
          </a:p>
        </p:txBody>
      </p:sp>
      <p:pic>
        <p:nvPicPr>
          <p:cNvPr id="23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00114" y="2610968"/>
            <a:ext cx="112514" cy="128588"/>
          </a:xfrm>
          <a:prstGeom prst="rect">
            <a:avLst/>
          </a:prstGeom>
        </p:spPr>
      </p:pic>
      <p:sp>
        <p:nvSpPr>
          <p:cNvPr id="24" name="Shape 17"/>
          <p:cNvSpPr/>
          <p:nvPr/>
        </p:nvSpPr>
        <p:spPr>
          <a:xfrm>
            <a:off x="4926727" y="2758632"/>
            <a:ext cx="2914650" cy="38933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5" name="Shape 18"/>
          <p:cNvSpPr/>
          <p:nvPr/>
        </p:nvSpPr>
        <p:spPr>
          <a:xfrm>
            <a:off x="4983877" y="2758632"/>
            <a:ext cx="57150" cy="389334"/>
          </a:xfrm>
          <a:prstGeom prst="rect">
            <a:avLst/>
          </a:prstGeom>
          <a:solidFill>
            <a:srgbClr val="8B5CF6"/>
          </a:solidFill>
          <a:ln/>
        </p:spPr>
      </p:sp>
      <p:pic>
        <p:nvPicPr>
          <p:cNvPr id="26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155327" y="2896149"/>
            <a:ext cx="214313" cy="171450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5512515" y="2815782"/>
            <a:ext cx="2357438" cy="18752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精排阶段</a:t>
            </a:r>
            <a:endParaRPr lang="en-US" sz="885" dirty="0"/>
          </a:p>
        </p:txBody>
      </p:sp>
      <p:sp>
        <p:nvSpPr>
          <p:cNvPr id="28" name="Text 20"/>
          <p:cNvSpPr/>
          <p:nvPr/>
        </p:nvSpPr>
        <p:spPr>
          <a:xfrm>
            <a:off x="5512515" y="3003305"/>
            <a:ext cx="2357438" cy="14466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27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规模：千级 → 百级</a:t>
            </a:r>
            <a:endParaRPr lang="en-US" sz="727" dirty="0"/>
          </a:p>
        </p:txBody>
      </p:sp>
      <p:pic>
        <p:nvPicPr>
          <p:cNvPr id="29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288287" y="3453691"/>
            <a:ext cx="112514" cy="128588"/>
          </a:xfrm>
          <a:prstGeom prst="rect">
            <a:avLst/>
          </a:prstGeom>
        </p:spPr>
      </p:pic>
      <p:sp>
        <p:nvSpPr>
          <p:cNvPr id="30" name="Shape 21"/>
          <p:cNvSpPr/>
          <p:nvPr/>
        </p:nvSpPr>
        <p:spPr>
          <a:xfrm>
            <a:off x="5169048" y="3658505"/>
            <a:ext cx="2486025" cy="38933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1" name="Shape 22"/>
          <p:cNvSpPr/>
          <p:nvPr/>
        </p:nvSpPr>
        <p:spPr>
          <a:xfrm>
            <a:off x="5169048" y="3658505"/>
            <a:ext cx="57150" cy="389334"/>
          </a:xfrm>
          <a:prstGeom prst="rect">
            <a:avLst/>
          </a:prstGeom>
          <a:solidFill>
            <a:srgbClr val="8B5CF6"/>
          </a:solidFill>
          <a:ln/>
        </p:spPr>
      </p:sp>
      <p:pic>
        <p:nvPicPr>
          <p:cNvPr id="32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340498" y="3796023"/>
            <a:ext cx="214313" cy="171450"/>
          </a:xfrm>
          <a:prstGeom prst="rect">
            <a:avLst/>
          </a:prstGeom>
        </p:spPr>
      </p:pic>
      <p:sp>
        <p:nvSpPr>
          <p:cNvPr id="33" name="Text 23"/>
          <p:cNvSpPr/>
          <p:nvPr/>
        </p:nvSpPr>
        <p:spPr>
          <a:xfrm>
            <a:off x="5697685" y="3715655"/>
            <a:ext cx="1928813" cy="18752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重排阶段</a:t>
            </a:r>
            <a:endParaRPr lang="en-US" sz="885" dirty="0"/>
          </a:p>
        </p:txBody>
      </p:sp>
      <p:sp>
        <p:nvSpPr>
          <p:cNvPr id="34" name="Text 24"/>
          <p:cNvSpPr/>
          <p:nvPr/>
        </p:nvSpPr>
        <p:spPr>
          <a:xfrm>
            <a:off x="5697685" y="3903179"/>
            <a:ext cx="1928813" cy="14466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27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规模：百级 → 最终展示</a:t>
            </a:r>
            <a:endParaRPr lang="en-US" sz="727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618353"/>
            <a:ext cx="4015330" cy="28212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>
              <a:lnSpc>
                <a:spcPts val="2200"/>
              </a:lnSpc>
            </a:pPr>
            <a:r>
              <a:rPr lang="en-US" sz="2226" b="1" kern="0" spc="-1" dirty="0" err="1">
                <a:solidFill>
                  <a:srgbClr val="2D3748"/>
                </a:solidFill>
                <a:latin typeface="Playfair Display" pitchFamily="34" charset="0"/>
              </a:rPr>
              <a:t>召回阶段：大规模高效筛选技术</a:t>
            </a:r>
            <a:endParaRPr lang="en-US" sz="2226" b="1" kern="0" spc="-1" dirty="0">
              <a:solidFill>
                <a:srgbClr val="2D3748"/>
              </a:solidFill>
              <a:latin typeface="Playfair Display" pitchFamily="34" charset="0"/>
            </a:endParaRPr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8625" y="1269327"/>
            <a:ext cx="176808" cy="157163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691158" y="1234501"/>
            <a:ext cx="1728788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核心技术：双塔向量检索</a:t>
            </a:r>
            <a:endParaRPr lang="en-US" sz="1090" dirty="0"/>
          </a:p>
        </p:txBody>
      </p:sp>
      <p:sp>
        <p:nvSpPr>
          <p:cNvPr id="6" name="Shape 2"/>
          <p:cNvSpPr/>
          <p:nvPr/>
        </p:nvSpPr>
        <p:spPr>
          <a:xfrm>
            <a:off x="383098" y="1567104"/>
            <a:ext cx="3811888" cy="2884283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" name="Shape 3"/>
          <p:cNvSpPr/>
          <p:nvPr/>
        </p:nvSpPr>
        <p:spPr>
          <a:xfrm>
            <a:off x="428625" y="1547040"/>
            <a:ext cx="3811888" cy="28575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8" name="Text 4"/>
          <p:cNvSpPr/>
          <p:nvPr/>
        </p:nvSpPr>
        <p:spPr>
          <a:xfrm>
            <a:off x="471502" y="1774463"/>
            <a:ext cx="3769025" cy="3590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200" b="1" dirty="0">
                <a:solidFill>
                  <a:srgbClr val="8B5C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独立编码：</a:t>
            </a:r>
            <a:r>
              <a:rPr lang="en-US" sz="12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将用户画像与商品特征独立编码为高维向量，实现解耦。</a:t>
            </a:r>
            <a:endParaRPr lang="en-US" sz="1200" dirty="0"/>
          </a:p>
        </p:txBody>
      </p:sp>
      <p:sp>
        <p:nvSpPr>
          <p:cNvPr id="9" name="Text 5"/>
          <p:cNvSpPr/>
          <p:nvPr/>
        </p:nvSpPr>
        <p:spPr>
          <a:xfrm>
            <a:off x="517029" y="2633080"/>
            <a:ext cx="3554714" cy="3590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200" b="1" dirty="0" err="1">
                <a:solidFill>
                  <a:srgbClr val="8B5C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高效度量</a:t>
            </a:r>
            <a:r>
              <a:rPr lang="en-US" sz="1200" b="1" dirty="0">
                <a:solidFill>
                  <a:srgbClr val="8B5C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：</a:t>
            </a:r>
            <a:r>
              <a:rPr lang="en-US" sz="12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en-US" sz="1200" dirty="0" err="1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采用余弦相似度，通过</a:t>
            </a:r>
            <a:r>
              <a:rPr lang="en-US" sz="12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L2 </a:t>
            </a:r>
            <a:r>
              <a:rPr lang="en-US" sz="1200" dirty="0" err="1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归一化简化为极速的点积计算</a:t>
            </a:r>
            <a:r>
              <a:rPr lang="en-US" sz="12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。</a:t>
            </a:r>
            <a:endParaRPr lang="en-US" sz="1200" dirty="0"/>
          </a:p>
        </p:txBody>
      </p:sp>
      <p:sp>
        <p:nvSpPr>
          <p:cNvPr id="10" name="Text 6"/>
          <p:cNvSpPr/>
          <p:nvPr/>
        </p:nvSpPr>
        <p:spPr>
          <a:xfrm>
            <a:off x="517029" y="3561299"/>
            <a:ext cx="3554714" cy="3590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200" b="1" dirty="0">
                <a:solidFill>
                  <a:srgbClr val="8B5C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工业级应用：</a:t>
            </a:r>
            <a:r>
              <a:rPr lang="en-US" sz="12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支撑数亿级商品库在 50ms 内完成万级候选集筛选。</a:t>
            </a:r>
            <a:endParaRPr lang="en-US" sz="120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03487" y="1269327"/>
            <a:ext cx="117872" cy="157163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5107084" y="1234501"/>
            <a:ext cx="1257300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自研向量索引引擎</a:t>
            </a:r>
            <a:endParaRPr lang="en-US" sz="1090" dirty="0"/>
          </a:p>
        </p:txBody>
      </p:sp>
      <p:sp>
        <p:nvSpPr>
          <p:cNvPr id="13" name="Shape 8"/>
          <p:cNvSpPr/>
          <p:nvPr/>
        </p:nvSpPr>
        <p:spPr>
          <a:xfrm>
            <a:off x="4903487" y="1547040"/>
            <a:ext cx="3811888" cy="288428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4" name="Shape 9"/>
          <p:cNvSpPr/>
          <p:nvPr/>
        </p:nvSpPr>
        <p:spPr>
          <a:xfrm>
            <a:off x="4903487" y="1547040"/>
            <a:ext cx="3811888" cy="28575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5" name="Text 10"/>
          <p:cNvSpPr/>
          <p:nvPr/>
        </p:nvSpPr>
        <p:spPr>
          <a:xfrm>
            <a:off x="5021359" y="1762398"/>
            <a:ext cx="3683301" cy="3590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200" b="1" dirty="0">
                <a:solidFill>
                  <a:srgbClr val="8B5C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性能突破：</a:t>
            </a:r>
            <a:r>
              <a:rPr lang="en-US" sz="12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en-US" sz="1200" dirty="0" err="1">
                <a:solidFill>
                  <a:srgbClr val="334155"/>
                </a:solidFill>
                <a:latin typeface="Inter" pitchFamily="34" charset="0"/>
                <a:ea typeface="Inter" pitchFamily="34" charset="-122"/>
              </a:rPr>
              <a:t>针对电商场景深度优化的索引结构，远超开源方案</a:t>
            </a:r>
            <a:r>
              <a:rPr lang="en-US" sz="12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</a:rPr>
              <a:t>。</a:t>
            </a:r>
          </a:p>
        </p:txBody>
      </p:sp>
      <p:sp>
        <p:nvSpPr>
          <p:cNvPr id="16" name="Shape 11"/>
          <p:cNvSpPr/>
          <p:nvPr/>
        </p:nvSpPr>
        <p:spPr>
          <a:xfrm>
            <a:off x="5021359" y="2519864"/>
            <a:ext cx="1777343" cy="521494"/>
          </a:xfrm>
          <a:prstGeom prst="rect">
            <a:avLst/>
          </a:prstGeom>
          <a:solidFill>
            <a:srgbClr val="EEF2FF"/>
          </a:solidFill>
          <a:ln/>
        </p:spPr>
      </p:sp>
      <p:sp>
        <p:nvSpPr>
          <p:cNvPr id="17" name="Text 12"/>
          <p:cNvSpPr/>
          <p:nvPr/>
        </p:nvSpPr>
        <p:spPr>
          <a:xfrm>
            <a:off x="5107084" y="2619876"/>
            <a:ext cx="1605893" cy="27682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8B5C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10x</a:t>
            </a:r>
            <a:endParaRPr lang="en-US" sz="1602" dirty="0"/>
          </a:p>
        </p:txBody>
      </p:sp>
      <p:sp>
        <p:nvSpPr>
          <p:cNvPr id="18" name="Text 13"/>
          <p:cNvSpPr/>
          <p:nvPr/>
        </p:nvSpPr>
        <p:spPr>
          <a:xfrm>
            <a:off x="5609993" y="2916342"/>
            <a:ext cx="600075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900"/>
              </a:lnSpc>
              <a:buNone/>
            </a:pPr>
            <a:r>
              <a:rPr lang="en-US" sz="727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检索速度提升</a:t>
            </a:r>
            <a:endParaRPr lang="en-US" sz="727" dirty="0"/>
          </a:p>
        </p:txBody>
      </p:sp>
      <p:sp>
        <p:nvSpPr>
          <p:cNvPr id="19" name="Shape 14"/>
          <p:cNvSpPr/>
          <p:nvPr/>
        </p:nvSpPr>
        <p:spPr>
          <a:xfrm>
            <a:off x="6798730" y="2519864"/>
            <a:ext cx="1777343" cy="521494"/>
          </a:xfrm>
          <a:prstGeom prst="rect">
            <a:avLst/>
          </a:prstGeom>
          <a:solidFill>
            <a:srgbClr val="EEF2FF"/>
          </a:solidFill>
          <a:ln/>
        </p:spPr>
      </p:sp>
      <p:sp>
        <p:nvSpPr>
          <p:cNvPr id="20" name="Text 15"/>
          <p:cNvSpPr/>
          <p:nvPr/>
        </p:nvSpPr>
        <p:spPr>
          <a:xfrm>
            <a:off x="6884455" y="2619876"/>
            <a:ext cx="1605893" cy="27682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8B5C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-75%</a:t>
            </a:r>
            <a:endParaRPr lang="en-US" sz="1602" dirty="0"/>
          </a:p>
        </p:txBody>
      </p:sp>
      <p:sp>
        <p:nvSpPr>
          <p:cNvPr id="21" name="Text 16"/>
          <p:cNvSpPr/>
          <p:nvPr/>
        </p:nvSpPr>
        <p:spPr>
          <a:xfrm>
            <a:off x="7387364" y="2916342"/>
            <a:ext cx="600075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900"/>
              </a:lnSpc>
              <a:buNone/>
            </a:pPr>
            <a:r>
              <a:rPr lang="en-US" sz="727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资源消耗降低</a:t>
            </a:r>
            <a:endParaRPr lang="en-US" sz="727" dirty="0"/>
          </a:p>
        </p:txBody>
      </p:sp>
      <p:sp>
        <p:nvSpPr>
          <p:cNvPr id="22" name="Text 17"/>
          <p:cNvSpPr/>
          <p:nvPr/>
        </p:nvSpPr>
        <p:spPr>
          <a:xfrm>
            <a:off x="5072258" y="3492789"/>
            <a:ext cx="3554713" cy="3590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200" b="1" dirty="0">
                <a:solidFill>
                  <a:srgbClr val="8B5C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对比 FAISS</a:t>
            </a:r>
            <a:r>
              <a:rPr lang="en-US" sz="784" b="1" dirty="0">
                <a:solidFill>
                  <a:srgbClr val="8B5C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：</a:t>
            </a:r>
            <a:r>
              <a:rPr lang="en-US" sz="834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en-US" sz="1200" dirty="0" err="1">
                <a:solidFill>
                  <a:srgbClr val="334155"/>
                </a:solidFill>
                <a:latin typeface="Inter" pitchFamily="34" charset="0"/>
                <a:ea typeface="Inter" pitchFamily="34" charset="-122"/>
              </a:rPr>
              <a:t>在保持同等精度的前提下，实现了吞吐量与成本的极致平衡</a:t>
            </a:r>
            <a:r>
              <a:rPr lang="en-US" sz="12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</a:rPr>
              <a:t>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618353"/>
            <a:ext cx="5162567" cy="28212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2226" b="1" kern="0" spc="-1" dirty="0" err="1">
                <a:solidFill>
                  <a:srgbClr val="2D3748"/>
                </a:solidFill>
                <a:latin typeface="Playfair Display" pitchFamily="34" charset="0"/>
              </a:rPr>
              <a:t>召回策略创新：多维感知与兴趣挖掘突破</a:t>
            </a:r>
            <a:endParaRPr lang="en-US" sz="2226" b="1" kern="0" spc="-1" dirty="0">
              <a:solidFill>
                <a:srgbClr val="2D3748"/>
              </a:solidFill>
              <a:latin typeface="Playfair Display" pitchFamily="34" charset="0"/>
            </a:endParaRPr>
          </a:p>
        </p:txBody>
      </p:sp>
      <p:sp>
        <p:nvSpPr>
          <p:cNvPr id="4" name="Shape 1"/>
          <p:cNvSpPr/>
          <p:nvPr/>
        </p:nvSpPr>
        <p:spPr>
          <a:xfrm>
            <a:off x="571500" y="1334514"/>
            <a:ext cx="2666991" cy="28717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Shape 2"/>
          <p:cNvSpPr/>
          <p:nvPr/>
        </p:nvSpPr>
        <p:spPr>
          <a:xfrm>
            <a:off x="571500" y="1334514"/>
            <a:ext cx="2666991" cy="28575"/>
          </a:xfrm>
          <a:prstGeom prst="rect">
            <a:avLst/>
          </a:prstGeom>
          <a:solidFill>
            <a:srgbClr val="8B5CF6"/>
          </a:solidFill>
          <a:ln/>
        </p:spPr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4375" y="1488105"/>
            <a:ext cx="257175" cy="257175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714375" y="1875653"/>
            <a:ext cx="671513" cy="201811"/>
          </a:xfrm>
          <a:prstGeom prst="rect">
            <a:avLst/>
          </a:prstGeom>
          <a:solidFill>
            <a:srgbClr val="8B5CF6">
              <a:alpha val="10000"/>
            </a:srgbClr>
          </a:solidFill>
          <a:ln/>
        </p:spPr>
      </p:sp>
      <p:sp>
        <p:nvSpPr>
          <p:cNvPr id="8" name="Text 4"/>
          <p:cNvSpPr/>
          <p:nvPr/>
        </p:nvSpPr>
        <p:spPr>
          <a:xfrm>
            <a:off x="714375" y="1875653"/>
            <a:ext cx="671513" cy="201811"/>
          </a:xfrm>
          <a:prstGeom prst="rect">
            <a:avLst/>
          </a:prstGeom>
          <a:noFill/>
          <a:ln/>
        </p:spPr>
        <p:txBody>
          <a:bodyPr wrap="square" lIns="102108" tIns="34036" rIns="102108" bIns="34036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83" b="1" dirty="0">
                <a:solidFill>
                  <a:srgbClr val="8B5C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多模态召回</a:t>
            </a:r>
            <a:endParaRPr lang="en-US" sz="683" dirty="0"/>
          </a:p>
        </p:txBody>
      </p:sp>
      <p:sp>
        <p:nvSpPr>
          <p:cNvPr id="9" name="Text 5"/>
          <p:cNvSpPr/>
          <p:nvPr/>
        </p:nvSpPr>
        <p:spPr>
          <a:xfrm>
            <a:off x="714375" y="2163189"/>
            <a:ext cx="2381241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“拍立淘”技术对齐</a:t>
            </a:r>
            <a:endParaRPr lang="en-US" sz="1090" dirty="0"/>
          </a:p>
        </p:txBody>
      </p:sp>
      <p:sp>
        <p:nvSpPr>
          <p:cNvPr id="10" name="Text 6"/>
          <p:cNvSpPr/>
          <p:nvPr/>
        </p:nvSpPr>
        <p:spPr>
          <a:xfrm>
            <a:off x="714375" y="2502517"/>
            <a:ext cx="2286000" cy="1375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834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通过深度学习将图像特征与文本语义映射到统</a:t>
            </a:r>
            <a:endParaRPr lang="en-US" sz="834" dirty="0"/>
          </a:p>
        </p:txBody>
      </p:sp>
      <p:sp>
        <p:nvSpPr>
          <p:cNvPr id="11" name="Text 7"/>
          <p:cNvSpPr/>
          <p:nvPr/>
        </p:nvSpPr>
        <p:spPr>
          <a:xfrm>
            <a:off x="714375" y="2696821"/>
            <a:ext cx="685800" cy="1375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834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一向量空间。</a:t>
            </a:r>
            <a:endParaRPr lang="en-US" sz="834" dirty="0"/>
          </a:p>
        </p:txBody>
      </p:sp>
      <p:sp>
        <p:nvSpPr>
          <p:cNvPr id="12" name="Text 8"/>
          <p:cNvSpPr/>
          <p:nvPr/>
        </p:nvSpPr>
        <p:spPr>
          <a:xfrm>
            <a:off x="857250" y="2921487"/>
            <a:ext cx="2238366" cy="19430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127000" indent="-127000" algn="l">
              <a:lnSpc>
                <a:spcPts val="1500"/>
              </a:lnSpc>
              <a:buSzPct val="100000"/>
              <a:buChar char="•"/>
            </a:pPr>
            <a:r>
              <a:rPr lang="en-US" sz="834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跨模态语义检索</a:t>
            </a:r>
            <a:endParaRPr lang="en-US" sz="834" dirty="0"/>
          </a:p>
        </p:txBody>
      </p:sp>
      <p:sp>
        <p:nvSpPr>
          <p:cNvPr id="13" name="Text 9"/>
          <p:cNvSpPr/>
          <p:nvPr/>
        </p:nvSpPr>
        <p:spPr>
          <a:xfrm>
            <a:off x="857250" y="3158654"/>
            <a:ext cx="2238366" cy="19430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127000" indent="-127000" algn="l">
              <a:lnSpc>
                <a:spcPts val="1500"/>
              </a:lnSpc>
              <a:buSzPct val="100000"/>
              <a:buChar char="•"/>
            </a:pPr>
            <a:r>
              <a:rPr lang="en-US" sz="834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解决“描述难”的搜索痛点</a:t>
            </a:r>
            <a:endParaRPr lang="en-US" sz="834" dirty="0"/>
          </a:p>
        </p:txBody>
      </p:sp>
      <p:sp>
        <p:nvSpPr>
          <p:cNvPr id="14" name="Text 10"/>
          <p:cNvSpPr/>
          <p:nvPr/>
        </p:nvSpPr>
        <p:spPr>
          <a:xfrm>
            <a:off x="857250" y="3395821"/>
            <a:ext cx="2238366" cy="19430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127000" indent="-127000" algn="l">
              <a:lnSpc>
                <a:spcPts val="1500"/>
              </a:lnSpc>
              <a:buSzPct val="100000"/>
              <a:buChar char="•"/>
            </a:pPr>
            <a:r>
              <a:rPr lang="en-US" sz="834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提升非结构化数据利用率</a:t>
            </a:r>
            <a:endParaRPr lang="en-US" sz="834" dirty="0"/>
          </a:p>
        </p:txBody>
      </p:sp>
      <p:sp>
        <p:nvSpPr>
          <p:cNvPr id="15" name="Shape 11"/>
          <p:cNvSpPr/>
          <p:nvPr/>
        </p:nvSpPr>
        <p:spPr>
          <a:xfrm>
            <a:off x="3238491" y="1334514"/>
            <a:ext cx="2666991" cy="28717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6" name="Shape 12"/>
          <p:cNvSpPr/>
          <p:nvPr/>
        </p:nvSpPr>
        <p:spPr>
          <a:xfrm>
            <a:off x="3238491" y="1334514"/>
            <a:ext cx="2666991" cy="28575"/>
          </a:xfrm>
          <a:prstGeom prst="rect">
            <a:avLst/>
          </a:prstGeom>
          <a:solidFill>
            <a:srgbClr val="8B5CF6"/>
          </a:solidFill>
          <a:ln/>
        </p:spPr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81366" y="1488105"/>
            <a:ext cx="192881" cy="257175"/>
          </a:xfrm>
          <a:prstGeom prst="rect">
            <a:avLst/>
          </a:prstGeom>
        </p:spPr>
      </p:pic>
      <p:sp>
        <p:nvSpPr>
          <p:cNvPr id="18" name="Shape 13"/>
          <p:cNvSpPr/>
          <p:nvPr/>
        </p:nvSpPr>
        <p:spPr>
          <a:xfrm>
            <a:off x="3381366" y="1875653"/>
            <a:ext cx="671513" cy="201811"/>
          </a:xfrm>
          <a:prstGeom prst="rect">
            <a:avLst/>
          </a:prstGeom>
          <a:solidFill>
            <a:srgbClr val="8B5CF6">
              <a:alpha val="10000"/>
            </a:srgbClr>
          </a:solidFill>
          <a:ln/>
        </p:spPr>
      </p:sp>
      <p:sp>
        <p:nvSpPr>
          <p:cNvPr id="19" name="Text 14"/>
          <p:cNvSpPr/>
          <p:nvPr/>
        </p:nvSpPr>
        <p:spPr>
          <a:xfrm>
            <a:off x="3381366" y="1875653"/>
            <a:ext cx="671513" cy="201811"/>
          </a:xfrm>
          <a:prstGeom prst="rect">
            <a:avLst/>
          </a:prstGeom>
          <a:noFill/>
          <a:ln/>
        </p:spPr>
        <p:txBody>
          <a:bodyPr wrap="square" lIns="102108" tIns="34036" rIns="102108" bIns="34036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83" b="1" dirty="0">
                <a:solidFill>
                  <a:srgbClr val="8B5C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冷启动策略</a:t>
            </a:r>
            <a:endParaRPr lang="en-US" sz="683" dirty="0"/>
          </a:p>
        </p:txBody>
      </p:sp>
      <p:sp>
        <p:nvSpPr>
          <p:cNvPr id="20" name="Text 15"/>
          <p:cNvSpPr/>
          <p:nvPr/>
        </p:nvSpPr>
        <p:spPr>
          <a:xfrm>
            <a:off x="3381366" y="2163189"/>
            <a:ext cx="2381241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多序列行为融合</a:t>
            </a:r>
            <a:endParaRPr lang="en-US" sz="1090" dirty="0"/>
          </a:p>
        </p:txBody>
      </p:sp>
      <p:sp>
        <p:nvSpPr>
          <p:cNvPr id="21" name="Text 16"/>
          <p:cNvSpPr/>
          <p:nvPr/>
        </p:nvSpPr>
        <p:spPr>
          <a:xfrm>
            <a:off x="3381366" y="2502517"/>
            <a:ext cx="2286000" cy="1375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834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针对新用户或新商品，利用跨域行为和属性特</a:t>
            </a:r>
            <a:endParaRPr lang="en-US" sz="834" dirty="0"/>
          </a:p>
        </p:txBody>
      </p:sp>
      <p:sp>
        <p:nvSpPr>
          <p:cNvPr id="22" name="Text 17"/>
          <p:cNvSpPr/>
          <p:nvPr/>
        </p:nvSpPr>
        <p:spPr>
          <a:xfrm>
            <a:off x="3381366" y="2696821"/>
            <a:ext cx="914400" cy="1375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834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征进行快速建模。</a:t>
            </a:r>
            <a:endParaRPr lang="en-US" sz="834" dirty="0"/>
          </a:p>
        </p:txBody>
      </p:sp>
      <p:sp>
        <p:nvSpPr>
          <p:cNvPr id="23" name="Text 18"/>
          <p:cNvSpPr/>
          <p:nvPr/>
        </p:nvSpPr>
        <p:spPr>
          <a:xfrm>
            <a:off x="3524241" y="2921487"/>
            <a:ext cx="2238366" cy="19430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127000" indent="-127000" algn="l">
              <a:lnSpc>
                <a:spcPts val="1500"/>
              </a:lnSpc>
              <a:buSzPct val="100000"/>
              <a:buChar char="•"/>
            </a:pPr>
            <a:r>
              <a:rPr lang="en-US" sz="834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融合点击、收藏、加购序列</a:t>
            </a:r>
            <a:endParaRPr lang="en-US" sz="834" dirty="0"/>
          </a:p>
        </p:txBody>
      </p:sp>
      <p:sp>
        <p:nvSpPr>
          <p:cNvPr id="24" name="Text 19"/>
          <p:cNvSpPr/>
          <p:nvPr/>
        </p:nvSpPr>
        <p:spPr>
          <a:xfrm>
            <a:off x="3524241" y="3158654"/>
            <a:ext cx="2238366" cy="19430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127000" indent="-127000" algn="l">
              <a:lnSpc>
                <a:spcPts val="1500"/>
              </a:lnSpc>
              <a:buSzPct val="100000"/>
              <a:buChar char="•"/>
            </a:pPr>
            <a:r>
              <a:rPr lang="en-US" sz="834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基于属性的相似度迁移</a:t>
            </a:r>
            <a:endParaRPr lang="en-US" sz="834" dirty="0"/>
          </a:p>
        </p:txBody>
      </p:sp>
      <p:sp>
        <p:nvSpPr>
          <p:cNvPr id="25" name="Text 20"/>
          <p:cNvSpPr/>
          <p:nvPr/>
        </p:nvSpPr>
        <p:spPr>
          <a:xfrm>
            <a:off x="3524241" y="3395821"/>
            <a:ext cx="2238366" cy="19430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127000" indent="-127000" algn="l">
              <a:lnSpc>
                <a:spcPts val="1500"/>
              </a:lnSpc>
              <a:buSzPct val="100000"/>
              <a:buChar char="•"/>
            </a:pPr>
            <a:r>
              <a:rPr lang="en-US" sz="834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缩短兴趣捕捉周期</a:t>
            </a:r>
            <a:endParaRPr lang="en-US" sz="834" dirty="0"/>
          </a:p>
        </p:txBody>
      </p:sp>
      <p:sp>
        <p:nvSpPr>
          <p:cNvPr id="26" name="Shape 21"/>
          <p:cNvSpPr/>
          <p:nvPr/>
        </p:nvSpPr>
        <p:spPr>
          <a:xfrm>
            <a:off x="5905481" y="1334514"/>
            <a:ext cx="2666991" cy="28717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7" name="Shape 22"/>
          <p:cNvSpPr/>
          <p:nvPr/>
        </p:nvSpPr>
        <p:spPr>
          <a:xfrm>
            <a:off x="5905481" y="1334514"/>
            <a:ext cx="2666991" cy="28575"/>
          </a:xfrm>
          <a:prstGeom prst="rect">
            <a:avLst/>
          </a:prstGeom>
          <a:solidFill>
            <a:srgbClr val="8B5CF6"/>
          </a:solidFill>
          <a:ln/>
        </p:spPr>
      </p:sp>
      <p:pic>
        <p:nvPicPr>
          <p:cNvPr id="2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48356" y="1488105"/>
            <a:ext cx="289322" cy="257175"/>
          </a:xfrm>
          <a:prstGeom prst="rect">
            <a:avLst/>
          </a:prstGeom>
        </p:spPr>
      </p:pic>
      <p:sp>
        <p:nvSpPr>
          <p:cNvPr id="29" name="Shape 23"/>
          <p:cNvSpPr/>
          <p:nvPr/>
        </p:nvSpPr>
        <p:spPr>
          <a:xfrm>
            <a:off x="6048356" y="1875653"/>
            <a:ext cx="996553" cy="201811"/>
          </a:xfrm>
          <a:prstGeom prst="rect">
            <a:avLst/>
          </a:prstGeom>
          <a:solidFill>
            <a:srgbClr val="8B5CF6">
              <a:alpha val="10000"/>
            </a:srgbClr>
          </a:solidFill>
          <a:ln/>
        </p:spPr>
      </p:sp>
      <p:sp>
        <p:nvSpPr>
          <p:cNvPr id="30" name="Text 24"/>
          <p:cNvSpPr/>
          <p:nvPr/>
        </p:nvSpPr>
        <p:spPr>
          <a:xfrm>
            <a:off x="6048356" y="1875653"/>
            <a:ext cx="996553" cy="201811"/>
          </a:xfrm>
          <a:prstGeom prst="rect">
            <a:avLst/>
          </a:prstGeom>
          <a:noFill/>
          <a:ln/>
        </p:spPr>
        <p:txBody>
          <a:bodyPr wrap="square" lIns="102108" tIns="34036" rIns="102108" bIns="34036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83" b="1" dirty="0">
                <a:solidFill>
                  <a:srgbClr val="8B5C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图神经网络 (GNN)</a:t>
            </a:r>
            <a:endParaRPr lang="en-US" sz="683" dirty="0"/>
          </a:p>
        </p:txBody>
      </p:sp>
      <p:sp>
        <p:nvSpPr>
          <p:cNvPr id="31" name="Text 25"/>
          <p:cNvSpPr/>
          <p:nvPr/>
        </p:nvSpPr>
        <p:spPr>
          <a:xfrm>
            <a:off x="6048356" y="2163189"/>
            <a:ext cx="2381241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复杂兴趣关联挖掘</a:t>
            </a:r>
            <a:endParaRPr lang="en-US" sz="1090" dirty="0"/>
          </a:p>
        </p:txBody>
      </p:sp>
      <p:sp>
        <p:nvSpPr>
          <p:cNvPr id="32" name="Text 26"/>
          <p:cNvSpPr/>
          <p:nvPr/>
        </p:nvSpPr>
        <p:spPr>
          <a:xfrm>
            <a:off x="6048356" y="2502517"/>
            <a:ext cx="2286000" cy="1375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834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在闲鱼等轻应用中，利用图结构捕捉用户与商</a:t>
            </a:r>
            <a:endParaRPr lang="en-US" sz="834" dirty="0"/>
          </a:p>
        </p:txBody>
      </p:sp>
      <p:sp>
        <p:nvSpPr>
          <p:cNvPr id="33" name="Text 27"/>
          <p:cNvSpPr/>
          <p:nvPr/>
        </p:nvSpPr>
        <p:spPr>
          <a:xfrm>
            <a:off x="6048356" y="2696821"/>
            <a:ext cx="914400" cy="1375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834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品间的深层联系。</a:t>
            </a:r>
            <a:endParaRPr lang="en-US" sz="834" dirty="0"/>
          </a:p>
        </p:txBody>
      </p:sp>
      <p:sp>
        <p:nvSpPr>
          <p:cNvPr id="34" name="Text 28"/>
          <p:cNvSpPr/>
          <p:nvPr/>
        </p:nvSpPr>
        <p:spPr>
          <a:xfrm>
            <a:off x="6191231" y="2921487"/>
            <a:ext cx="2238366" cy="19430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127000" indent="-127000" algn="l">
              <a:lnSpc>
                <a:spcPts val="1500"/>
              </a:lnSpc>
              <a:buSzPct val="100000"/>
              <a:buChar char="•"/>
            </a:pPr>
            <a:r>
              <a:rPr lang="en-US" sz="834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高阶邻居特征聚合</a:t>
            </a:r>
            <a:endParaRPr lang="en-US" sz="834" dirty="0"/>
          </a:p>
        </p:txBody>
      </p:sp>
      <p:sp>
        <p:nvSpPr>
          <p:cNvPr id="35" name="Text 29"/>
          <p:cNvSpPr/>
          <p:nvPr/>
        </p:nvSpPr>
        <p:spPr>
          <a:xfrm>
            <a:off x="6191231" y="3158654"/>
            <a:ext cx="2238366" cy="19430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127000" indent="-127000" algn="l">
              <a:lnSpc>
                <a:spcPts val="1500"/>
              </a:lnSpc>
              <a:buSzPct val="100000"/>
              <a:buChar char="•"/>
            </a:pPr>
            <a:r>
              <a:rPr lang="en-US" sz="834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挖掘潜在的社交/兴趣圈层</a:t>
            </a:r>
            <a:endParaRPr lang="en-US" sz="834" dirty="0"/>
          </a:p>
        </p:txBody>
      </p:sp>
      <p:sp>
        <p:nvSpPr>
          <p:cNvPr id="36" name="Text 30"/>
          <p:cNvSpPr/>
          <p:nvPr/>
        </p:nvSpPr>
        <p:spPr>
          <a:xfrm>
            <a:off x="6191231" y="3395821"/>
            <a:ext cx="2238366" cy="19430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127000" indent="-127000" algn="l">
              <a:lnSpc>
                <a:spcPts val="1500"/>
              </a:lnSpc>
              <a:buSzPct val="100000"/>
              <a:buChar char="•"/>
            </a:pPr>
            <a:r>
              <a:rPr lang="en-US" sz="834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提升长尾商品的曝光精度</a:t>
            </a:r>
            <a:endParaRPr lang="en-US" sz="834" dirty="0"/>
          </a:p>
        </p:txBody>
      </p:sp>
      <p:sp>
        <p:nvSpPr>
          <p:cNvPr id="37" name="Text 31"/>
          <p:cNvSpPr/>
          <p:nvPr/>
        </p:nvSpPr>
        <p:spPr>
          <a:xfrm>
            <a:off x="571500" y="4855964"/>
            <a:ext cx="3278981" cy="14466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27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* 核心目标：突破单一维度限制，实现对用户兴趣的全方位、多层次感知。</a:t>
            </a:r>
            <a:endParaRPr lang="en-US" sz="727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Text 0">
            <a:extLst>
              <a:ext uri="{FF2B5EF4-FFF2-40B4-BE49-F238E27FC236}">
                <a16:creationId xmlns:a16="http://schemas.microsoft.com/office/drawing/2014/main" id="{25BA3592-A324-C444-17D5-70E19D3645D4}"/>
              </a:ext>
            </a:extLst>
          </p:cNvPr>
          <p:cNvSpPr/>
          <p:nvPr/>
        </p:nvSpPr>
        <p:spPr>
          <a:xfrm>
            <a:off x="571500" y="428625"/>
            <a:ext cx="8001000" cy="45541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226" b="1" kern="0" spc="-1" dirty="0">
                <a:solidFill>
                  <a:srgbClr val="2D3748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排序模型演进（上）——从逻辑回归到深度兴趣网络</a:t>
            </a:r>
            <a:endParaRPr lang="en-US" sz="2226" dirty="0"/>
          </a:p>
        </p:txBody>
      </p:sp>
      <p:sp>
        <p:nvSpPr>
          <p:cNvPr id="60" name="Text 1">
            <a:extLst>
              <a:ext uri="{FF2B5EF4-FFF2-40B4-BE49-F238E27FC236}">
                <a16:creationId xmlns:a16="http://schemas.microsoft.com/office/drawing/2014/main" id="{6E6D5773-265E-979F-3C3E-7CF8196FC093}"/>
              </a:ext>
            </a:extLst>
          </p:cNvPr>
          <p:cNvSpPr/>
          <p:nvPr/>
        </p:nvSpPr>
        <p:spPr>
          <a:xfrm>
            <a:off x="571500" y="1026914"/>
            <a:ext cx="8001000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4A556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推荐系统排序模型经历了从线性到非线性、从静态到动态的三次关键演进</a:t>
            </a:r>
            <a:endParaRPr lang="en-US" sz="987" dirty="0"/>
          </a:p>
        </p:txBody>
      </p:sp>
      <p:sp>
        <p:nvSpPr>
          <p:cNvPr id="61" name="Shape 2">
            <a:extLst>
              <a:ext uri="{FF2B5EF4-FFF2-40B4-BE49-F238E27FC236}">
                <a16:creationId xmlns:a16="http://schemas.microsoft.com/office/drawing/2014/main" id="{2E830E3E-628B-6796-307C-EC02B8BEB8E1}"/>
              </a:ext>
            </a:extLst>
          </p:cNvPr>
          <p:cNvSpPr/>
          <p:nvPr/>
        </p:nvSpPr>
        <p:spPr>
          <a:xfrm>
            <a:off x="571500" y="1334095"/>
            <a:ext cx="2566978" cy="2590279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2" name="Text 3">
            <a:extLst>
              <a:ext uri="{FF2B5EF4-FFF2-40B4-BE49-F238E27FC236}">
                <a16:creationId xmlns:a16="http://schemas.microsoft.com/office/drawing/2014/main" id="{01EE8B1B-C658-E65B-FEAB-7C78899B4FDE}"/>
              </a:ext>
            </a:extLst>
          </p:cNvPr>
          <p:cNvSpPr/>
          <p:nvPr/>
        </p:nvSpPr>
        <p:spPr>
          <a:xfrm>
            <a:off x="2261583" y="1262658"/>
            <a:ext cx="734020" cy="7143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5600"/>
              </a:lnSpc>
              <a:buNone/>
            </a:pPr>
            <a:r>
              <a:rPr lang="en-US" sz="5182" b="1" dirty="0">
                <a:solidFill>
                  <a:srgbClr val="ED8936">
                    <a:alpha val="15000"/>
                  </a:srgbClr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01</a:t>
            </a:r>
            <a:endParaRPr lang="en-US" sz="5182" dirty="0"/>
          </a:p>
        </p:txBody>
      </p:sp>
      <p:sp>
        <p:nvSpPr>
          <p:cNvPr id="63" name="Text 4">
            <a:extLst>
              <a:ext uri="{FF2B5EF4-FFF2-40B4-BE49-F238E27FC236}">
                <a16:creationId xmlns:a16="http://schemas.microsoft.com/office/drawing/2014/main" id="{D15AD18C-D666-F798-27F4-4AAECF95F3D8}"/>
              </a:ext>
            </a:extLst>
          </p:cNvPr>
          <p:cNvSpPr/>
          <p:nvPr/>
        </p:nvSpPr>
        <p:spPr>
          <a:xfrm>
            <a:off x="714375" y="1419820"/>
            <a:ext cx="2281228" cy="24824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377" dirty="0">
                <a:solidFill>
                  <a:srgbClr val="2D3748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LR + GBDT</a:t>
            </a:r>
            <a:endParaRPr lang="en-US" sz="1377" dirty="0"/>
          </a:p>
        </p:txBody>
      </p:sp>
      <p:sp>
        <p:nvSpPr>
          <p:cNvPr id="64" name="Text 5">
            <a:extLst>
              <a:ext uri="{FF2B5EF4-FFF2-40B4-BE49-F238E27FC236}">
                <a16:creationId xmlns:a16="http://schemas.microsoft.com/office/drawing/2014/main" id="{A6365B5E-6B5A-D96A-8864-B2BDFD8AD368}"/>
              </a:ext>
            </a:extLst>
          </p:cNvPr>
          <p:cNvSpPr/>
          <p:nvPr/>
        </p:nvSpPr>
        <p:spPr>
          <a:xfrm>
            <a:off x="714375" y="1703784"/>
            <a:ext cx="2281228" cy="16609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ED893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2010s初期</a:t>
            </a:r>
            <a:endParaRPr lang="en-US" sz="784" dirty="0"/>
          </a:p>
        </p:txBody>
      </p:sp>
      <p:sp>
        <p:nvSpPr>
          <p:cNvPr id="65" name="Text 6">
            <a:extLst>
              <a:ext uri="{FF2B5EF4-FFF2-40B4-BE49-F238E27FC236}">
                <a16:creationId xmlns:a16="http://schemas.microsoft.com/office/drawing/2014/main" id="{881D8F82-B80D-CD16-FCDE-A123313FAF1E}"/>
              </a:ext>
            </a:extLst>
          </p:cNvPr>
          <p:cNvSpPr/>
          <p:nvPr/>
        </p:nvSpPr>
        <p:spPr>
          <a:xfrm>
            <a:off x="714375" y="1955602"/>
            <a:ext cx="2281228" cy="365727"/>
          </a:xfrm>
          <a:prstGeom prst="rect">
            <a:avLst/>
          </a:prstGeom>
          <a:noFill/>
          <a:ln/>
        </p:spPr>
        <p:txBody>
          <a:bodyPr wrap="square" lIns="170053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4A556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机制：</a:t>
            </a:r>
            <a:r>
              <a:rPr lang="en-US" sz="834" dirty="0">
                <a:solidFill>
                  <a:srgbClr val="4A556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逻辑回归(LR)处理线性特征，GBDT负责特征交叉工程</a:t>
            </a:r>
            <a:endParaRPr lang="en-US" sz="784" dirty="0"/>
          </a:p>
        </p:txBody>
      </p:sp>
      <p:sp>
        <p:nvSpPr>
          <p:cNvPr id="66" name="Text 7">
            <a:extLst>
              <a:ext uri="{FF2B5EF4-FFF2-40B4-BE49-F238E27FC236}">
                <a16:creationId xmlns:a16="http://schemas.microsoft.com/office/drawing/2014/main" id="{B52A62DE-3EB6-05B8-D114-A0A1E771CBA6}"/>
              </a:ext>
            </a:extLst>
          </p:cNvPr>
          <p:cNvSpPr/>
          <p:nvPr/>
        </p:nvSpPr>
        <p:spPr>
          <a:xfrm>
            <a:off x="714375" y="2378478"/>
            <a:ext cx="2281228" cy="365727"/>
          </a:xfrm>
          <a:prstGeom prst="rect">
            <a:avLst/>
          </a:prstGeom>
          <a:noFill/>
          <a:ln/>
        </p:spPr>
        <p:txBody>
          <a:bodyPr wrap="square" lIns="170053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4A556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瓶颈：</a:t>
            </a:r>
            <a:r>
              <a:rPr lang="en-US" sz="834" dirty="0">
                <a:solidFill>
                  <a:srgbClr val="4A556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特征交叉严重依赖人工设计，无法有效捕捉高阶非线性关系</a:t>
            </a:r>
            <a:endParaRPr lang="en-US" sz="784" dirty="0"/>
          </a:p>
        </p:txBody>
      </p:sp>
      <p:sp>
        <p:nvSpPr>
          <p:cNvPr id="67" name="Shape 8">
            <a:extLst>
              <a:ext uri="{FF2B5EF4-FFF2-40B4-BE49-F238E27FC236}">
                <a16:creationId xmlns:a16="http://schemas.microsoft.com/office/drawing/2014/main" id="{8B1EB368-305D-A215-7E24-A623EC6ABF59}"/>
              </a:ext>
            </a:extLst>
          </p:cNvPr>
          <p:cNvSpPr/>
          <p:nvPr/>
        </p:nvSpPr>
        <p:spPr>
          <a:xfrm>
            <a:off x="3281353" y="1305520"/>
            <a:ext cx="2581266" cy="2618854"/>
          </a:xfrm>
          <a:prstGeom prst="rect">
            <a:avLst/>
          </a:prstGeom>
          <a:solidFill>
            <a:srgbClr val="805AD5">
              <a:alpha val="3000"/>
            </a:srgbClr>
          </a:solidFill>
          <a:ln w="9144">
            <a:solidFill>
              <a:srgbClr val="805AD5">
                <a:alpha val="10000"/>
              </a:srgbClr>
            </a:solidFill>
            <a:prstDash val="solid"/>
          </a:ln>
        </p:spPr>
      </p:sp>
      <p:sp>
        <p:nvSpPr>
          <p:cNvPr id="68" name="Text 9">
            <a:extLst>
              <a:ext uri="{FF2B5EF4-FFF2-40B4-BE49-F238E27FC236}">
                <a16:creationId xmlns:a16="http://schemas.microsoft.com/office/drawing/2014/main" id="{67CB7054-A3EF-6B92-D160-1BBB700C0FEA}"/>
              </a:ext>
            </a:extLst>
          </p:cNvPr>
          <p:cNvSpPr/>
          <p:nvPr/>
        </p:nvSpPr>
        <p:spPr>
          <a:xfrm>
            <a:off x="714375" y="1955602"/>
            <a:ext cx="53578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987" b="1" dirty="0">
                <a:solidFill>
                  <a:srgbClr val="ED893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•</a:t>
            </a:r>
            <a:endParaRPr lang="en-US" sz="987" dirty="0"/>
          </a:p>
        </p:txBody>
      </p:sp>
      <p:sp>
        <p:nvSpPr>
          <p:cNvPr id="69" name="Text 10">
            <a:extLst>
              <a:ext uri="{FF2B5EF4-FFF2-40B4-BE49-F238E27FC236}">
                <a16:creationId xmlns:a16="http://schemas.microsoft.com/office/drawing/2014/main" id="{9839827F-8276-F96D-75A0-4F6F2DAA26A6}"/>
              </a:ext>
            </a:extLst>
          </p:cNvPr>
          <p:cNvSpPr/>
          <p:nvPr/>
        </p:nvSpPr>
        <p:spPr>
          <a:xfrm>
            <a:off x="714375" y="2378478"/>
            <a:ext cx="53578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987" b="1" dirty="0">
                <a:solidFill>
                  <a:srgbClr val="ED893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•</a:t>
            </a:r>
            <a:endParaRPr lang="en-US" sz="987" dirty="0"/>
          </a:p>
        </p:txBody>
      </p:sp>
      <p:sp>
        <p:nvSpPr>
          <p:cNvPr id="70" name="Text 11">
            <a:extLst>
              <a:ext uri="{FF2B5EF4-FFF2-40B4-BE49-F238E27FC236}">
                <a16:creationId xmlns:a16="http://schemas.microsoft.com/office/drawing/2014/main" id="{518DC00C-BBDC-A546-B4C4-81B1747560B6}"/>
              </a:ext>
            </a:extLst>
          </p:cNvPr>
          <p:cNvSpPr/>
          <p:nvPr/>
        </p:nvSpPr>
        <p:spPr>
          <a:xfrm>
            <a:off x="4880967" y="1234083"/>
            <a:ext cx="834033" cy="7143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5600"/>
              </a:lnSpc>
              <a:buNone/>
            </a:pPr>
            <a:r>
              <a:rPr lang="en-US" sz="5182" b="1" dirty="0">
                <a:solidFill>
                  <a:srgbClr val="805AD5">
                    <a:alpha val="15000"/>
                  </a:srgbClr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02</a:t>
            </a:r>
            <a:endParaRPr lang="en-US" sz="5182" dirty="0"/>
          </a:p>
        </p:txBody>
      </p:sp>
      <p:sp>
        <p:nvSpPr>
          <p:cNvPr id="71" name="Text 12">
            <a:extLst>
              <a:ext uri="{FF2B5EF4-FFF2-40B4-BE49-F238E27FC236}">
                <a16:creationId xmlns:a16="http://schemas.microsoft.com/office/drawing/2014/main" id="{508A1537-383B-E7C0-E24A-F62E8AC15C25}"/>
              </a:ext>
            </a:extLst>
          </p:cNvPr>
          <p:cNvSpPr/>
          <p:nvPr/>
        </p:nvSpPr>
        <p:spPr>
          <a:xfrm>
            <a:off x="3429000" y="1391245"/>
            <a:ext cx="2286000" cy="24824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377" dirty="0">
                <a:solidFill>
                  <a:srgbClr val="2D3748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Wide &amp; Deep</a:t>
            </a:r>
            <a:endParaRPr lang="en-US" sz="1377" dirty="0"/>
          </a:p>
        </p:txBody>
      </p:sp>
      <p:sp>
        <p:nvSpPr>
          <p:cNvPr id="72" name="Text 13">
            <a:extLst>
              <a:ext uri="{FF2B5EF4-FFF2-40B4-BE49-F238E27FC236}">
                <a16:creationId xmlns:a16="http://schemas.microsoft.com/office/drawing/2014/main" id="{FAE662D0-89F2-BE7C-6D20-53CE27CCFEC5}"/>
              </a:ext>
            </a:extLst>
          </p:cNvPr>
          <p:cNvSpPr/>
          <p:nvPr/>
        </p:nvSpPr>
        <p:spPr>
          <a:xfrm>
            <a:off x="3429000" y="1675209"/>
            <a:ext cx="2286000" cy="16609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805AD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2016年</a:t>
            </a:r>
            <a:endParaRPr lang="en-US" sz="784" dirty="0"/>
          </a:p>
        </p:txBody>
      </p:sp>
      <p:sp>
        <p:nvSpPr>
          <p:cNvPr id="73" name="Text 14">
            <a:extLst>
              <a:ext uri="{FF2B5EF4-FFF2-40B4-BE49-F238E27FC236}">
                <a16:creationId xmlns:a16="http://schemas.microsoft.com/office/drawing/2014/main" id="{3ED80584-5526-F7D6-FCFC-184F92332882}"/>
              </a:ext>
            </a:extLst>
          </p:cNvPr>
          <p:cNvSpPr/>
          <p:nvPr/>
        </p:nvSpPr>
        <p:spPr>
          <a:xfrm>
            <a:off x="3429000" y="1927027"/>
            <a:ext cx="2286000" cy="548590"/>
          </a:xfrm>
          <a:prstGeom prst="rect">
            <a:avLst/>
          </a:prstGeom>
          <a:noFill/>
          <a:ln/>
        </p:spPr>
        <p:txBody>
          <a:bodyPr wrap="square" lIns="170053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4A556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机制：</a:t>
            </a:r>
            <a:r>
              <a:rPr lang="en-US" sz="834" dirty="0">
                <a:solidFill>
                  <a:srgbClr val="4A556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Wide侧记忆历史共现模式(Memorization)，Deep侧泛化至未见特征组合(Generalization)</a:t>
            </a:r>
            <a:endParaRPr lang="en-US" sz="784" dirty="0"/>
          </a:p>
        </p:txBody>
      </p:sp>
      <p:sp>
        <p:nvSpPr>
          <p:cNvPr id="74" name="Text 15">
            <a:extLst>
              <a:ext uri="{FF2B5EF4-FFF2-40B4-BE49-F238E27FC236}">
                <a16:creationId xmlns:a16="http://schemas.microsoft.com/office/drawing/2014/main" id="{4E55BC5D-F87A-74E1-CE39-6AC839B58650}"/>
              </a:ext>
            </a:extLst>
          </p:cNvPr>
          <p:cNvSpPr/>
          <p:nvPr/>
        </p:nvSpPr>
        <p:spPr>
          <a:xfrm>
            <a:off x="3429000" y="2532766"/>
            <a:ext cx="2286000" cy="365727"/>
          </a:xfrm>
          <a:prstGeom prst="rect">
            <a:avLst/>
          </a:prstGeom>
          <a:noFill/>
          <a:ln/>
        </p:spPr>
        <p:txBody>
          <a:bodyPr wrap="square" lIns="170053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4A556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突破：</a:t>
            </a:r>
            <a:r>
              <a:rPr lang="en-US" sz="834" dirty="0">
                <a:solidFill>
                  <a:srgbClr val="4A556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首次将记忆与泛化能力在同一深度学习模型中完美结合</a:t>
            </a:r>
            <a:endParaRPr lang="en-US" sz="784" dirty="0"/>
          </a:p>
        </p:txBody>
      </p:sp>
      <p:sp>
        <p:nvSpPr>
          <p:cNvPr id="75" name="Shape 16">
            <a:extLst>
              <a:ext uri="{FF2B5EF4-FFF2-40B4-BE49-F238E27FC236}">
                <a16:creationId xmlns:a16="http://schemas.microsoft.com/office/drawing/2014/main" id="{816CF3E0-BB88-82E7-981D-FCA3CA2C74D9}"/>
              </a:ext>
            </a:extLst>
          </p:cNvPr>
          <p:cNvSpPr/>
          <p:nvPr/>
        </p:nvSpPr>
        <p:spPr>
          <a:xfrm>
            <a:off x="6000750" y="1305520"/>
            <a:ext cx="2571750" cy="261885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6" name="Text 17">
            <a:extLst>
              <a:ext uri="{FF2B5EF4-FFF2-40B4-BE49-F238E27FC236}">
                <a16:creationId xmlns:a16="http://schemas.microsoft.com/office/drawing/2014/main" id="{3744BF5A-0400-48B7-DCE4-CC1515C4E94B}"/>
              </a:ext>
            </a:extLst>
          </p:cNvPr>
          <p:cNvSpPr/>
          <p:nvPr/>
        </p:nvSpPr>
        <p:spPr>
          <a:xfrm>
            <a:off x="3429000" y="1927027"/>
            <a:ext cx="53578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987" b="1" dirty="0">
                <a:solidFill>
                  <a:srgbClr val="805AD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•</a:t>
            </a:r>
            <a:endParaRPr lang="en-US" sz="987" dirty="0"/>
          </a:p>
        </p:txBody>
      </p:sp>
      <p:sp>
        <p:nvSpPr>
          <p:cNvPr id="77" name="Text 18">
            <a:extLst>
              <a:ext uri="{FF2B5EF4-FFF2-40B4-BE49-F238E27FC236}">
                <a16:creationId xmlns:a16="http://schemas.microsoft.com/office/drawing/2014/main" id="{5E2CE79C-0CC0-2BB9-3B81-01245C122F2C}"/>
              </a:ext>
            </a:extLst>
          </p:cNvPr>
          <p:cNvSpPr/>
          <p:nvPr/>
        </p:nvSpPr>
        <p:spPr>
          <a:xfrm>
            <a:off x="3429000" y="2532766"/>
            <a:ext cx="53578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987" b="1" dirty="0">
                <a:solidFill>
                  <a:srgbClr val="805AD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•</a:t>
            </a:r>
            <a:endParaRPr lang="en-US" sz="987" dirty="0"/>
          </a:p>
        </p:txBody>
      </p:sp>
      <p:sp>
        <p:nvSpPr>
          <p:cNvPr id="78" name="Text 19">
            <a:extLst>
              <a:ext uri="{FF2B5EF4-FFF2-40B4-BE49-F238E27FC236}">
                <a16:creationId xmlns:a16="http://schemas.microsoft.com/office/drawing/2014/main" id="{52E76E6B-7166-6ABB-AB27-199E36AE83EB}"/>
              </a:ext>
            </a:extLst>
          </p:cNvPr>
          <p:cNvSpPr/>
          <p:nvPr/>
        </p:nvSpPr>
        <p:spPr>
          <a:xfrm>
            <a:off x="7620595" y="1234083"/>
            <a:ext cx="809030" cy="7143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5600"/>
              </a:lnSpc>
              <a:buNone/>
            </a:pPr>
            <a:r>
              <a:rPr lang="en-US" sz="5182" b="1" dirty="0">
                <a:solidFill>
                  <a:srgbClr val="ED8936">
                    <a:alpha val="15000"/>
                  </a:srgbClr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03</a:t>
            </a:r>
            <a:endParaRPr lang="en-US" sz="5182" dirty="0"/>
          </a:p>
        </p:txBody>
      </p:sp>
      <p:sp>
        <p:nvSpPr>
          <p:cNvPr id="79" name="Text 20">
            <a:extLst>
              <a:ext uri="{FF2B5EF4-FFF2-40B4-BE49-F238E27FC236}">
                <a16:creationId xmlns:a16="http://schemas.microsoft.com/office/drawing/2014/main" id="{5D40FAA9-5ECD-0480-A982-D6B61054D4F0}"/>
              </a:ext>
            </a:extLst>
          </p:cNvPr>
          <p:cNvSpPr/>
          <p:nvPr/>
        </p:nvSpPr>
        <p:spPr>
          <a:xfrm>
            <a:off x="6143625" y="1391245"/>
            <a:ext cx="2286000" cy="24824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377" dirty="0">
                <a:solidFill>
                  <a:srgbClr val="2D3748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DIN &amp; DIEN</a:t>
            </a:r>
            <a:endParaRPr lang="en-US" sz="1377" dirty="0"/>
          </a:p>
        </p:txBody>
      </p:sp>
      <p:sp>
        <p:nvSpPr>
          <p:cNvPr id="80" name="Text 21">
            <a:extLst>
              <a:ext uri="{FF2B5EF4-FFF2-40B4-BE49-F238E27FC236}">
                <a16:creationId xmlns:a16="http://schemas.microsoft.com/office/drawing/2014/main" id="{079FA6E2-3865-59B6-F14A-089362C511D4}"/>
              </a:ext>
            </a:extLst>
          </p:cNvPr>
          <p:cNvSpPr/>
          <p:nvPr/>
        </p:nvSpPr>
        <p:spPr>
          <a:xfrm>
            <a:off x="6143625" y="1675209"/>
            <a:ext cx="2286000" cy="16609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ED893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2018-2019年</a:t>
            </a:r>
            <a:endParaRPr lang="en-US" sz="784" dirty="0"/>
          </a:p>
        </p:txBody>
      </p:sp>
      <p:sp>
        <p:nvSpPr>
          <p:cNvPr id="81" name="Shape 22">
            <a:extLst>
              <a:ext uri="{FF2B5EF4-FFF2-40B4-BE49-F238E27FC236}">
                <a16:creationId xmlns:a16="http://schemas.microsoft.com/office/drawing/2014/main" id="{B696EBCC-AF49-FC9E-6F2A-504072AE2E84}"/>
              </a:ext>
            </a:extLst>
          </p:cNvPr>
          <p:cNvSpPr/>
          <p:nvPr/>
        </p:nvSpPr>
        <p:spPr>
          <a:xfrm>
            <a:off x="6143625" y="1927027"/>
            <a:ext cx="2286000" cy="898661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82" name="Text 23">
            <a:extLst>
              <a:ext uri="{FF2B5EF4-FFF2-40B4-BE49-F238E27FC236}">
                <a16:creationId xmlns:a16="http://schemas.microsoft.com/office/drawing/2014/main" id="{E659E890-5435-F080-37AA-1B54C8117924}"/>
              </a:ext>
            </a:extLst>
          </p:cNvPr>
          <p:cNvSpPr/>
          <p:nvPr/>
        </p:nvSpPr>
        <p:spPr>
          <a:xfrm>
            <a:off x="6257925" y="1998464"/>
            <a:ext cx="2057400" cy="2057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885" b="1" dirty="0">
                <a:solidFill>
                  <a:srgbClr val="805AD5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DIN (深度兴趣网络)</a:t>
            </a:r>
            <a:endParaRPr lang="en-US" sz="885" dirty="0"/>
          </a:p>
        </p:txBody>
      </p:sp>
      <p:sp>
        <p:nvSpPr>
          <p:cNvPr id="83" name="Text 24">
            <a:extLst>
              <a:ext uri="{FF2B5EF4-FFF2-40B4-BE49-F238E27FC236}">
                <a16:creationId xmlns:a16="http://schemas.microsoft.com/office/drawing/2014/main" id="{167C283F-2468-0E3E-A30A-840423781569}"/>
              </a:ext>
            </a:extLst>
          </p:cNvPr>
          <p:cNvSpPr/>
          <p:nvPr/>
        </p:nvSpPr>
        <p:spPr>
          <a:xfrm>
            <a:off x="6257925" y="2247044"/>
            <a:ext cx="2057400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683" b="1" dirty="0">
                <a:solidFill>
                  <a:srgbClr val="4A556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创新：</a:t>
            </a:r>
            <a:r>
              <a:rPr lang="en-US" sz="727" dirty="0">
                <a:solidFill>
                  <a:srgbClr val="4A556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捕捉"即时兴趣"</a:t>
            </a:r>
            <a:endParaRPr lang="en-US" sz="683" dirty="0"/>
          </a:p>
        </p:txBody>
      </p:sp>
      <p:sp>
        <p:nvSpPr>
          <p:cNvPr id="84" name="Text 25">
            <a:extLst>
              <a:ext uri="{FF2B5EF4-FFF2-40B4-BE49-F238E27FC236}">
                <a16:creationId xmlns:a16="http://schemas.microsoft.com/office/drawing/2014/main" id="{A8545F63-993E-901B-0CD3-32C9F30DAEEF}"/>
              </a:ext>
            </a:extLst>
          </p:cNvPr>
          <p:cNvSpPr/>
          <p:nvPr/>
        </p:nvSpPr>
        <p:spPr>
          <a:xfrm>
            <a:off x="6257925" y="2425638"/>
            <a:ext cx="2057400" cy="3000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683" b="1" dirty="0">
                <a:solidFill>
                  <a:srgbClr val="4A556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机制：</a:t>
            </a:r>
            <a:r>
              <a:rPr lang="en-US" sz="727" dirty="0">
                <a:solidFill>
                  <a:srgbClr val="4A556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注意力机制，对目标商品相关的历史行为赋予更高权重</a:t>
            </a:r>
            <a:endParaRPr lang="en-US" sz="683" dirty="0"/>
          </a:p>
        </p:txBody>
      </p:sp>
      <p:sp>
        <p:nvSpPr>
          <p:cNvPr id="85" name="Shape 26">
            <a:extLst>
              <a:ext uri="{FF2B5EF4-FFF2-40B4-BE49-F238E27FC236}">
                <a16:creationId xmlns:a16="http://schemas.microsoft.com/office/drawing/2014/main" id="{FC56B9A0-5060-9915-765E-D3E9A30F1CDC}"/>
              </a:ext>
            </a:extLst>
          </p:cNvPr>
          <p:cNvSpPr/>
          <p:nvPr/>
        </p:nvSpPr>
        <p:spPr>
          <a:xfrm>
            <a:off x="6143625" y="2882838"/>
            <a:ext cx="2286000" cy="898661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86" name="Text 27">
            <a:extLst>
              <a:ext uri="{FF2B5EF4-FFF2-40B4-BE49-F238E27FC236}">
                <a16:creationId xmlns:a16="http://schemas.microsoft.com/office/drawing/2014/main" id="{4DE3A4B2-8F70-6221-FB38-9F8E8157E73D}"/>
              </a:ext>
            </a:extLst>
          </p:cNvPr>
          <p:cNvSpPr/>
          <p:nvPr/>
        </p:nvSpPr>
        <p:spPr>
          <a:xfrm>
            <a:off x="6257925" y="2954275"/>
            <a:ext cx="2057400" cy="2057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885" b="1" dirty="0">
                <a:solidFill>
                  <a:srgbClr val="805AD5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DIEN (深度兴趣演化网络)</a:t>
            </a:r>
            <a:endParaRPr lang="en-US" sz="885" dirty="0"/>
          </a:p>
        </p:txBody>
      </p:sp>
      <p:sp>
        <p:nvSpPr>
          <p:cNvPr id="87" name="Text 28">
            <a:extLst>
              <a:ext uri="{FF2B5EF4-FFF2-40B4-BE49-F238E27FC236}">
                <a16:creationId xmlns:a16="http://schemas.microsoft.com/office/drawing/2014/main" id="{24A16BB1-0229-1AE9-5715-E20F692F8493}"/>
              </a:ext>
            </a:extLst>
          </p:cNvPr>
          <p:cNvSpPr/>
          <p:nvPr/>
        </p:nvSpPr>
        <p:spPr>
          <a:xfrm>
            <a:off x="6257925" y="3202856"/>
            <a:ext cx="2057400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683" b="1" dirty="0">
                <a:solidFill>
                  <a:srgbClr val="4A556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创新：</a:t>
            </a:r>
            <a:r>
              <a:rPr lang="en-US" sz="727" dirty="0">
                <a:solidFill>
                  <a:srgbClr val="4A556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建模兴趣动态演变</a:t>
            </a:r>
            <a:endParaRPr lang="en-US" sz="683" dirty="0"/>
          </a:p>
        </p:txBody>
      </p:sp>
      <p:sp>
        <p:nvSpPr>
          <p:cNvPr id="88" name="Text 29">
            <a:extLst>
              <a:ext uri="{FF2B5EF4-FFF2-40B4-BE49-F238E27FC236}">
                <a16:creationId xmlns:a16="http://schemas.microsoft.com/office/drawing/2014/main" id="{27C82D05-B621-01B4-4AC3-17F6D66851F0}"/>
              </a:ext>
            </a:extLst>
          </p:cNvPr>
          <p:cNvSpPr/>
          <p:nvPr/>
        </p:nvSpPr>
        <p:spPr>
          <a:xfrm>
            <a:off x="6257925" y="3381449"/>
            <a:ext cx="2057400" cy="3000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683" b="1" dirty="0">
                <a:solidFill>
                  <a:srgbClr val="4A556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机制：</a:t>
            </a:r>
            <a:r>
              <a:rPr lang="en-US" sz="727" dirty="0">
                <a:solidFill>
                  <a:srgbClr val="4A556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GRU + 注意力门控，追踪兴趣随时间的漂移轨迹</a:t>
            </a:r>
            <a:endParaRPr lang="en-US" sz="683" dirty="0"/>
          </a:p>
        </p:txBody>
      </p:sp>
      <p:sp>
        <p:nvSpPr>
          <p:cNvPr id="89" name="Shape 30">
            <a:extLst>
              <a:ext uri="{FF2B5EF4-FFF2-40B4-BE49-F238E27FC236}">
                <a16:creationId xmlns:a16="http://schemas.microsoft.com/office/drawing/2014/main" id="{9A9494BD-AD15-6FC2-B548-150ECE3B7A62}"/>
              </a:ext>
            </a:extLst>
          </p:cNvPr>
          <p:cNvSpPr/>
          <p:nvPr/>
        </p:nvSpPr>
        <p:spPr>
          <a:xfrm>
            <a:off x="571500" y="3981524"/>
            <a:ext cx="8001000" cy="435769"/>
          </a:xfrm>
          <a:prstGeom prst="rect">
            <a:avLst/>
          </a:prstGeom>
          <a:solidFill>
            <a:srgbClr val="ED8936">
              <a:alpha val="5000"/>
            </a:srgbClr>
          </a:solidFill>
          <a:ln/>
        </p:spPr>
      </p:sp>
      <p:sp>
        <p:nvSpPr>
          <p:cNvPr id="90" name="Shape 31">
            <a:extLst>
              <a:ext uri="{FF2B5EF4-FFF2-40B4-BE49-F238E27FC236}">
                <a16:creationId xmlns:a16="http://schemas.microsoft.com/office/drawing/2014/main" id="{65D5D7E2-41DD-BB72-42B3-B43E2DC72220}"/>
              </a:ext>
            </a:extLst>
          </p:cNvPr>
          <p:cNvSpPr/>
          <p:nvPr/>
        </p:nvSpPr>
        <p:spPr>
          <a:xfrm>
            <a:off x="571500" y="3981524"/>
            <a:ext cx="28575" cy="435769"/>
          </a:xfrm>
          <a:prstGeom prst="rect">
            <a:avLst/>
          </a:prstGeom>
          <a:solidFill>
            <a:srgbClr val="ED8936"/>
          </a:solidFill>
          <a:ln/>
        </p:spPr>
      </p:sp>
      <p:sp>
        <p:nvSpPr>
          <p:cNvPr id="91" name="Text 32">
            <a:extLst>
              <a:ext uri="{FF2B5EF4-FFF2-40B4-BE49-F238E27FC236}">
                <a16:creationId xmlns:a16="http://schemas.microsoft.com/office/drawing/2014/main" id="{D3E41251-26AB-01C4-2388-880933822A7C}"/>
              </a:ext>
            </a:extLst>
          </p:cNvPr>
          <p:cNvSpPr/>
          <p:nvPr/>
        </p:nvSpPr>
        <p:spPr>
          <a:xfrm>
            <a:off x="571500" y="3981524"/>
            <a:ext cx="8001000" cy="435769"/>
          </a:xfrm>
          <a:prstGeom prst="rect">
            <a:avLst/>
          </a:prstGeom>
          <a:noFill/>
          <a:ln/>
        </p:spPr>
        <p:txBody>
          <a:bodyPr wrap="square" lIns="204089" tIns="136017" rIns="204089" bIns="136017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87" b="1" dirty="0">
                <a:solidFill>
                  <a:srgbClr val="ED8936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关键洞察：</a:t>
            </a:r>
            <a:r>
              <a:rPr lang="en-US" sz="942" dirty="0">
                <a:solidFill>
                  <a:srgbClr val="2D374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DIN的注意力机制使模型不再对所有历史行为一视同仁，而是聚焦与当前候选商品最相关的行为信号。</a:t>
            </a:r>
            <a:endParaRPr lang="en-US" sz="942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27" name="Text 0"/>
          <p:cNvSpPr/>
          <p:nvPr/>
        </p:nvSpPr>
        <p:spPr>
          <a:xfrm>
            <a:off x="571500" y="428625"/>
            <a:ext cx="8001000" cy="9108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226" b="1" kern="0" spc="-1" dirty="0">
                <a:solidFill>
                  <a:srgbClr val="2D3748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排序模型演进（下）——ESMM解决样本偏差与RecGPT的范式革命</a:t>
            </a:r>
            <a:endParaRPr lang="en-US" sz="2226" dirty="0"/>
          </a:p>
        </p:txBody>
      </p:sp>
      <p:sp>
        <p:nvSpPr>
          <p:cNvPr id="28" name="Text 1"/>
          <p:cNvSpPr/>
          <p:nvPr/>
        </p:nvSpPr>
        <p:spPr>
          <a:xfrm>
            <a:off x="428625" y="1653778"/>
            <a:ext cx="4036219" cy="375047"/>
          </a:xfrm>
          <a:prstGeom prst="rect">
            <a:avLst/>
          </a:prstGeom>
          <a:noFill/>
          <a:ln/>
        </p:spPr>
        <p:txBody>
          <a:bodyPr wrap="square" lIns="0" tIns="0" rIns="0" bIns="8509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486" dirty="0">
                <a:solidFill>
                  <a:srgbClr val="2D3748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ESMM：全空间多任务模型 (2018)</a:t>
            </a:r>
            <a:endParaRPr lang="en-US" sz="1486" dirty="0"/>
          </a:p>
        </p:txBody>
      </p:sp>
      <p:sp>
        <p:nvSpPr>
          <p:cNvPr id="29" name="Shape 2"/>
          <p:cNvSpPr/>
          <p:nvPr/>
        </p:nvSpPr>
        <p:spPr>
          <a:xfrm>
            <a:off x="428625" y="2157413"/>
            <a:ext cx="4036219" cy="2761673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0" name="Shape 3"/>
          <p:cNvSpPr/>
          <p:nvPr/>
        </p:nvSpPr>
        <p:spPr>
          <a:xfrm>
            <a:off x="428625" y="2157413"/>
            <a:ext cx="28575" cy="2761673"/>
          </a:xfrm>
          <a:prstGeom prst="rect">
            <a:avLst/>
          </a:prstGeom>
          <a:solidFill>
            <a:srgbClr val="ED8936"/>
          </a:solidFill>
          <a:ln/>
        </p:spPr>
      </p:sp>
      <p:sp>
        <p:nvSpPr>
          <p:cNvPr id="31" name="Text 4"/>
          <p:cNvSpPr/>
          <p:nvPr/>
        </p:nvSpPr>
        <p:spPr>
          <a:xfrm>
            <a:off x="557213" y="2286000"/>
            <a:ext cx="3779044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ED893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面临挑战：样本选择偏差</a:t>
            </a:r>
            <a:endParaRPr lang="en-US" sz="987" dirty="0"/>
          </a:p>
        </p:txBody>
      </p:sp>
      <p:sp>
        <p:nvSpPr>
          <p:cNvPr id="32" name="Text 5"/>
          <p:cNvSpPr/>
          <p:nvPr/>
        </p:nvSpPr>
        <p:spPr>
          <a:xfrm>
            <a:off x="557213" y="2536031"/>
            <a:ext cx="3779044" cy="3657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4" dirty="0">
                <a:solidFill>
                  <a:srgbClr val="4A556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传统CVR（转化率）预测模型只能在点击样本上训练，但预测时需覆盖全部曝光商品，导致严重的样本选择偏差。</a:t>
            </a:r>
            <a:endParaRPr lang="en-US" sz="834" dirty="0"/>
          </a:p>
        </p:txBody>
      </p:sp>
      <p:sp>
        <p:nvSpPr>
          <p:cNvPr id="33" name="Text 6"/>
          <p:cNvSpPr/>
          <p:nvPr/>
        </p:nvSpPr>
        <p:spPr>
          <a:xfrm>
            <a:off x="557213" y="2958908"/>
            <a:ext cx="3779044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ED893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解决方案：联合建模</a:t>
            </a:r>
            <a:endParaRPr lang="en-US" sz="987" dirty="0"/>
          </a:p>
        </p:txBody>
      </p:sp>
      <p:sp>
        <p:nvSpPr>
          <p:cNvPr id="34" name="Text 7"/>
          <p:cNvSpPr/>
          <p:nvPr/>
        </p:nvSpPr>
        <p:spPr>
          <a:xfrm>
            <a:off x="557213" y="3208939"/>
            <a:ext cx="3779044" cy="3657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4" dirty="0">
                <a:solidFill>
                  <a:srgbClr val="4A556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联合建模 CTR（点击率）与 CVR（转化率），在全曝光空间上进行优化，消除偏差。</a:t>
            </a:r>
            <a:endParaRPr lang="en-US" sz="834" dirty="0"/>
          </a:p>
        </p:txBody>
      </p:sp>
      <p:sp>
        <p:nvSpPr>
          <p:cNvPr id="35" name="Shape 8"/>
          <p:cNvSpPr/>
          <p:nvPr/>
        </p:nvSpPr>
        <p:spPr>
          <a:xfrm>
            <a:off x="557213" y="3646103"/>
            <a:ext cx="3779044" cy="400050"/>
          </a:xfrm>
          <a:prstGeom prst="rect">
            <a:avLst/>
          </a:prstGeom>
          <a:solidFill>
            <a:srgbClr val="ED8936">
              <a:alpha val="10000"/>
            </a:srgbClr>
          </a:solidFill>
          <a:ln/>
        </p:spPr>
      </p:sp>
      <p:sp>
        <p:nvSpPr>
          <p:cNvPr id="36" name="Text 9"/>
          <p:cNvSpPr/>
          <p:nvPr/>
        </p:nvSpPr>
        <p:spPr>
          <a:xfrm>
            <a:off x="557213" y="3646103"/>
            <a:ext cx="3779044" cy="400050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t">
            <a:spAutoFit/>
          </a:bodyPr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269" dirty="0">
                <a:solidFill>
                  <a:srgbClr val="2D3748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pCTCVR = pCTR × pCVR</a:t>
            </a:r>
            <a:endParaRPr lang="en-US" sz="1269" dirty="0"/>
          </a:p>
        </p:txBody>
      </p:sp>
      <p:sp>
        <p:nvSpPr>
          <p:cNvPr id="37" name="Text 10"/>
          <p:cNvSpPr/>
          <p:nvPr/>
        </p:nvSpPr>
        <p:spPr>
          <a:xfrm>
            <a:off x="557213" y="4117591"/>
            <a:ext cx="3779044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ED893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业务效果</a:t>
            </a:r>
            <a:endParaRPr lang="en-US" sz="987" dirty="0"/>
          </a:p>
        </p:txBody>
      </p:sp>
      <p:sp>
        <p:nvSpPr>
          <p:cNvPr id="38" name="Text 11"/>
          <p:cNvSpPr/>
          <p:nvPr/>
        </p:nvSpPr>
        <p:spPr>
          <a:xfrm>
            <a:off x="557213" y="4367622"/>
            <a:ext cx="3779044" cy="3657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4" dirty="0">
                <a:solidFill>
                  <a:srgbClr val="4A556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通过乘积关系将CVR训练信号扩展至全空间，在相同曝光下，GMV（商品交易总额）获得显著提升。</a:t>
            </a:r>
            <a:endParaRPr lang="en-US" sz="834" dirty="0"/>
          </a:p>
        </p:txBody>
      </p:sp>
      <p:sp>
        <p:nvSpPr>
          <p:cNvPr id="39" name="Text 12"/>
          <p:cNvSpPr/>
          <p:nvPr/>
        </p:nvSpPr>
        <p:spPr>
          <a:xfrm>
            <a:off x="4679156" y="1653778"/>
            <a:ext cx="4036219" cy="375047"/>
          </a:xfrm>
          <a:prstGeom prst="rect">
            <a:avLst/>
          </a:prstGeom>
          <a:noFill/>
          <a:ln/>
        </p:spPr>
        <p:txBody>
          <a:bodyPr wrap="square" lIns="0" tIns="0" rIns="0" bIns="8509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486" dirty="0">
                <a:solidFill>
                  <a:srgbClr val="2D3748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RecGPT：生成式推荐的范式转变 (2024+)</a:t>
            </a:r>
            <a:endParaRPr lang="en-US" sz="1486" dirty="0"/>
          </a:p>
        </p:txBody>
      </p:sp>
      <p:sp>
        <p:nvSpPr>
          <p:cNvPr id="40" name="Shape 13"/>
          <p:cNvSpPr/>
          <p:nvPr/>
        </p:nvSpPr>
        <p:spPr>
          <a:xfrm>
            <a:off x="4679156" y="2157413"/>
            <a:ext cx="4036219" cy="2180239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1" name="Shape 14"/>
          <p:cNvSpPr/>
          <p:nvPr/>
        </p:nvSpPr>
        <p:spPr>
          <a:xfrm>
            <a:off x="4679156" y="2157413"/>
            <a:ext cx="28575" cy="2180239"/>
          </a:xfrm>
          <a:prstGeom prst="rect">
            <a:avLst/>
          </a:prstGeom>
          <a:solidFill>
            <a:srgbClr val="805AD5"/>
          </a:solidFill>
          <a:ln/>
        </p:spPr>
      </p:sp>
      <p:sp>
        <p:nvSpPr>
          <p:cNvPr id="42" name="Shape 15"/>
          <p:cNvSpPr/>
          <p:nvPr/>
        </p:nvSpPr>
        <p:spPr>
          <a:xfrm>
            <a:off x="4807744" y="2286000"/>
            <a:ext cx="3779044" cy="271463"/>
          </a:xfrm>
          <a:prstGeom prst="rect">
            <a:avLst/>
          </a:prstGeom>
          <a:solidFill>
            <a:srgbClr val="805AD5">
              <a:alpha val="3000"/>
            </a:srgbClr>
          </a:solidFill>
          <a:ln/>
        </p:spPr>
      </p:sp>
      <p:sp>
        <p:nvSpPr>
          <p:cNvPr id="43" name="Text 16"/>
          <p:cNvSpPr/>
          <p:nvPr/>
        </p:nvSpPr>
        <p:spPr>
          <a:xfrm>
            <a:off x="4864894" y="2343150"/>
            <a:ext cx="714375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734" b="1" dirty="0">
                <a:solidFill>
                  <a:srgbClr val="2D374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任务范式</a:t>
            </a:r>
            <a:endParaRPr lang="en-US" sz="734" dirty="0"/>
          </a:p>
        </p:txBody>
      </p:sp>
      <p:sp>
        <p:nvSpPr>
          <p:cNvPr id="44" name="Text 17"/>
          <p:cNvSpPr/>
          <p:nvPr/>
        </p:nvSpPr>
        <p:spPr>
          <a:xfrm>
            <a:off x="5579269" y="2343150"/>
            <a:ext cx="1341072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780" strike="sngStrike" dirty="0">
                <a:solidFill>
                  <a:srgbClr val="71809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预测点击/购买概率</a:t>
            </a:r>
            <a:endParaRPr lang="en-US" sz="780" dirty="0"/>
          </a:p>
        </p:txBody>
      </p:sp>
      <p:sp>
        <p:nvSpPr>
          <p:cNvPr id="45" name="Text 18"/>
          <p:cNvSpPr/>
          <p:nvPr/>
        </p:nvSpPr>
        <p:spPr>
          <a:xfrm>
            <a:off x="6920340" y="2343150"/>
            <a:ext cx="1609297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734" b="1" dirty="0">
                <a:solidFill>
                  <a:srgbClr val="805AD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生成个性化推荐理由与序列</a:t>
            </a:r>
            <a:endParaRPr lang="en-US" sz="734" dirty="0"/>
          </a:p>
        </p:txBody>
      </p:sp>
      <p:sp>
        <p:nvSpPr>
          <p:cNvPr id="46" name="Shape 19"/>
          <p:cNvSpPr/>
          <p:nvPr/>
        </p:nvSpPr>
        <p:spPr>
          <a:xfrm>
            <a:off x="4807744" y="2628900"/>
            <a:ext cx="3779044" cy="271463"/>
          </a:xfrm>
          <a:prstGeom prst="rect">
            <a:avLst/>
          </a:prstGeom>
          <a:solidFill>
            <a:srgbClr val="805AD5">
              <a:alpha val="3000"/>
            </a:srgbClr>
          </a:solidFill>
          <a:ln/>
        </p:spPr>
      </p:sp>
      <p:sp>
        <p:nvSpPr>
          <p:cNvPr id="47" name="Text 20"/>
          <p:cNvSpPr/>
          <p:nvPr/>
        </p:nvSpPr>
        <p:spPr>
          <a:xfrm>
            <a:off x="4864894" y="2686050"/>
            <a:ext cx="714375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734" b="1" dirty="0">
                <a:solidFill>
                  <a:srgbClr val="2D374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模型规模</a:t>
            </a:r>
            <a:endParaRPr lang="en-US" sz="734" dirty="0"/>
          </a:p>
        </p:txBody>
      </p:sp>
      <p:sp>
        <p:nvSpPr>
          <p:cNvPr id="48" name="Text 21"/>
          <p:cNvSpPr/>
          <p:nvPr/>
        </p:nvSpPr>
        <p:spPr>
          <a:xfrm>
            <a:off x="5579269" y="2686050"/>
            <a:ext cx="1341072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780" strike="sngStrike" dirty="0">
                <a:solidFill>
                  <a:srgbClr val="71809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亿级参数</a:t>
            </a:r>
            <a:endParaRPr lang="en-US" sz="780" dirty="0"/>
          </a:p>
        </p:txBody>
      </p:sp>
      <p:sp>
        <p:nvSpPr>
          <p:cNvPr id="49" name="Text 22"/>
          <p:cNvSpPr/>
          <p:nvPr/>
        </p:nvSpPr>
        <p:spPr>
          <a:xfrm>
            <a:off x="6920340" y="2686050"/>
            <a:ext cx="1609297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734" b="1" dirty="0">
                <a:solidFill>
                  <a:srgbClr val="805AD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百亿级参数</a:t>
            </a:r>
            <a:endParaRPr lang="en-US" sz="734" dirty="0"/>
          </a:p>
        </p:txBody>
      </p:sp>
      <p:sp>
        <p:nvSpPr>
          <p:cNvPr id="50" name="Shape 23"/>
          <p:cNvSpPr/>
          <p:nvPr/>
        </p:nvSpPr>
        <p:spPr>
          <a:xfrm>
            <a:off x="4807744" y="2971800"/>
            <a:ext cx="3779044" cy="271463"/>
          </a:xfrm>
          <a:prstGeom prst="rect">
            <a:avLst/>
          </a:prstGeom>
          <a:solidFill>
            <a:srgbClr val="805AD5">
              <a:alpha val="3000"/>
            </a:srgbClr>
          </a:solidFill>
          <a:ln/>
        </p:spPr>
      </p:sp>
      <p:sp>
        <p:nvSpPr>
          <p:cNvPr id="51" name="Text 24"/>
          <p:cNvSpPr/>
          <p:nvPr/>
        </p:nvSpPr>
        <p:spPr>
          <a:xfrm>
            <a:off x="4864894" y="3028950"/>
            <a:ext cx="714375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734" b="1" dirty="0">
                <a:solidFill>
                  <a:srgbClr val="2D374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特征理解</a:t>
            </a:r>
            <a:endParaRPr lang="en-US" sz="734" dirty="0"/>
          </a:p>
        </p:txBody>
      </p:sp>
      <p:sp>
        <p:nvSpPr>
          <p:cNvPr id="52" name="Text 25"/>
          <p:cNvSpPr/>
          <p:nvPr/>
        </p:nvSpPr>
        <p:spPr>
          <a:xfrm>
            <a:off x="5579269" y="3028950"/>
            <a:ext cx="1341072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780" strike="sngStrike" dirty="0">
                <a:solidFill>
                  <a:srgbClr val="71809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结构化特征</a:t>
            </a:r>
            <a:endParaRPr lang="en-US" sz="780" dirty="0"/>
          </a:p>
        </p:txBody>
      </p:sp>
      <p:sp>
        <p:nvSpPr>
          <p:cNvPr id="53" name="Text 26"/>
          <p:cNvSpPr/>
          <p:nvPr/>
        </p:nvSpPr>
        <p:spPr>
          <a:xfrm>
            <a:off x="6920340" y="3028950"/>
            <a:ext cx="1609297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734" b="1" dirty="0">
                <a:solidFill>
                  <a:srgbClr val="805AD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多模态认知（图文音视频）</a:t>
            </a:r>
            <a:endParaRPr lang="en-US" sz="734" dirty="0"/>
          </a:p>
        </p:txBody>
      </p:sp>
      <p:sp>
        <p:nvSpPr>
          <p:cNvPr id="54" name="Shape 27"/>
          <p:cNvSpPr/>
          <p:nvPr/>
        </p:nvSpPr>
        <p:spPr>
          <a:xfrm>
            <a:off x="4807744" y="3314700"/>
            <a:ext cx="3779044" cy="271463"/>
          </a:xfrm>
          <a:prstGeom prst="rect">
            <a:avLst/>
          </a:prstGeom>
          <a:solidFill>
            <a:srgbClr val="805AD5">
              <a:alpha val="3000"/>
            </a:srgbClr>
          </a:solidFill>
          <a:ln/>
        </p:spPr>
      </p:sp>
      <p:sp>
        <p:nvSpPr>
          <p:cNvPr id="55" name="Text 28"/>
          <p:cNvSpPr/>
          <p:nvPr/>
        </p:nvSpPr>
        <p:spPr>
          <a:xfrm>
            <a:off x="4864894" y="3371850"/>
            <a:ext cx="714375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734" b="1" dirty="0">
                <a:solidFill>
                  <a:srgbClr val="2D374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训练方式</a:t>
            </a:r>
            <a:endParaRPr lang="en-US" sz="734" dirty="0"/>
          </a:p>
        </p:txBody>
      </p:sp>
      <p:sp>
        <p:nvSpPr>
          <p:cNvPr id="56" name="Text 29"/>
          <p:cNvSpPr/>
          <p:nvPr/>
        </p:nvSpPr>
        <p:spPr>
          <a:xfrm>
            <a:off x="5579269" y="3371850"/>
            <a:ext cx="1341072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780" strike="sngStrike" dirty="0">
                <a:solidFill>
                  <a:srgbClr val="71809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监督学习</a:t>
            </a:r>
            <a:endParaRPr lang="en-US" sz="780" dirty="0"/>
          </a:p>
        </p:txBody>
      </p:sp>
      <p:sp>
        <p:nvSpPr>
          <p:cNvPr id="57" name="Text 30"/>
          <p:cNvSpPr/>
          <p:nvPr/>
        </p:nvSpPr>
        <p:spPr>
          <a:xfrm>
            <a:off x="6920340" y="3371850"/>
            <a:ext cx="1609297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734" b="1" dirty="0">
                <a:solidFill>
                  <a:srgbClr val="805AD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监督学习 + 强化学习(RLHF)</a:t>
            </a:r>
            <a:endParaRPr lang="en-US" sz="734" dirty="0"/>
          </a:p>
        </p:txBody>
      </p:sp>
      <p:sp>
        <p:nvSpPr>
          <p:cNvPr id="58" name="Shape 31"/>
          <p:cNvSpPr/>
          <p:nvPr/>
        </p:nvSpPr>
        <p:spPr>
          <a:xfrm>
            <a:off x="4807744" y="3671888"/>
            <a:ext cx="3779044" cy="537177"/>
          </a:xfrm>
          <a:prstGeom prst="rect">
            <a:avLst/>
          </a:prstGeom>
          <a:solidFill>
            <a:srgbClr val="805AD5">
              <a:alpha val="10000"/>
            </a:srgbClr>
          </a:solidFill>
          <a:ln/>
        </p:spPr>
      </p:sp>
      <p:sp>
        <p:nvSpPr>
          <p:cNvPr id="59" name="Text 32"/>
          <p:cNvSpPr/>
          <p:nvPr/>
        </p:nvSpPr>
        <p:spPr>
          <a:xfrm>
            <a:off x="4807744" y="3671888"/>
            <a:ext cx="3779044" cy="537177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784" b="1" i="1" dirty="0">
                <a:solidFill>
                  <a:srgbClr val="2D374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战略意义：</a:t>
            </a:r>
            <a:r>
              <a:rPr lang="en-US" sz="834" i="1" dirty="0">
                <a:solidFill>
                  <a:srgbClr val="2D374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RecGPT标志着推荐系统从“预测用户行为”向“理解用户意图并主动生成内容”的根本性转变，开启了推荐系统的新纪元。</a:t>
            </a:r>
            <a:endParaRPr lang="en-US" sz="834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618353"/>
            <a:ext cx="5449377" cy="35009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>
              <a:lnSpc>
                <a:spcPts val="3000"/>
              </a:lnSpc>
            </a:pPr>
            <a:r>
              <a:rPr lang="en-US" sz="2226" b="1" kern="0" spc="-1" dirty="0" err="1">
                <a:solidFill>
                  <a:srgbClr val="2D3748"/>
                </a:solidFill>
                <a:latin typeface="Playfair Display" pitchFamily="34" charset="0"/>
              </a:rPr>
              <a:t>重排与支撑：通用表征与自监督学习的应用</a:t>
            </a:r>
            <a:endParaRPr lang="en-US" sz="2226" b="1" kern="0" spc="-1" dirty="0">
              <a:solidFill>
                <a:srgbClr val="2D3748"/>
              </a:solidFill>
              <a:latin typeface="Playfair Display" pitchFamily="34" charset="0"/>
            </a:endParaRPr>
          </a:p>
        </p:txBody>
      </p:sp>
      <p:sp>
        <p:nvSpPr>
          <p:cNvPr id="4" name="Shape 1"/>
          <p:cNvSpPr/>
          <p:nvPr/>
        </p:nvSpPr>
        <p:spPr>
          <a:xfrm>
            <a:off x="89297" y="1405951"/>
            <a:ext cx="2928938" cy="31003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Shape 2"/>
          <p:cNvSpPr/>
          <p:nvPr/>
        </p:nvSpPr>
        <p:spPr>
          <a:xfrm>
            <a:off x="89297" y="1405951"/>
            <a:ext cx="2928938" cy="28575"/>
          </a:xfrm>
          <a:prstGeom prst="rect">
            <a:avLst/>
          </a:prstGeom>
          <a:solidFill>
            <a:srgbClr val="8B5CF6"/>
          </a:solidFill>
          <a:ln/>
        </p:spPr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7891" y="1647053"/>
            <a:ext cx="285750" cy="28575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267891" y="2109611"/>
            <a:ext cx="2571750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生成式重排技术</a:t>
            </a:r>
            <a:endParaRPr lang="en-US" sz="1090" dirty="0"/>
          </a:p>
        </p:txBody>
      </p:sp>
      <p:sp>
        <p:nvSpPr>
          <p:cNvPr id="8" name="Text 4"/>
          <p:cNvSpPr/>
          <p:nvPr/>
        </p:nvSpPr>
        <p:spPr>
          <a:xfrm>
            <a:off x="267891" y="2470370"/>
            <a:ext cx="2468625" cy="36490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>
              <a:lnSpc>
                <a:spcPts val="1500"/>
              </a:lnSpc>
            </a:pPr>
            <a:r>
              <a:rPr lang="en-US" sz="834" dirty="0" err="1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利用大语言模型（LLM）对推荐列表进行全局优</a:t>
            </a:r>
            <a:r>
              <a:rPr lang="en-US" altLang="zh-CN" sz="834" dirty="0" err="1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化</a:t>
            </a:r>
            <a:r>
              <a:rPr lang="en-US" altLang="zh-CN" sz="834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。</a:t>
            </a:r>
            <a:endParaRPr lang="en-US" altLang="zh-CN" sz="834" dirty="0"/>
          </a:p>
          <a:p>
            <a:pPr marL="0" indent="0" algn="l">
              <a:lnSpc>
                <a:spcPts val="1500"/>
              </a:lnSpc>
              <a:buNone/>
            </a:pPr>
            <a:endParaRPr lang="en-US" sz="834" dirty="0"/>
          </a:p>
        </p:txBody>
      </p:sp>
      <p:sp>
        <p:nvSpPr>
          <p:cNvPr id="9" name="Text 5"/>
          <p:cNvSpPr/>
          <p:nvPr/>
        </p:nvSpPr>
        <p:spPr>
          <a:xfrm>
            <a:off x="267891" y="2664675"/>
            <a:ext cx="65" cy="17254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endParaRPr lang="en-US" sz="834" dirty="0"/>
          </a:p>
        </p:txBody>
      </p:sp>
      <p:sp>
        <p:nvSpPr>
          <p:cNvPr id="10" name="Text 6"/>
          <p:cNvSpPr/>
          <p:nvPr/>
        </p:nvSpPr>
        <p:spPr>
          <a:xfrm>
            <a:off x="410766" y="2903627"/>
            <a:ext cx="2428875" cy="19430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127000" indent="-127000" algn="l">
              <a:lnSpc>
                <a:spcPts val="1500"/>
              </a:lnSpc>
              <a:buSzPct val="100000"/>
              <a:buChar char="•"/>
            </a:pPr>
            <a:r>
              <a:rPr lang="en-US" sz="784" b="1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列表润色</a:t>
            </a:r>
            <a:r>
              <a:rPr lang="en-US" sz="834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：优化推荐结果的连贯性与多样性。</a:t>
            </a:r>
            <a:endParaRPr lang="en-US" sz="784" dirty="0"/>
          </a:p>
        </p:txBody>
      </p:sp>
      <p:sp>
        <p:nvSpPr>
          <p:cNvPr id="11" name="Text 7"/>
          <p:cNvSpPr/>
          <p:nvPr/>
        </p:nvSpPr>
        <p:spPr>
          <a:xfrm>
            <a:off x="410766" y="3155082"/>
            <a:ext cx="2428875" cy="19430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127000" indent="-127000" algn="l">
              <a:lnSpc>
                <a:spcPts val="1500"/>
              </a:lnSpc>
              <a:buSzPct val="100000"/>
              <a:buChar char="•"/>
            </a:pPr>
            <a:r>
              <a:rPr lang="en-US" sz="784" b="1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上下文感知</a:t>
            </a:r>
            <a:r>
              <a:rPr lang="en-US" sz="834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：捕捉列表内商品间的相互影响。</a:t>
            </a:r>
            <a:endParaRPr lang="en-US" sz="784" dirty="0"/>
          </a:p>
        </p:txBody>
      </p:sp>
      <p:sp>
        <p:nvSpPr>
          <p:cNvPr id="12" name="Text 8"/>
          <p:cNvSpPr/>
          <p:nvPr/>
        </p:nvSpPr>
        <p:spPr>
          <a:xfrm>
            <a:off x="410766" y="3406536"/>
            <a:ext cx="2428875" cy="19430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127000" indent="-127000" algn="l">
              <a:lnSpc>
                <a:spcPts val="1500"/>
              </a:lnSpc>
              <a:buSzPct val="100000"/>
              <a:buChar char="•"/>
            </a:pPr>
            <a:r>
              <a:rPr lang="en-US" sz="784" b="1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用户体验</a:t>
            </a:r>
            <a:r>
              <a:rPr lang="en-US" sz="834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：提升整体浏览的沉浸感。</a:t>
            </a:r>
            <a:endParaRPr lang="en-US" sz="784" dirty="0"/>
          </a:p>
        </p:txBody>
      </p:sp>
      <p:sp>
        <p:nvSpPr>
          <p:cNvPr id="13" name="Shape 9"/>
          <p:cNvSpPr/>
          <p:nvPr/>
        </p:nvSpPr>
        <p:spPr>
          <a:xfrm>
            <a:off x="3107531" y="1405951"/>
            <a:ext cx="2928938" cy="31003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4" name="Shape 10"/>
          <p:cNvSpPr/>
          <p:nvPr/>
        </p:nvSpPr>
        <p:spPr>
          <a:xfrm>
            <a:off x="3107531" y="1405951"/>
            <a:ext cx="2928938" cy="28575"/>
          </a:xfrm>
          <a:prstGeom prst="rect">
            <a:avLst/>
          </a:prstGeom>
          <a:solidFill>
            <a:srgbClr val="8B5CF6"/>
          </a:solidFill>
          <a:ln/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86125" y="1647053"/>
            <a:ext cx="285750" cy="28575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3286125" y="2109611"/>
            <a:ext cx="2571750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通用表征模型：MOON</a:t>
            </a:r>
            <a:endParaRPr lang="en-US" sz="1090" dirty="0"/>
          </a:p>
        </p:txBody>
      </p:sp>
      <p:sp>
        <p:nvSpPr>
          <p:cNvPr id="17" name="Text 12"/>
          <p:cNvSpPr/>
          <p:nvPr/>
        </p:nvSpPr>
        <p:spPr>
          <a:xfrm>
            <a:off x="3286125" y="2470370"/>
            <a:ext cx="2057400" cy="1375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834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面向电商场景的多模态通用预训练模型。</a:t>
            </a:r>
            <a:endParaRPr lang="en-US" sz="834" dirty="0"/>
          </a:p>
        </p:txBody>
      </p:sp>
      <p:sp>
        <p:nvSpPr>
          <p:cNvPr id="18" name="Text 13"/>
          <p:cNvSpPr/>
          <p:nvPr/>
        </p:nvSpPr>
        <p:spPr>
          <a:xfrm>
            <a:off x="3328908" y="2879910"/>
            <a:ext cx="2428875" cy="19430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127000" indent="-127000" algn="l">
              <a:lnSpc>
                <a:spcPts val="1500"/>
              </a:lnSpc>
              <a:buSzPct val="100000"/>
              <a:buChar char="•"/>
            </a:pPr>
            <a:r>
              <a:rPr lang="en-US" sz="784" b="1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多模态融合</a:t>
            </a:r>
            <a:r>
              <a:rPr lang="en-US" sz="834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：统一建模图像、文本与行为数据。</a:t>
            </a:r>
            <a:endParaRPr lang="en-US" sz="784" dirty="0"/>
          </a:p>
        </p:txBody>
      </p:sp>
      <p:sp>
        <p:nvSpPr>
          <p:cNvPr id="19" name="Text 14"/>
          <p:cNvSpPr/>
          <p:nvPr/>
        </p:nvSpPr>
        <p:spPr>
          <a:xfrm>
            <a:off x="3328908" y="3131364"/>
            <a:ext cx="2428875" cy="19430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127000" indent="-127000" algn="l">
              <a:lnSpc>
                <a:spcPts val="1500"/>
              </a:lnSpc>
              <a:buSzPct val="100000"/>
              <a:buChar char="•"/>
            </a:pPr>
            <a:r>
              <a:rPr lang="en-US" sz="784" b="1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跨场景迁移</a:t>
            </a:r>
            <a:r>
              <a:rPr lang="en-US" sz="834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：支持搜索、广告、推荐大盘。</a:t>
            </a:r>
            <a:endParaRPr lang="en-US" sz="784" dirty="0"/>
          </a:p>
        </p:txBody>
      </p:sp>
      <p:sp>
        <p:nvSpPr>
          <p:cNvPr id="20" name="Text 15"/>
          <p:cNvSpPr/>
          <p:nvPr/>
        </p:nvSpPr>
        <p:spPr>
          <a:xfrm>
            <a:off x="3328908" y="3382819"/>
            <a:ext cx="2428875" cy="19430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127000" indent="-127000" algn="l">
              <a:lnSpc>
                <a:spcPts val="1500"/>
              </a:lnSpc>
              <a:buSzPct val="100000"/>
              <a:buChar char="•"/>
            </a:pPr>
            <a:r>
              <a:rPr lang="en-US" sz="784" b="1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效果显著</a:t>
            </a:r>
            <a:r>
              <a:rPr lang="en-US" sz="834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：使全站点击率（CTR）提升 20%。</a:t>
            </a:r>
            <a:endParaRPr lang="en-US" sz="784" dirty="0"/>
          </a:p>
        </p:txBody>
      </p:sp>
      <p:sp>
        <p:nvSpPr>
          <p:cNvPr id="21" name="Shape 16"/>
          <p:cNvSpPr/>
          <p:nvPr/>
        </p:nvSpPr>
        <p:spPr>
          <a:xfrm>
            <a:off x="6125766" y="1405951"/>
            <a:ext cx="2928938" cy="31003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2" name="Shape 17"/>
          <p:cNvSpPr/>
          <p:nvPr/>
        </p:nvSpPr>
        <p:spPr>
          <a:xfrm>
            <a:off x="6125766" y="1405951"/>
            <a:ext cx="2928938" cy="28575"/>
          </a:xfrm>
          <a:prstGeom prst="rect">
            <a:avLst/>
          </a:prstGeom>
          <a:solidFill>
            <a:srgbClr val="8B5CF6"/>
          </a:solidFill>
          <a:ln/>
        </p:spPr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04359" y="1647053"/>
            <a:ext cx="285750" cy="285750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6304359" y="2109611"/>
            <a:ext cx="2571750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自监督学习 (SSL)</a:t>
            </a:r>
            <a:endParaRPr lang="en-US" sz="1090" dirty="0"/>
          </a:p>
        </p:txBody>
      </p:sp>
      <p:sp>
        <p:nvSpPr>
          <p:cNvPr id="25" name="Text 19"/>
          <p:cNvSpPr/>
          <p:nvPr/>
        </p:nvSpPr>
        <p:spPr>
          <a:xfrm>
            <a:off x="6304359" y="2470370"/>
            <a:ext cx="2171700" cy="1375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834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利用海量无标签数据增强模型的泛化能力。</a:t>
            </a:r>
            <a:endParaRPr lang="en-US" sz="834" dirty="0"/>
          </a:p>
        </p:txBody>
      </p:sp>
      <p:sp>
        <p:nvSpPr>
          <p:cNvPr id="26" name="Text 20"/>
          <p:cNvSpPr/>
          <p:nvPr/>
        </p:nvSpPr>
        <p:spPr>
          <a:xfrm>
            <a:off x="6447234" y="2839892"/>
            <a:ext cx="2428875" cy="19430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127000" indent="-127000" algn="l">
              <a:lnSpc>
                <a:spcPts val="1500"/>
              </a:lnSpc>
              <a:buSzPct val="100000"/>
              <a:buChar char="•"/>
            </a:pPr>
            <a:r>
              <a:rPr lang="en-US" sz="784" b="1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对比学习</a:t>
            </a:r>
            <a:r>
              <a:rPr lang="en-US" sz="834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：通过数据增强构建正负样本对。</a:t>
            </a:r>
            <a:endParaRPr lang="en-US" sz="784" dirty="0"/>
          </a:p>
        </p:txBody>
      </p:sp>
      <p:sp>
        <p:nvSpPr>
          <p:cNvPr id="27" name="Text 21"/>
          <p:cNvSpPr/>
          <p:nvPr/>
        </p:nvSpPr>
        <p:spPr>
          <a:xfrm>
            <a:off x="6447234" y="3091346"/>
            <a:ext cx="2428875" cy="19430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127000" indent="-127000" algn="l">
              <a:lnSpc>
                <a:spcPts val="1500"/>
              </a:lnSpc>
              <a:buSzPct val="100000"/>
              <a:buChar char="•"/>
            </a:pPr>
            <a:r>
              <a:rPr lang="en-US" sz="784" b="1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缓解稀疏性</a:t>
            </a:r>
            <a:r>
              <a:rPr lang="en-US" sz="834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：解决长尾商品标注不足的问题。</a:t>
            </a:r>
            <a:endParaRPr lang="en-US" sz="784" dirty="0"/>
          </a:p>
        </p:txBody>
      </p:sp>
      <p:sp>
        <p:nvSpPr>
          <p:cNvPr id="28" name="Text 22"/>
          <p:cNvSpPr/>
          <p:nvPr/>
        </p:nvSpPr>
        <p:spPr>
          <a:xfrm>
            <a:off x="6447234" y="3342801"/>
            <a:ext cx="2428875" cy="19430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127000" indent="-127000" algn="l">
              <a:lnSpc>
                <a:spcPts val="1500"/>
              </a:lnSpc>
              <a:buSzPct val="100000"/>
              <a:buChar char="•"/>
            </a:pPr>
            <a:r>
              <a:rPr lang="en-US" sz="784" b="1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鲁棒性增强</a:t>
            </a:r>
            <a:r>
              <a:rPr lang="en-US" sz="834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：提升模型在噪声数据下的稳定性。</a:t>
            </a:r>
            <a:endParaRPr lang="en-US" sz="784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28625"/>
            <a:ext cx="8001000" cy="49649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3200"/>
              </a:lnSpc>
              <a:buNone/>
            </a:pPr>
            <a:r>
              <a:rPr lang="en-US" sz="2436" b="1" kern="0" spc="-1" dirty="0">
                <a:solidFill>
                  <a:srgbClr val="2D3748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行业横向对比——技术选型背后的商业逻辑</a:t>
            </a:r>
            <a:endParaRPr lang="en-US" sz="2436" dirty="0"/>
          </a:p>
        </p:txBody>
      </p:sp>
      <p:sp>
        <p:nvSpPr>
          <p:cNvPr id="4" name="Shape 1"/>
          <p:cNvSpPr/>
          <p:nvPr/>
        </p:nvSpPr>
        <p:spPr>
          <a:xfrm>
            <a:off x="571500" y="1182291"/>
            <a:ext cx="1638291" cy="281285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Text 2"/>
          <p:cNvSpPr/>
          <p:nvPr/>
        </p:nvSpPr>
        <p:spPr>
          <a:xfrm>
            <a:off x="607460" y="1318395"/>
            <a:ext cx="1638290" cy="364908"/>
          </a:xfrm>
          <a:prstGeom prst="rect">
            <a:avLst/>
          </a:prstGeom>
          <a:noFill/>
          <a:ln/>
        </p:spPr>
        <p:txBody>
          <a:bodyPr wrap="square" lIns="0" tIns="0" rIns="0" bIns="102108" rtlCol="0" anchor="t">
            <a:spAutoFit/>
          </a:bodyPr>
          <a:lstStyle/>
          <a:p>
            <a:pPr marL="0" indent="0" algn="ctr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ED8936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淘宝 (阿里巴巴)</a:t>
            </a:r>
            <a:endParaRPr lang="en-US" sz="1602" dirty="0"/>
          </a:p>
        </p:txBody>
      </p:sp>
      <p:sp>
        <p:nvSpPr>
          <p:cNvPr id="6" name="Text 3"/>
          <p:cNvSpPr/>
          <p:nvPr/>
        </p:nvSpPr>
        <p:spPr>
          <a:xfrm>
            <a:off x="700115" y="1875235"/>
            <a:ext cx="1381116" cy="14466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83" b="1" kern="0" spc="1" dirty="0">
                <a:solidFill>
                  <a:srgbClr val="A0AE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技术标签</a:t>
            </a:r>
            <a:endParaRPr lang="en-US" sz="683" dirty="0"/>
          </a:p>
        </p:txBody>
      </p:sp>
      <p:sp>
        <p:nvSpPr>
          <p:cNvPr id="7" name="Text 4"/>
          <p:cNvSpPr/>
          <p:nvPr/>
        </p:nvSpPr>
        <p:spPr>
          <a:xfrm>
            <a:off x="700115" y="2048470"/>
            <a:ext cx="1381116" cy="16609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2D374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平台化 · 算法前瞻</a:t>
            </a:r>
            <a:endParaRPr lang="en-US" sz="784" dirty="0"/>
          </a:p>
        </p:txBody>
      </p:sp>
      <p:sp>
        <p:nvSpPr>
          <p:cNvPr id="8" name="Text 5"/>
          <p:cNvSpPr/>
          <p:nvPr/>
        </p:nvSpPr>
        <p:spPr>
          <a:xfrm>
            <a:off x="700115" y="2300288"/>
            <a:ext cx="1381116" cy="14466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83" b="1" kern="0" spc="1" dirty="0">
                <a:solidFill>
                  <a:srgbClr val="A0AE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核心算法</a:t>
            </a:r>
            <a:endParaRPr lang="en-US" sz="683" dirty="0"/>
          </a:p>
        </p:txBody>
      </p:sp>
      <p:sp>
        <p:nvSpPr>
          <p:cNvPr id="9" name="Text 6"/>
          <p:cNvSpPr/>
          <p:nvPr/>
        </p:nvSpPr>
        <p:spPr>
          <a:xfrm>
            <a:off x="700115" y="2473524"/>
            <a:ext cx="1381116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2D374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DIN / ESMM / RecGPT</a:t>
            </a:r>
            <a:endParaRPr lang="en-US" sz="784" dirty="0"/>
          </a:p>
        </p:txBody>
      </p:sp>
      <p:sp>
        <p:nvSpPr>
          <p:cNvPr id="10" name="Text 7"/>
          <p:cNvSpPr/>
          <p:nvPr/>
        </p:nvSpPr>
        <p:spPr>
          <a:xfrm>
            <a:off x="700115" y="2714625"/>
            <a:ext cx="1381116" cy="14466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83" b="1" kern="0" spc="1" dirty="0">
                <a:solidFill>
                  <a:srgbClr val="A0AE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隐私保护</a:t>
            </a:r>
            <a:endParaRPr lang="en-US" sz="683" dirty="0"/>
          </a:p>
        </p:txBody>
      </p:sp>
      <p:sp>
        <p:nvSpPr>
          <p:cNvPr id="11" name="Text 8"/>
          <p:cNvSpPr/>
          <p:nvPr/>
        </p:nvSpPr>
        <p:spPr>
          <a:xfrm>
            <a:off x="700115" y="2887861"/>
            <a:ext cx="1381116" cy="16609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2D374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差分隐私 + 联邦学习</a:t>
            </a:r>
            <a:endParaRPr lang="en-US" sz="784" dirty="0"/>
          </a:p>
        </p:txBody>
      </p:sp>
      <p:sp>
        <p:nvSpPr>
          <p:cNvPr id="12" name="Text 9"/>
          <p:cNvSpPr/>
          <p:nvPr/>
        </p:nvSpPr>
        <p:spPr>
          <a:xfrm>
            <a:off x="700115" y="3139678"/>
            <a:ext cx="1381116" cy="14466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83" b="1" kern="0" spc="1" dirty="0">
                <a:solidFill>
                  <a:srgbClr val="A0AE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推荐目标</a:t>
            </a:r>
            <a:endParaRPr lang="en-US" sz="683" dirty="0"/>
          </a:p>
        </p:txBody>
      </p:sp>
      <p:sp>
        <p:nvSpPr>
          <p:cNvPr id="13" name="Text 10"/>
          <p:cNvSpPr/>
          <p:nvPr/>
        </p:nvSpPr>
        <p:spPr>
          <a:xfrm>
            <a:off x="700115" y="3312914"/>
            <a:ext cx="1381116" cy="16609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2D374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用户体验 + 生态繁荣</a:t>
            </a:r>
            <a:endParaRPr lang="en-US" sz="784" dirty="0"/>
          </a:p>
        </p:txBody>
      </p:sp>
      <p:sp>
        <p:nvSpPr>
          <p:cNvPr id="14" name="Text 11"/>
          <p:cNvSpPr/>
          <p:nvPr/>
        </p:nvSpPr>
        <p:spPr>
          <a:xfrm>
            <a:off x="700115" y="3564731"/>
            <a:ext cx="1381116" cy="14466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83" b="1" kern="0" spc="1" dirty="0">
                <a:solidFill>
                  <a:srgbClr val="A0AE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冷启动策略</a:t>
            </a:r>
            <a:endParaRPr lang="en-US" sz="683" dirty="0"/>
          </a:p>
        </p:txBody>
      </p:sp>
      <p:sp>
        <p:nvSpPr>
          <p:cNvPr id="15" name="Text 12"/>
          <p:cNvSpPr/>
          <p:nvPr/>
        </p:nvSpPr>
        <p:spPr>
          <a:xfrm>
            <a:off x="700115" y="3737967"/>
            <a:ext cx="1381116" cy="16609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2D374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多序列行为融合</a:t>
            </a:r>
            <a:endParaRPr lang="en-US" sz="784" dirty="0"/>
          </a:p>
        </p:txBody>
      </p:sp>
      <p:sp>
        <p:nvSpPr>
          <p:cNvPr id="16" name="Shape 13"/>
          <p:cNvSpPr/>
          <p:nvPr/>
        </p:nvSpPr>
        <p:spPr>
          <a:xfrm>
            <a:off x="2381241" y="1182291"/>
            <a:ext cx="1638291" cy="281285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7" name="Text 14"/>
          <p:cNvSpPr/>
          <p:nvPr/>
        </p:nvSpPr>
        <p:spPr>
          <a:xfrm>
            <a:off x="2509828" y="1310878"/>
            <a:ext cx="1381116" cy="430411"/>
          </a:xfrm>
          <a:prstGeom prst="rect">
            <a:avLst/>
          </a:prstGeom>
          <a:noFill/>
          <a:ln/>
        </p:spPr>
        <p:txBody>
          <a:bodyPr wrap="square" lIns="0" tIns="0" rIns="0" bIns="102108" rtlCol="0" anchor="t">
            <a:spAutoFit/>
          </a:bodyPr>
          <a:lstStyle/>
          <a:p>
            <a:pPr marL="0" indent="0" algn="ctr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E53E3E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京东</a:t>
            </a:r>
            <a:endParaRPr lang="en-US" sz="1602" dirty="0"/>
          </a:p>
        </p:txBody>
      </p:sp>
      <p:sp>
        <p:nvSpPr>
          <p:cNvPr id="18" name="Text 15"/>
          <p:cNvSpPr/>
          <p:nvPr/>
        </p:nvSpPr>
        <p:spPr>
          <a:xfrm>
            <a:off x="2509828" y="1827014"/>
            <a:ext cx="1381116" cy="14466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83" b="1" kern="0" spc="1" dirty="0">
                <a:solidFill>
                  <a:srgbClr val="A0AE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技术标签</a:t>
            </a:r>
            <a:endParaRPr lang="en-US" sz="683" dirty="0"/>
          </a:p>
        </p:txBody>
      </p:sp>
      <p:sp>
        <p:nvSpPr>
          <p:cNvPr id="19" name="Text 16"/>
          <p:cNvSpPr/>
          <p:nvPr/>
        </p:nvSpPr>
        <p:spPr>
          <a:xfrm>
            <a:off x="2509828" y="2000250"/>
            <a:ext cx="1381116" cy="16609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2D374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供应链深度融合</a:t>
            </a:r>
            <a:endParaRPr lang="en-US" sz="784" dirty="0"/>
          </a:p>
        </p:txBody>
      </p:sp>
      <p:sp>
        <p:nvSpPr>
          <p:cNvPr id="20" name="Text 17"/>
          <p:cNvSpPr/>
          <p:nvPr/>
        </p:nvSpPr>
        <p:spPr>
          <a:xfrm>
            <a:off x="2509828" y="2252067"/>
            <a:ext cx="1381116" cy="14466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83" b="1" kern="0" spc="1" dirty="0">
                <a:solidFill>
                  <a:srgbClr val="A0AE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核心算法</a:t>
            </a:r>
            <a:endParaRPr lang="en-US" sz="683" dirty="0"/>
          </a:p>
        </p:txBody>
      </p:sp>
      <p:sp>
        <p:nvSpPr>
          <p:cNvPr id="21" name="Text 18"/>
          <p:cNvSpPr/>
          <p:nvPr/>
        </p:nvSpPr>
        <p:spPr>
          <a:xfrm>
            <a:off x="2509828" y="2425303"/>
            <a:ext cx="1381116" cy="16609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2D374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供应链感知排序</a:t>
            </a:r>
            <a:endParaRPr lang="en-US" sz="784" dirty="0"/>
          </a:p>
        </p:txBody>
      </p:sp>
      <p:sp>
        <p:nvSpPr>
          <p:cNvPr id="22" name="Text 19"/>
          <p:cNvSpPr/>
          <p:nvPr/>
        </p:nvSpPr>
        <p:spPr>
          <a:xfrm>
            <a:off x="2509828" y="2677120"/>
            <a:ext cx="1381116" cy="14466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83" b="1" kern="0" spc="1" dirty="0">
                <a:solidFill>
                  <a:srgbClr val="A0AE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隐私保护</a:t>
            </a:r>
            <a:endParaRPr lang="en-US" sz="683" dirty="0"/>
          </a:p>
        </p:txBody>
      </p:sp>
      <p:sp>
        <p:nvSpPr>
          <p:cNvPr id="23" name="Text 20"/>
          <p:cNvSpPr/>
          <p:nvPr/>
        </p:nvSpPr>
        <p:spPr>
          <a:xfrm>
            <a:off x="2509828" y="2850356"/>
            <a:ext cx="1381116" cy="16609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2D374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量子密钥分发 (QKD)</a:t>
            </a:r>
            <a:endParaRPr lang="en-US" sz="784" dirty="0"/>
          </a:p>
        </p:txBody>
      </p:sp>
      <p:sp>
        <p:nvSpPr>
          <p:cNvPr id="24" name="Text 21"/>
          <p:cNvSpPr/>
          <p:nvPr/>
        </p:nvSpPr>
        <p:spPr>
          <a:xfrm>
            <a:off x="2509828" y="3102173"/>
            <a:ext cx="1381116" cy="14466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83" b="1" kern="0" spc="1" dirty="0">
                <a:solidFill>
                  <a:srgbClr val="A0AE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推荐目标</a:t>
            </a:r>
            <a:endParaRPr lang="en-US" sz="683" dirty="0"/>
          </a:p>
        </p:txBody>
      </p:sp>
      <p:sp>
        <p:nvSpPr>
          <p:cNvPr id="25" name="Text 22"/>
          <p:cNvSpPr/>
          <p:nvPr/>
        </p:nvSpPr>
        <p:spPr>
          <a:xfrm>
            <a:off x="2509828" y="3275409"/>
            <a:ext cx="1381116" cy="16609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2D374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履约确定性 + 合规安全</a:t>
            </a:r>
            <a:endParaRPr lang="en-US" sz="784" dirty="0"/>
          </a:p>
        </p:txBody>
      </p:sp>
      <p:sp>
        <p:nvSpPr>
          <p:cNvPr id="26" name="Text 23"/>
          <p:cNvSpPr/>
          <p:nvPr/>
        </p:nvSpPr>
        <p:spPr>
          <a:xfrm>
            <a:off x="2509828" y="3527227"/>
            <a:ext cx="1381116" cy="14466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83" b="1" kern="0" spc="1" dirty="0">
                <a:solidFill>
                  <a:srgbClr val="A0AE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冷启动策略</a:t>
            </a:r>
            <a:endParaRPr lang="en-US" sz="683" dirty="0"/>
          </a:p>
        </p:txBody>
      </p:sp>
      <p:sp>
        <p:nvSpPr>
          <p:cNvPr id="27" name="Text 24"/>
          <p:cNvSpPr/>
          <p:nvPr/>
        </p:nvSpPr>
        <p:spPr>
          <a:xfrm>
            <a:off x="2509828" y="3700463"/>
            <a:ext cx="1381116" cy="16609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2D374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供应链信号辅助</a:t>
            </a:r>
            <a:endParaRPr lang="en-US" sz="784" dirty="0"/>
          </a:p>
        </p:txBody>
      </p:sp>
      <p:sp>
        <p:nvSpPr>
          <p:cNvPr id="28" name="Shape 25"/>
          <p:cNvSpPr/>
          <p:nvPr/>
        </p:nvSpPr>
        <p:spPr>
          <a:xfrm>
            <a:off x="4190981" y="1182291"/>
            <a:ext cx="1638291" cy="281285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9" name="Text 26"/>
          <p:cNvSpPr/>
          <p:nvPr/>
        </p:nvSpPr>
        <p:spPr>
          <a:xfrm>
            <a:off x="4319569" y="1310878"/>
            <a:ext cx="1381116" cy="430411"/>
          </a:xfrm>
          <a:prstGeom prst="rect">
            <a:avLst/>
          </a:prstGeom>
          <a:noFill/>
          <a:ln/>
        </p:spPr>
        <p:txBody>
          <a:bodyPr wrap="square" lIns="0" tIns="0" rIns="0" bIns="102108" rtlCol="0" anchor="t">
            <a:spAutoFit/>
          </a:bodyPr>
          <a:lstStyle/>
          <a:p>
            <a:pPr marL="0" indent="0" algn="ctr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805AD5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拼多多</a:t>
            </a:r>
            <a:endParaRPr lang="en-US" sz="1602" dirty="0"/>
          </a:p>
        </p:txBody>
      </p:sp>
      <p:sp>
        <p:nvSpPr>
          <p:cNvPr id="30" name="Text 27"/>
          <p:cNvSpPr/>
          <p:nvPr/>
        </p:nvSpPr>
        <p:spPr>
          <a:xfrm>
            <a:off x="4319569" y="1827014"/>
            <a:ext cx="1381116" cy="14466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83" b="1" kern="0" spc="1" dirty="0">
                <a:solidFill>
                  <a:srgbClr val="A0AE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技术标签</a:t>
            </a:r>
            <a:endParaRPr lang="en-US" sz="683" dirty="0"/>
          </a:p>
        </p:txBody>
      </p:sp>
      <p:sp>
        <p:nvSpPr>
          <p:cNvPr id="31" name="Text 28"/>
          <p:cNvSpPr/>
          <p:nvPr/>
        </p:nvSpPr>
        <p:spPr>
          <a:xfrm>
            <a:off x="4319569" y="2000250"/>
            <a:ext cx="1381116" cy="16609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2D374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极致性价比驱动</a:t>
            </a:r>
            <a:endParaRPr lang="en-US" sz="784" dirty="0"/>
          </a:p>
        </p:txBody>
      </p:sp>
      <p:sp>
        <p:nvSpPr>
          <p:cNvPr id="32" name="Text 29"/>
          <p:cNvSpPr/>
          <p:nvPr/>
        </p:nvSpPr>
        <p:spPr>
          <a:xfrm>
            <a:off x="4319569" y="2252067"/>
            <a:ext cx="1381116" cy="14466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83" b="1" kern="0" spc="1" dirty="0">
                <a:solidFill>
                  <a:srgbClr val="A0AE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核心算法</a:t>
            </a:r>
            <a:endParaRPr lang="en-US" sz="683" dirty="0"/>
          </a:p>
        </p:txBody>
      </p:sp>
      <p:sp>
        <p:nvSpPr>
          <p:cNvPr id="33" name="Text 30"/>
          <p:cNvSpPr/>
          <p:nvPr/>
        </p:nvSpPr>
        <p:spPr>
          <a:xfrm>
            <a:off x="4319569" y="2425303"/>
            <a:ext cx="1381116" cy="16609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2D374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高效分层联邦学习</a:t>
            </a:r>
            <a:endParaRPr lang="en-US" sz="784" dirty="0"/>
          </a:p>
        </p:txBody>
      </p:sp>
      <p:sp>
        <p:nvSpPr>
          <p:cNvPr id="34" name="Text 31"/>
          <p:cNvSpPr/>
          <p:nvPr/>
        </p:nvSpPr>
        <p:spPr>
          <a:xfrm>
            <a:off x="4319569" y="2677120"/>
            <a:ext cx="1381116" cy="14466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83" b="1" kern="0" spc="1" dirty="0">
                <a:solidFill>
                  <a:srgbClr val="A0AE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隐私保护</a:t>
            </a:r>
            <a:endParaRPr lang="en-US" sz="683" dirty="0"/>
          </a:p>
        </p:txBody>
      </p:sp>
      <p:sp>
        <p:nvSpPr>
          <p:cNvPr id="35" name="Text 32"/>
          <p:cNvSpPr/>
          <p:nvPr/>
        </p:nvSpPr>
        <p:spPr>
          <a:xfrm>
            <a:off x="4319569" y="2850356"/>
            <a:ext cx="1381116" cy="16609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2D374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分层联邦学习</a:t>
            </a:r>
            <a:endParaRPr lang="en-US" sz="784" dirty="0"/>
          </a:p>
        </p:txBody>
      </p:sp>
      <p:sp>
        <p:nvSpPr>
          <p:cNvPr id="36" name="Text 33"/>
          <p:cNvSpPr/>
          <p:nvPr/>
        </p:nvSpPr>
        <p:spPr>
          <a:xfrm>
            <a:off x="4319569" y="3102173"/>
            <a:ext cx="1381116" cy="14466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83" b="1" kern="0" spc="1" dirty="0">
                <a:solidFill>
                  <a:srgbClr val="A0AE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推荐目标</a:t>
            </a:r>
            <a:endParaRPr lang="en-US" sz="683" dirty="0"/>
          </a:p>
        </p:txBody>
      </p:sp>
      <p:sp>
        <p:nvSpPr>
          <p:cNvPr id="37" name="Text 34"/>
          <p:cNvSpPr/>
          <p:nvPr/>
        </p:nvSpPr>
        <p:spPr>
          <a:xfrm>
            <a:off x="4319569" y="3275409"/>
            <a:ext cx="1381116" cy="16609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2D374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爆款营销 + 极速转化</a:t>
            </a:r>
            <a:endParaRPr lang="en-US" sz="784" dirty="0"/>
          </a:p>
        </p:txBody>
      </p:sp>
      <p:sp>
        <p:nvSpPr>
          <p:cNvPr id="38" name="Text 35"/>
          <p:cNvSpPr/>
          <p:nvPr/>
        </p:nvSpPr>
        <p:spPr>
          <a:xfrm>
            <a:off x="4319569" y="3527227"/>
            <a:ext cx="1381116" cy="14466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83" b="1" kern="0" spc="1" dirty="0">
                <a:solidFill>
                  <a:srgbClr val="A0AE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冷启动策略</a:t>
            </a:r>
            <a:endParaRPr lang="en-US" sz="683" dirty="0"/>
          </a:p>
        </p:txBody>
      </p:sp>
      <p:sp>
        <p:nvSpPr>
          <p:cNvPr id="39" name="Text 36"/>
          <p:cNvSpPr/>
          <p:nvPr/>
        </p:nvSpPr>
        <p:spPr>
          <a:xfrm>
            <a:off x="4319569" y="3700463"/>
            <a:ext cx="1381116" cy="16609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2D374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社交裂变信号</a:t>
            </a:r>
            <a:endParaRPr lang="en-US" sz="784" dirty="0"/>
          </a:p>
        </p:txBody>
      </p:sp>
      <p:sp>
        <p:nvSpPr>
          <p:cNvPr id="40" name="Shape 37"/>
          <p:cNvSpPr/>
          <p:nvPr/>
        </p:nvSpPr>
        <p:spPr>
          <a:xfrm>
            <a:off x="6000722" y="1182291"/>
            <a:ext cx="2571750" cy="231658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1" name="Shape 38"/>
          <p:cNvSpPr/>
          <p:nvPr/>
        </p:nvSpPr>
        <p:spPr>
          <a:xfrm>
            <a:off x="6129310" y="1310878"/>
            <a:ext cx="2314575" cy="2059409"/>
          </a:xfrm>
          <a:prstGeom prst="rect">
            <a:avLst/>
          </a:prstGeom>
          <a:solidFill>
            <a:srgbClr val="805AD5">
              <a:alpha val="5000"/>
            </a:srgbClr>
          </a:solidFill>
          <a:ln/>
        </p:spPr>
      </p:sp>
      <p:sp>
        <p:nvSpPr>
          <p:cNvPr id="42" name="Shape 39"/>
          <p:cNvSpPr/>
          <p:nvPr/>
        </p:nvSpPr>
        <p:spPr>
          <a:xfrm>
            <a:off x="6129310" y="1310878"/>
            <a:ext cx="42863" cy="2059409"/>
          </a:xfrm>
          <a:prstGeom prst="rect">
            <a:avLst/>
          </a:prstGeom>
          <a:solidFill>
            <a:srgbClr val="805AD5"/>
          </a:solidFill>
          <a:ln/>
        </p:spPr>
      </p:sp>
      <p:sp>
        <p:nvSpPr>
          <p:cNvPr id="43" name="Text 40"/>
          <p:cNvSpPr/>
          <p:nvPr/>
        </p:nvSpPr>
        <p:spPr>
          <a:xfrm>
            <a:off x="6300760" y="1439466"/>
            <a:ext cx="1971675" cy="4964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805AD5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核心洞察：商业模式决定技术选型</a:t>
            </a:r>
            <a:endParaRPr lang="en-US" sz="1193" dirty="0"/>
          </a:p>
        </p:txBody>
      </p:sp>
      <p:sp>
        <p:nvSpPr>
          <p:cNvPr id="44" name="Text 41"/>
          <p:cNvSpPr/>
          <p:nvPr/>
        </p:nvSpPr>
        <p:spPr>
          <a:xfrm>
            <a:off x="6300760" y="2007394"/>
            <a:ext cx="1971675" cy="12343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885" b="1" dirty="0">
                <a:solidFill>
                  <a:srgbClr val="4A556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淘宝</a:t>
            </a:r>
            <a:r>
              <a:rPr lang="en-US" sz="942" dirty="0">
                <a:solidFill>
                  <a:srgbClr val="4A556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的开放平台生态要求算法具备极强的泛化能力；</a:t>
            </a:r>
            <a:r>
              <a:rPr lang="en-US" sz="885" b="1" dirty="0">
                <a:solidFill>
                  <a:srgbClr val="4A556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京东</a:t>
            </a:r>
            <a:r>
              <a:rPr lang="en-US" sz="942" dirty="0">
                <a:solidFill>
                  <a:srgbClr val="4A556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的自营模式使其能将库存、物流数据深度融入排序信号；</a:t>
            </a:r>
            <a:r>
              <a:rPr lang="en-US" sz="885" b="1" dirty="0">
                <a:solidFill>
                  <a:srgbClr val="4A556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拼多多</a:t>
            </a:r>
            <a:r>
              <a:rPr lang="en-US" sz="942" dirty="0">
                <a:solidFill>
                  <a:srgbClr val="4A556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的社交拼团模式天然产生群体行为信号，联邦学习在保护隐私的同时实现高效协同。</a:t>
            </a:r>
            <a:endParaRPr lang="en-US" sz="942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618353"/>
            <a:ext cx="3154903" cy="28212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2226" b="1" kern="0" spc="-1" dirty="0" err="1">
                <a:solidFill>
                  <a:srgbClr val="2D3748"/>
                </a:solidFill>
                <a:latin typeface="Playfair Display" pitchFamily="34" charset="0"/>
              </a:rPr>
              <a:t>技术复现路径与战略启示</a:t>
            </a:r>
            <a:endParaRPr lang="en-US" sz="2226" b="1" kern="0" spc="-1" dirty="0">
              <a:solidFill>
                <a:srgbClr val="2D3748"/>
              </a:solidFill>
              <a:latin typeface="Playfair Display" pitchFamily="34" charset="0"/>
            </a:endParaRPr>
          </a:p>
        </p:txBody>
      </p:sp>
      <p:sp>
        <p:nvSpPr>
          <p:cNvPr id="4" name="Text 1"/>
          <p:cNvSpPr/>
          <p:nvPr/>
        </p:nvSpPr>
        <p:spPr>
          <a:xfrm>
            <a:off x="571500" y="1260837"/>
            <a:ext cx="1231876" cy="1395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1600" b="1" kern="0" spc="1" dirty="0">
                <a:solidFill>
                  <a:srgbClr val="8B5C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技术复现路径</a:t>
            </a: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571500" y="1764925"/>
            <a:ext cx="228600" cy="22860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6" name="Text 3"/>
          <p:cNvSpPr/>
          <p:nvPr/>
        </p:nvSpPr>
        <p:spPr>
          <a:xfrm>
            <a:off x="571500" y="1764925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784" dirty="0"/>
          </a:p>
        </p:txBody>
      </p:sp>
      <p:sp>
        <p:nvSpPr>
          <p:cNvPr id="7" name="Text 4"/>
          <p:cNvSpPr/>
          <p:nvPr/>
        </p:nvSpPr>
        <p:spPr>
          <a:xfrm>
            <a:off x="907256" y="1847364"/>
            <a:ext cx="1538883" cy="18171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20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基础建设阶段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907256" y="2142043"/>
            <a:ext cx="3264694" cy="3214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78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从双塔向量召回开始，搭建高性能检索系统，解决“从无到有”的规模化筛选问题。</a:t>
            </a:r>
            <a:endParaRPr lang="en-US" sz="780" dirty="0"/>
          </a:p>
        </p:txBody>
      </p:sp>
      <p:sp>
        <p:nvSpPr>
          <p:cNvPr id="9" name="Shape 6"/>
          <p:cNvSpPr/>
          <p:nvPr/>
        </p:nvSpPr>
        <p:spPr>
          <a:xfrm>
            <a:off x="571500" y="2873546"/>
            <a:ext cx="228600" cy="22860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0" name="Text 7"/>
          <p:cNvSpPr/>
          <p:nvPr/>
        </p:nvSpPr>
        <p:spPr>
          <a:xfrm>
            <a:off x="571500" y="2873546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784" dirty="0"/>
          </a:p>
        </p:txBody>
      </p:sp>
      <p:sp>
        <p:nvSpPr>
          <p:cNvPr id="11" name="Text 8"/>
          <p:cNvSpPr/>
          <p:nvPr/>
        </p:nvSpPr>
        <p:spPr>
          <a:xfrm>
            <a:off x="907255" y="2965047"/>
            <a:ext cx="1538883" cy="18171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20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核心模型迭代</a:t>
            </a:r>
            <a:endParaRPr lang="en-US" sz="2000" dirty="0"/>
          </a:p>
        </p:txBody>
      </p:sp>
      <p:sp>
        <p:nvSpPr>
          <p:cNvPr id="12" name="Text 9"/>
          <p:cNvSpPr/>
          <p:nvPr/>
        </p:nvSpPr>
        <p:spPr>
          <a:xfrm>
            <a:off x="907254" y="3294946"/>
            <a:ext cx="3264694" cy="3214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78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依次引入 WDL、DIN、ESMM 等成熟排序模型，通过捕捉用户兴趣与解决样本偏差提升精度。</a:t>
            </a:r>
            <a:endParaRPr lang="en-US" sz="780" dirty="0"/>
          </a:p>
        </p:txBody>
      </p:sp>
      <p:sp>
        <p:nvSpPr>
          <p:cNvPr id="13" name="Shape 10"/>
          <p:cNvSpPr/>
          <p:nvPr/>
        </p:nvSpPr>
        <p:spPr>
          <a:xfrm>
            <a:off x="571500" y="3982166"/>
            <a:ext cx="228600" cy="22860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4" name="Text 11"/>
          <p:cNvSpPr/>
          <p:nvPr/>
        </p:nvSpPr>
        <p:spPr>
          <a:xfrm>
            <a:off x="571500" y="3982166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784" dirty="0"/>
          </a:p>
        </p:txBody>
      </p:sp>
      <p:sp>
        <p:nvSpPr>
          <p:cNvPr id="15" name="Text 12"/>
          <p:cNvSpPr/>
          <p:nvPr/>
        </p:nvSpPr>
        <p:spPr>
          <a:xfrm>
            <a:off x="907254" y="4080265"/>
            <a:ext cx="1538883" cy="18171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20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前沿探索阶段</a:t>
            </a:r>
            <a:endParaRPr lang="en-US" sz="2000" dirty="0"/>
          </a:p>
        </p:txBody>
      </p:sp>
      <p:sp>
        <p:nvSpPr>
          <p:cNvPr id="16" name="Text 13"/>
          <p:cNvSpPr/>
          <p:nvPr/>
        </p:nvSpPr>
        <p:spPr>
          <a:xfrm>
            <a:off x="907256" y="4447849"/>
            <a:ext cx="3264694" cy="3214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78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探索多模态特征融合与 LLM 生成式重排技术，实现从“预测”到“生成”的范式转移。</a:t>
            </a:r>
            <a:endParaRPr lang="en-US" sz="780" dirty="0"/>
          </a:p>
        </p:txBody>
      </p:sp>
      <p:sp>
        <p:nvSpPr>
          <p:cNvPr id="17" name="Text 14"/>
          <p:cNvSpPr/>
          <p:nvPr/>
        </p:nvSpPr>
        <p:spPr>
          <a:xfrm>
            <a:off x="4929378" y="1188506"/>
            <a:ext cx="1231876" cy="1354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1600" b="1" kern="0" spc="1" dirty="0" err="1">
                <a:solidFill>
                  <a:srgbClr val="8B5CF6"/>
                </a:solidFill>
                <a:latin typeface="Inter" pitchFamily="34" charset="0"/>
                <a:ea typeface="Inter" pitchFamily="34" charset="-122"/>
              </a:rPr>
              <a:t>核心战略启示</a:t>
            </a:r>
            <a:endParaRPr lang="en-US" sz="1600" b="1" kern="0" spc="1" dirty="0">
              <a:solidFill>
                <a:srgbClr val="8B5CF6"/>
              </a:solidFill>
              <a:latin typeface="Inter" pitchFamily="34" charset="0"/>
              <a:ea typeface="Inter" pitchFamily="34" charset="-122"/>
            </a:endParaRPr>
          </a:p>
        </p:txBody>
      </p:sp>
      <p:sp>
        <p:nvSpPr>
          <p:cNvPr id="18" name="Text 15"/>
          <p:cNvSpPr/>
          <p:nvPr/>
        </p:nvSpPr>
        <p:spPr>
          <a:xfrm>
            <a:off x="4929378" y="1941126"/>
            <a:ext cx="3600450" cy="14401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ts val="2800"/>
              </a:lnSpc>
              <a:buNone/>
            </a:pPr>
            <a:r>
              <a:rPr lang="en-US" sz="1924" dirty="0">
                <a:solidFill>
                  <a:srgbClr val="0F172A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卓越推荐系统 = 
</a:t>
            </a:r>
            <a:r>
              <a:rPr lang="en-US" sz="1808" b="1" dirty="0">
                <a:solidFill>
                  <a:srgbClr val="8B5CF6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算法创新</a:t>
            </a:r>
            <a:r>
              <a:rPr lang="en-US" sz="1924" dirty="0">
                <a:solidFill>
                  <a:srgbClr val="0F172A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 × 
</a:t>
            </a:r>
            <a:r>
              <a:rPr lang="en-US" sz="1808" b="1" dirty="0">
                <a:solidFill>
                  <a:srgbClr val="8B5CF6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极致工程</a:t>
            </a:r>
            <a:r>
              <a:rPr lang="en-US" sz="1924" dirty="0">
                <a:solidFill>
                  <a:srgbClr val="0F172A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 × 
</a:t>
            </a:r>
            <a:r>
              <a:rPr lang="en-US" sz="1808" b="1" dirty="0">
                <a:solidFill>
                  <a:srgbClr val="8B5CF6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业务理解</a:t>
            </a:r>
            <a:endParaRPr lang="en-US" sz="1924" dirty="0"/>
          </a:p>
        </p:txBody>
      </p:sp>
      <p:sp>
        <p:nvSpPr>
          <p:cNvPr id="19" name="Text 16"/>
          <p:cNvSpPr/>
          <p:nvPr/>
        </p:nvSpPr>
        <p:spPr>
          <a:xfrm>
            <a:off x="4972050" y="4196535"/>
            <a:ext cx="3600450" cy="6171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942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技术不应孤立存在，只有将前沿算法与稳健的工程底座、深刻的业务洞察相结合，才能在电商激烈的竞争中创造真正的商业价值。</a:t>
            </a:r>
            <a:endParaRPr lang="en-US" sz="942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269</TotalTime>
  <Words>701</Words>
  <Application>Microsoft Office PowerPoint</Application>
  <PresentationFormat>全屏显示(16:9)</PresentationFormat>
  <Paragraphs>203</Paragraphs>
  <Slides>10</Slides>
  <Notes>10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17" baseType="lpstr">
      <vt:lpstr>Inter</vt:lpstr>
      <vt:lpstr>华文行楷</vt:lpstr>
      <vt:lpstr>Arial</vt:lpstr>
      <vt:lpstr>Ink Free</vt:lpstr>
      <vt:lpstr>Open Sans</vt:lpstr>
      <vt:lpstr>Playfair Display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978887223@qq.com</cp:lastModifiedBy>
  <cp:revision>3</cp:revision>
  <dcterms:created xsi:type="dcterms:W3CDTF">2026-04-01T06:15:46Z</dcterms:created>
  <dcterms:modified xsi:type="dcterms:W3CDTF">2026-04-03T00:04:49Z</dcterms:modified>
</cp:coreProperties>
</file>