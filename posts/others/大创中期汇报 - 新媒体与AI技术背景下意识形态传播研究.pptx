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6256000" cy="9144000"/>
  <p:notesSz cx="9144000" cy="16256000"/>
  <p:embeddedFontLst>
    <p:embeddedFont>
      <p:font typeface="QuattrocentoSans" panose="020B0502050000020003" pitchFamily="34" charset="0"/>
      <p:regular r:id="rId22"/>
    </p:embeddedFont>
    <p:embeddedFont>
      <p:font typeface="QuattrocentoSans" panose="020B0502050000020003" pitchFamily="34" charset="-122"/>
      <p:regular r:id="rId23"/>
    </p:embeddedFont>
    <p:embeddedFont>
      <p:font typeface="QuattrocentoSans" panose="020B0502050000020003" pitchFamily="34" charset="-120"/>
      <p:regular r:id="rId24"/>
    </p:embeddedFont>
    <p:embeddedFont>
      <p:font typeface="Liter" panose="02000503030000020004" pitchFamily="34" charset="0"/>
      <p:regular r:id="rId25"/>
    </p:embeddedFont>
    <p:embeddedFont>
      <p:font typeface="Liter" panose="02000503030000020004" pitchFamily="34" charset="-122"/>
      <p:regular r:id="rId26"/>
    </p:embeddedFont>
    <p:embeddedFont>
      <p:font typeface="Liter" panose="02000503030000020004" pitchFamily="34" charset="-120"/>
      <p:regular r:id="rId27"/>
    </p:embeddedFont>
    <p:embeddedFont>
      <p:font typeface="Quattrocento Sans" panose="020B0502050000020003" pitchFamily="34" charset="0"/>
      <p:regular r:id="rId28"/>
    </p:embeddedFont>
    <p:embeddedFont>
      <p:font typeface="Quattrocento Sans" panose="020B0502050000020003" pitchFamily="34" charset="-122"/>
      <p:regular r:id="rId29"/>
    </p:embeddedFont>
    <p:embeddedFont>
      <p:font typeface="Quattrocento Sans" panose="020B0502050000020003" pitchFamily="34" charset="-120"/>
      <p:regular r:id="rId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font" Target="fonts/font9.fntdata"/><Relationship Id="rId3" Type="http://schemas.openxmlformats.org/officeDocument/2006/relationships/slide" Target="slides/slide1.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okc/vddp6qs6dys5m/mnt/agents/output/dcq_midterm_report/images/9_Abstract_dark_background_with_plexus.png"/>
          <p:cNvPicPr>
            <a:picLocks noChangeAspect="1"/>
          </p:cNvPicPr>
          <p:nvPr/>
        </p:nvPicPr>
        <p:blipFill>
          <a:blip r:embed="rId1"/>
          <a:srcRect l="3111" r="3111"/>
          <a:stretch>
            <a:fillRect/>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flip="none" rotWithShape="1">
            <a:gsLst>
              <a:gs pos="0">
                <a:srgbClr val="2D3436">
                  <a:alpha val="0"/>
                </a:srgbClr>
              </a:gs>
              <a:gs pos="40000">
                <a:srgbClr val="2D3436">
                  <a:alpha val="67000"/>
                </a:srgbClr>
              </a:gs>
              <a:gs pos="100000">
                <a:srgbClr val="2D3436">
                  <a:alpha val="93000"/>
                </a:srgbClr>
              </a:gs>
            </a:gsLst>
            <a:lin ang="5400000" scaled="1"/>
          </a:gradFill>
          <a:ln w="12700">
            <a:solidFill>
              <a:srgbClr val="333333"/>
            </a:solidFill>
            <a:prstDash val="solid"/>
          </a:ln>
        </p:spPr>
      </p:sp>
      <p:sp>
        <p:nvSpPr>
          <p:cNvPr id="4" name="Text 1"/>
          <p:cNvSpPr/>
          <p:nvPr/>
        </p:nvSpPr>
        <p:spPr>
          <a:xfrm>
            <a:off x="4318000" y="2667000"/>
            <a:ext cx="7620000" cy="381000"/>
          </a:xfrm>
          <a:prstGeom prst="rect">
            <a:avLst/>
          </a:prstGeom>
          <a:noFill/>
        </p:spPr>
        <p:txBody>
          <a:bodyPr wrap="none" lIns="0" tIns="0" rIns="0" bIns="0" rtlCol="0" anchor="ctr"/>
          <a:lstStyle/>
          <a:p>
            <a:pPr algn="ctr">
              <a:lnSpc>
                <a:spcPct val="140000"/>
              </a:lnSpc>
            </a:pPr>
            <a:r>
              <a:rPr lang="en-US" sz="1400" kern="0" spc="6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大学生创新创业训练计划 · 中期汇报</a:t>
            </a:r>
            <a:endParaRPr lang="en-US" sz="1400" dirty="0"/>
          </a:p>
        </p:txBody>
      </p:sp>
      <p:sp>
        <p:nvSpPr>
          <p:cNvPr id="5" name="Shape 2"/>
          <p:cNvSpPr/>
          <p:nvPr/>
        </p:nvSpPr>
        <p:spPr>
          <a:xfrm>
            <a:off x="6858000" y="3238500"/>
            <a:ext cx="2540000" cy="12700"/>
          </a:xfrm>
          <a:prstGeom prst="rect">
            <a:avLst/>
          </a:prstGeom>
          <a:solidFill>
            <a:srgbClr val="B33939"/>
          </a:solidFill>
        </p:spPr>
      </p:sp>
      <p:sp>
        <p:nvSpPr>
          <p:cNvPr id="6" name="Text 3"/>
          <p:cNvSpPr/>
          <p:nvPr/>
        </p:nvSpPr>
        <p:spPr>
          <a:xfrm>
            <a:off x="1778000" y="3365500"/>
            <a:ext cx="12700000" cy="2032000"/>
          </a:xfrm>
          <a:prstGeom prst="rect">
            <a:avLst/>
          </a:prstGeom>
          <a:noFill/>
        </p:spPr>
        <p:txBody>
          <a:bodyPr wrap="square" lIns="0" tIns="0" rIns="0" bIns="0" rtlCol="0" anchor="ctr"/>
          <a:lstStyle/>
          <a:p>
            <a:pPr algn="ctr">
              <a:lnSpc>
                <a:spcPct val="140000"/>
              </a:lnSpc>
            </a:pPr>
            <a:r>
              <a:rPr lang="en-US" sz="4400" kern="0" spc="400" dirty="0">
                <a:solidFill>
                  <a:srgbClr val="F5F6F7"/>
                </a:solidFill>
                <a:latin typeface="Liter" panose="02000503030000020004" pitchFamily="34" charset="0"/>
                <a:ea typeface="Liter" panose="02000503030000020004" pitchFamily="34" charset="-122"/>
                <a:cs typeface="Liter" panose="02000503030000020004" pitchFamily="34" charset="-120"/>
              </a:rPr>
              <a:t>新媒体与AI技术背景下</a:t>
            </a:r>
            <a:endParaRPr lang="en-US" sz="4000" dirty="0"/>
          </a:p>
          <a:p>
            <a:pPr algn="ctr">
              <a:lnSpc>
                <a:spcPct val="140000"/>
              </a:lnSpc>
            </a:pPr>
            <a:r>
              <a:rPr lang="en-US" sz="4400" kern="0" spc="400" dirty="0">
                <a:solidFill>
                  <a:srgbClr val="F5F6F7"/>
                </a:solidFill>
                <a:latin typeface="Liter" panose="02000503030000020004" pitchFamily="34" charset="0"/>
                <a:ea typeface="Liter" panose="02000503030000020004" pitchFamily="34" charset="-122"/>
                <a:cs typeface="Liter" panose="02000503030000020004" pitchFamily="34" charset="-120"/>
              </a:rPr>
              <a:t>意识形态传播研究</a:t>
            </a:r>
            <a:endParaRPr lang="en-US" sz="4000" dirty="0"/>
          </a:p>
        </p:txBody>
      </p:sp>
      <p:sp>
        <p:nvSpPr>
          <p:cNvPr id="7" name="Shape 4"/>
          <p:cNvSpPr/>
          <p:nvPr/>
        </p:nvSpPr>
        <p:spPr>
          <a:xfrm>
            <a:off x="6858000" y="5588000"/>
            <a:ext cx="2540000" cy="12700"/>
          </a:xfrm>
          <a:prstGeom prst="rect">
            <a:avLst/>
          </a:prstGeom>
          <a:solidFill>
            <a:srgbClr val="B33939">
              <a:alpha val="50196"/>
            </a:srgbClr>
          </a:solidFill>
        </p:spPr>
      </p:sp>
      <p:sp>
        <p:nvSpPr>
          <p:cNvPr id="8" name="Text 5"/>
          <p:cNvSpPr/>
          <p:nvPr/>
        </p:nvSpPr>
        <p:spPr>
          <a:xfrm>
            <a:off x="4318000" y="5778500"/>
            <a:ext cx="7620000" cy="457200"/>
          </a:xfrm>
          <a:prstGeom prst="rect">
            <a:avLst/>
          </a:prstGeom>
          <a:noFill/>
        </p:spPr>
        <p:txBody>
          <a:bodyPr wrap="none" lIns="0" tIns="0" rIns="0" bIns="0" rtlCol="0" anchor="ctr"/>
          <a:lstStyle/>
          <a:p>
            <a:pPr algn="ctr">
              <a:lnSpc>
                <a:spcPct val="150000"/>
              </a:lnSpc>
            </a:pPr>
            <a:r>
              <a:rPr lang="en-US" sz="2200" dirty="0">
                <a:solidFill>
                  <a:srgbClr val="B0BEC5"/>
                </a:solidFill>
                <a:latin typeface="QuattrocentoSans" panose="020B0502050000020003" pitchFamily="34" charset="0"/>
                <a:ea typeface="QuattrocentoSans" panose="020B0502050000020003" pitchFamily="34" charset="-122"/>
                <a:cs typeface="QuattrocentoSans" panose="020B0502050000020003" pitchFamily="34" charset="-120"/>
              </a:rPr>
              <a:t>算法时代的挑战与应对策略</a:t>
            </a:r>
            <a:endParaRPr lang="en-US" sz="2200" dirty="0"/>
          </a:p>
        </p:txBody>
      </p:sp>
      <p:sp>
        <p:nvSpPr>
          <p:cNvPr id="9" name="Text 6"/>
          <p:cNvSpPr/>
          <p:nvPr/>
        </p:nvSpPr>
        <p:spPr>
          <a:xfrm>
            <a:off x="5588000" y="7874000"/>
            <a:ext cx="5080000" cy="304800"/>
          </a:xfrm>
          <a:prstGeom prst="rect">
            <a:avLst/>
          </a:prstGeom>
          <a:noFill/>
        </p:spPr>
        <p:txBody>
          <a:bodyPr wrap="none" lIns="0" tIns="0" rIns="0" bIns="0" rtlCol="0" anchor="ctr"/>
          <a:lstStyle/>
          <a:p>
            <a:pPr algn="ctr">
              <a:lnSpc>
                <a:spcPct val="140000"/>
              </a:lnSpc>
            </a:pPr>
            <a:r>
              <a:rPr lang="en-US" sz="1400" dirty="0">
                <a:solidFill>
                  <a:srgbClr val="636E72"/>
                </a:solidFill>
                <a:latin typeface="QuattrocentoSans" panose="020B0502050000020003" pitchFamily="34" charset="0"/>
                <a:ea typeface="QuattrocentoSans" panose="020B0502050000020003" pitchFamily="34" charset="-122"/>
                <a:cs typeface="QuattrocentoSans" panose="020B0502050000020003" pitchFamily="34" charset="-120"/>
              </a:rPr>
              <a:t>2025年5月</a:t>
            </a:r>
            <a:endParaRPr lang="en-US" sz="1400" dirty="0"/>
          </a:p>
        </p:txBody>
      </p:sp>
      <p:sp>
        <p:nvSpPr>
          <p:cNvPr id="11" name="Text 5"/>
          <p:cNvSpPr/>
          <p:nvPr/>
        </p:nvSpPr>
        <p:spPr>
          <a:xfrm>
            <a:off x="4445000" y="6667500"/>
            <a:ext cx="7620000" cy="457200"/>
          </a:xfrm>
          <a:prstGeom prst="rect">
            <a:avLst/>
          </a:prstGeom>
          <a:noFill/>
        </p:spPr>
        <p:txBody>
          <a:bodyPr wrap="none" lIns="0" tIns="0" rIns="0" bIns="0" rtlCol="0" anchor="ctr"/>
          <a:lstStyle/>
          <a:p>
            <a:pPr algn="ctr">
              <a:lnSpc>
                <a:spcPct val="150000"/>
              </a:lnSpc>
            </a:pPr>
            <a:r>
              <a:rPr lang="en-US" sz="2200" dirty="0">
                <a:solidFill>
                  <a:srgbClr val="B0BEC5"/>
                </a:solidFill>
                <a:latin typeface="QuattrocentoSans" panose="020B0502050000020003" pitchFamily="34" charset="0"/>
                <a:ea typeface="QuattrocentoSans" panose="020B0502050000020003" pitchFamily="34" charset="-122"/>
                <a:cs typeface="QuattrocentoSans" panose="020B0502050000020003" pitchFamily="34" charset="-120"/>
              </a:rPr>
              <a:t>汇报人： 姚凯方 </a:t>
            </a:r>
            <a:r>
              <a:rPr lang="en-US" sz="2200" dirty="0">
                <a:solidFill>
                  <a:srgbClr val="B0BEC5"/>
                </a:solidFill>
                <a:latin typeface="QuattrocentoSans" panose="020B0502050000020003" pitchFamily="34" charset="0"/>
                <a:ea typeface="QuattrocentoSans" panose="020B0502050000020003" pitchFamily="34" charset="-122"/>
                <a:cs typeface="QuattrocentoSans" panose="020B0502050000020003" pitchFamily="34" charset="-120"/>
                <a:sym typeface="+mn-ea"/>
              </a:rPr>
              <a:t>杜欣尧</a:t>
            </a:r>
            <a:endParaRPr lang="en-US" sz="2200" dirty="0">
              <a:solidFill>
                <a:srgbClr val="B0BEC5"/>
              </a:solidFill>
              <a:latin typeface="QuattrocentoSans" panose="020B0502050000020003" pitchFamily="34" charset="0"/>
              <a:ea typeface="QuattrocentoSans" panose="020B0502050000020003" pitchFamily="34" charset="-122"/>
              <a:cs typeface="QuattrocentoSans" panose="020B0502050000020003" pitchFamily="34" charset="-12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7"/>
        </a:solidFill>
        <a:effectLst/>
      </p:bgPr>
    </p:bg>
    <p:spTree>
      <p:nvGrpSpPr>
        <p:cNvPr id="1" name=""/>
        <p:cNvGrpSpPr/>
        <p:nvPr/>
      </p:nvGrpSpPr>
      <p:grpSpPr>
        <a:xfrm>
          <a:off x="0" y="0"/>
          <a:ext cx="0" cy="0"/>
          <a:chOff x="0" y="0"/>
          <a:chExt cx="0" cy="0"/>
        </a:xfrm>
      </p:grpSpPr>
      <p:sp>
        <p:nvSpPr>
          <p:cNvPr id="2" name="Text 0"/>
          <p:cNvSpPr/>
          <p:nvPr/>
        </p:nvSpPr>
        <p:spPr>
          <a:xfrm>
            <a:off x="762000" y="698500"/>
            <a:ext cx="3810000" cy="279400"/>
          </a:xfrm>
          <a:prstGeom prst="rect">
            <a:avLst/>
          </a:prstGeom>
          <a:noFill/>
        </p:spPr>
        <p:txBody>
          <a:bodyPr wrap="none" lIns="0" tIns="0" rIns="0" bIns="0" rtlCol="0" anchor="ctr"/>
          <a:lstStyle/>
          <a:p>
            <a:pPr>
              <a:lnSpc>
                <a:spcPct val="100000"/>
              </a:lnSpc>
            </a:pPr>
            <a:r>
              <a:rPr lang="en-US" sz="1300" kern="0" spc="400" dirty="0">
                <a:solidFill>
                  <a:srgbClr val="636E72"/>
                </a:solidFill>
                <a:latin typeface="Liter" panose="02000503030000020004" pitchFamily="34" charset="0"/>
                <a:ea typeface="Liter" panose="02000503030000020004" pitchFamily="34" charset="-122"/>
                <a:cs typeface="Liter" panose="02000503030000020004" pitchFamily="34" charset="-120"/>
              </a:rPr>
              <a:t>CONTENTS</a:t>
            </a:r>
            <a:endParaRPr lang="en-US" sz="1600" dirty="0"/>
          </a:p>
        </p:txBody>
      </p:sp>
      <p:sp>
        <p:nvSpPr>
          <p:cNvPr id="3" name="Text 1"/>
          <p:cNvSpPr/>
          <p:nvPr/>
        </p:nvSpPr>
        <p:spPr>
          <a:xfrm>
            <a:off x="762000" y="1041400"/>
            <a:ext cx="5080000" cy="635000"/>
          </a:xfrm>
          <a:prstGeom prst="rect">
            <a:avLst/>
          </a:prstGeom>
          <a:noFill/>
        </p:spPr>
        <p:txBody>
          <a:bodyPr wrap="none" lIns="0" tIns="0" rIns="0" bIns="0" rtlCol="0" anchor="ctr"/>
          <a:lstStyle/>
          <a:p>
            <a:pPr>
              <a:lnSpc>
                <a:spcPct val="100000"/>
              </a:lnSpc>
            </a:pPr>
            <a:r>
              <a:rPr lang="en-US" sz="3600" dirty="0">
                <a:solidFill>
                  <a:srgbClr val="2D3436"/>
                </a:solidFill>
                <a:latin typeface="Liter" panose="02000503030000020004" pitchFamily="34" charset="0"/>
                <a:ea typeface="Liter" panose="02000503030000020004" pitchFamily="34" charset="-122"/>
                <a:cs typeface="Liter" panose="02000503030000020004" pitchFamily="34" charset="-120"/>
              </a:rPr>
              <a:t>汇报提纲</a:t>
            </a:r>
            <a:endParaRPr lang="en-US" sz="2800" dirty="0"/>
          </a:p>
        </p:txBody>
      </p:sp>
      <p:sp>
        <p:nvSpPr>
          <p:cNvPr id="4" name="Shape 2"/>
          <p:cNvSpPr/>
          <p:nvPr/>
        </p:nvSpPr>
        <p:spPr>
          <a:xfrm>
            <a:off x="762000" y="1803400"/>
            <a:ext cx="762000" cy="38100"/>
          </a:xfrm>
          <a:prstGeom prst="rect">
            <a:avLst/>
          </a:prstGeom>
          <a:solidFill>
            <a:srgbClr val="B33939"/>
          </a:solidFill>
        </p:spPr>
      </p:sp>
      <p:sp>
        <p:nvSpPr>
          <p:cNvPr id="5" name="Shape 3"/>
          <p:cNvSpPr/>
          <p:nvPr/>
        </p:nvSpPr>
        <p:spPr>
          <a:xfrm>
            <a:off x="762000" y="2349500"/>
            <a:ext cx="3429000" cy="5842000"/>
          </a:xfrm>
          <a:prstGeom prst="rect">
            <a:avLst/>
          </a:prstGeom>
          <a:solidFill>
            <a:srgbClr val="FFFFFF"/>
          </a:solidFill>
          <a:effectLst>
            <a:outerShdw blurRad="254000" dist="50800" dir="5400000" algn="bl" rotWithShape="0">
              <a:srgbClr val="000000">
                <a:alpha val="5098"/>
              </a:srgbClr>
            </a:outerShdw>
          </a:effectLst>
        </p:spPr>
      </p:sp>
      <p:sp>
        <p:nvSpPr>
          <p:cNvPr id="6" name="Text 4"/>
          <p:cNvSpPr/>
          <p:nvPr/>
        </p:nvSpPr>
        <p:spPr>
          <a:xfrm>
            <a:off x="1079500" y="2730500"/>
            <a:ext cx="1524000" cy="1016000"/>
          </a:xfrm>
          <a:prstGeom prst="rect">
            <a:avLst/>
          </a:prstGeom>
          <a:noFill/>
        </p:spPr>
        <p:txBody>
          <a:bodyPr wrap="none" lIns="0" tIns="0" rIns="0" bIns="0" rtlCol="0" anchor="t"/>
          <a:lstStyle/>
          <a:p>
            <a:pPr>
              <a:lnSpc>
                <a:spcPct val="100000"/>
              </a:lnSpc>
            </a:pPr>
            <a:r>
              <a:rPr lang="en-US" sz="7200" dirty="0">
                <a:solidFill>
                  <a:srgbClr val="2D3436">
                    <a:alpha val="6275"/>
                  </a:srgbClr>
                </a:solidFill>
                <a:latin typeface="Liter" panose="02000503030000020004" pitchFamily="34" charset="0"/>
                <a:ea typeface="Liter" panose="02000503030000020004" pitchFamily="34" charset="-122"/>
                <a:cs typeface="Liter" panose="02000503030000020004" pitchFamily="34" charset="-120"/>
              </a:rPr>
              <a:t>01</a:t>
            </a:r>
            <a:endParaRPr lang="en-US" sz="1600" dirty="0"/>
          </a:p>
        </p:txBody>
      </p:sp>
      <p:sp>
        <p:nvSpPr>
          <p:cNvPr id="7" name="Text 5"/>
          <p:cNvSpPr/>
          <p:nvPr/>
        </p:nvSpPr>
        <p:spPr>
          <a:xfrm>
            <a:off x="1079500" y="4064000"/>
            <a:ext cx="2794000" cy="406400"/>
          </a:xfrm>
          <a:prstGeom prst="rect">
            <a:avLst/>
          </a:prstGeom>
          <a:noFill/>
        </p:spPr>
        <p:txBody>
          <a:bodyPr wrap="none" lIns="0" tIns="0" rIns="0" bIns="0" rtlCol="0" anchor="ctr"/>
          <a:lstStyle/>
          <a:p>
            <a:pPr>
              <a:lnSpc>
                <a:spcPct val="100000"/>
              </a:lnSpc>
            </a:pPr>
            <a:r>
              <a:rPr lang="en-US" sz="2200" dirty="0">
                <a:solidFill>
                  <a:srgbClr val="2D3436"/>
                </a:solidFill>
                <a:latin typeface="Liter" panose="02000503030000020004" pitchFamily="34" charset="0"/>
                <a:ea typeface="Liter" panose="02000503030000020004" pitchFamily="34" charset="-122"/>
                <a:cs typeface="Liter" panose="02000503030000020004" pitchFamily="34" charset="-120"/>
              </a:rPr>
              <a:t>项目背景与意义</a:t>
            </a:r>
            <a:endParaRPr lang="en-US" sz="1600" dirty="0"/>
          </a:p>
        </p:txBody>
      </p:sp>
      <p:sp>
        <p:nvSpPr>
          <p:cNvPr id="8" name="Text 6"/>
          <p:cNvSpPr/>
          <p:nvPr/>
        </p:nvSpPr>
        <p:spPr>
          <a:xfrm>
            <a:off x="1079500" y="4635500"/>
            <a:ext cx="2794000" cy="1016000"/>
          </a:xfrm>
          <a:prstGeom prst="rect">
            <a:avLst/>
          </a:prstGeom>
          <a:noFill/>
        </p:spPr>
        <p:txBody>
          <a:bodyPr wrap="square" lIns="0" tIns="0" rIns="0" bIns="0" rtlCol="0" anchor="t"/>
          <a:lstStyle/>
          <a:p>
            <a:pPr>
              <a:lnSpc>
                <a:spcPct val="160000"/>
              </a:lnSpc>
            </a:pPr>
            <a:r>
              <a:rPr lang="en-US" sz="1400" dirty="0">
                <a:solidFill>
                  <a:srgbClr val="636E72"/>
                </a:solidFill>
                <a:latin typeface="Quattrocento Sans" panose="020B0502050000020003" pitchFamily="34" charset="0"/>
                <a:ea typeface="Quattrocento Sans" panose="020B0502050000020003" pitchFamily="34" charset="-122"/>
                <a:cs typeface="Quattrocento Sans" panose="020B0502050000020003" pitchFamily="34" charset="-120"/>
              </a:rPr>
              <a:t>新媒体时代意识形态传播面临的新挑战与新机遇</a:t>
            </a:r>
            <a:endParaRPr lang="en-US" sz="1600" dirty="0"/>
          </a:p>
        </p:txBody>
      </p:sp>
      <p:sp>
        <p:nvSpPr>
          <p:cNvPr id="9" name="Shape 7"/>
          <p:cNvSpPr/>
          <p:nvPr/>
        </p:nvSpPr>
        <p:spPr>
          <a:xfrm>
            <a:off x="1079500" y="7366000"/>
            <a:ext cx="508000" cy="38100"/>
          </a:xfrm>
          <a:prstGeom prst="rect">
            <a:avLst/>
          </a:prstGeom>
          <a:solidFill>
            <a:srgbClr val="B33939"/>
          </a:solidFill>
        </p:spPr>
      </p:sp>
      <p:sp>
        <p:nvSpPr>
          <p:cNvPr id="10" name="Shape 8"/>
          <p:cNvSpPr/>
          <p:nvPr/>
        </p:nvSpPr>
        <p:spPr>
          <a:xfrm>
            <a:off x="4572000" y="2349500"/>
            <a:ext cx="3429000" cy="5842000"/>
          </a:xfrm>
          <a:prstGeom prst="rect">
            <a:avLst/>
          </a:prstGeom>
          <a:solidFill>
            <a:srgbClr val="FFFFFF"/>
          </a:solidFill>
          <a:effectLst>
            <a:outerShdw blurRad="254000" dist="50800" dir="5400000" algn="bl" rotWithShape="0">
              <a:srgbClr val="000000">
                <a:alpha val="5098"/>
              </a:srgbClr>
            </a:outerShdw>
          </a:effectLst>
        </p:spPr>
      </p:sp>
      <p:sp>
        <p:nvSpPr>
          <p:cNvPr id="11" name="Text 9"/>
          <p:cNvSpPr/>
          <p:nvPr/>
        </p:nvSpPr>
        <p:spPr>
          <a:xfrm>
            <a:off x="4889500" y="2730500"/>
            <a:ext cx="1524000" cy="1016000"/>
          </a:xfrm>
          <a:prstGeom prst="rect">
            <a:avLst/>
          </a:prstGeom>
          <a:noFill/>
        </p:spPr>
        <p:txBody>
          <a:bodyPr wrap="none" lIns="0" tIns="0" rIns="0" bIns="0" rtlCol="0" anchor="t"/>
          <a:lstStyle/>
          <a:p>
            <a:pPr>
              <a:lnSpc>
                <a:spcPct val="100000"/>
              </a:lnSpc>
            </a:pPr>
            <a:r>
              <a:rPr lang="en-US" sz="7200" dirty="0">
                <a:solidFill>
                  <a:srgbClr val="2D3436">
                    <a:alpha val="6275"/>
                  </a:srgbClr>
                </a:solidFill>
                <a:latin typeface="Liter" panose="02000503030000020004" pitchFamily="34" charset="0"/>
                <a:ea typeface="Liter" panose="02000503030000020004" pitchFamily="34" charset="-122"/>
                <a:cs typeface="Liter" panose="02000503030000020004" pitchFamily="34" charset="-120"/>
              </a:rPr>
              <a:t>02</a:t>
            </a:r>
            <a:endParaRPr lang="en-US" sz="1600" dirty="0"/>
          </a:p>
        </p:txBody>
      </p:sp>
      <p:sp>
        <p:nvSpPr>
          <p:cNvPr id="12" name="Text 10"/>
          <p:cNvSpPr/>
          <p:nvPr/>
        </p:nvSpPr>
        <p:spPr>
          <a:xfrm>
            <a:off x="4889500" y="4064000"/>
            <a:ext cx="2794000" cy="406400"/>
          </a:xfrm>
          <a:prstGeom prst="rect">
            <a:avLst/>
          </a:prstGeom>
          <a:noFill/>
        </p:spPr>
        <p:txBody>
          <a:bodyPr wrap="none" lIns="0" tIns="0" rIns="0" bIns="0" rtlCol="0" anchor="ctr"/>
          <a:lstStyle/>
          <a:p>
            <a:pPr>
              <a:lnSpc>
                <a:spcPct val="100000"/>
              </a:lnSpc>
            </a:pPr>
            <a:r>
              <a:rPr lang="en-US" sz="2200" dirty="0">
                <a:solidFill>
                  <a:srgbClr val="2D3436"/>
                </a:solidFill>
                <a:latin typeface="Liter" panose="02000503030000020004" pitchFamily="34" charset="0"/>
                <a:ea typeface="Liter" panose="02000503030000020004" pitchFamily="34" charset="-122"/>
                <a:cs typeface="Liter" panose="02000503030000020004" pitchFamily="34" charset="-120"/>
              </a:rPr>
              <a:t>项目进展</a:t>
            </a:r>
            <a:endParaRPr lang="en-US" sz="1600" dirty="0"/>
          </a:p>
        </p:txBody>
      </p:sp>
      <p:sp>
        <p:nvSpPr>
          <p:cNvPr id="13" name="Text 11"/>
          <p:cNvSpPr/>
          <p:nvPr/>
        </p:nvSpPr>
        <p:spPr>
          <a:xfrm>
            <a:off x="4889500" y="4635500"/>
            <a:ext cx="2794000" cy="635000"/>
          </a:xfrm>
          <a:prstGeom prst="rect">
            <a:avLst/>
          </a:prstGeom>
          <a:noFill/>
        </p:spPr>
        <p:txBody>
          <a:bodyPr wrap="square" lIns="0" tIns="0" rIns="0" bIns="0" rtlCol="0" anchor="t"/>
          <a:lstStyle/>
          <a:p>
            <a:pPr>
              <a:lnSpc>
                <a:spcPct val="160000"/>
              </a:lnSpc>
            </a:pPr>
            <a:r>
              <a:rPr lang="en-US" sz="1400" dirty="0">
                <a:solidFill>
                  <a:srgbClr val="636E72"/>
                </a:solidFill>
                <a:latin typeface="Quattrocento Sans" panose="020B0502050000020003" pitchFamily="34" charset="0"/>
                <a:ea typeface="Quattrocento Sans" panose="020B0502050000020003" pitchFamily="34" charset="-122"/>
                <a:cs typeface="Quattrocento Sans" panose="020B0502050000020003" pitchFamily="34" charset="-120"/>
              </a:rPr>
              <a:t>与导师深度研讨，构建研究框架</a:t>
            </a:r>
            <a:endParaRPr lang="en-US" sz="1600" dirty="0"/>
          </a:p>
        </p:txBody>
      </p:sp>
      <p:sp>
        <p:nvSpPr>
          <p:cNvPr id="14" name="Shape 12"/>
          <p:cNvSpPr/>
          <p:nvPr/>
        </p:nvSpPr>
        <p:spPr>
          <a:xfrm>
            <a:off x="4889500" y="7366000"/>
            <a:ext cx="508000" cy="38100"/>
          </a:xfrm>
          <a:prstGeom prst="rect">
            <a:avLst/>
          </a:prstGeom>
          <a:solidFill>
            <a:srgbClr val="B33939"/>
          </a:solidFill>
        </p:spPr>
      </p:sp>
      <p:sp>
        <p:nvSpPr>
          <p:cNvPr id="15" name="Shape 13"/>
          <p:cNvSpPr/>
          <p:nvPr/>
        </p:nvSpPr>
        <p:spPr>
          <a:xfrm>
            <a:off x="8382000" y="2349500"/>
            <a:ext cx="3429000" cy="5842000"/>
          </a:xfrm>
          <a:prstGeom prst="rect">
            <a:avLst/>
          </a:prstGeom>
          <a:solidFill>
            <a:srgbClr val="FFFFFF"/>
          </a:solidFill>
          <a:effectLst>
            <a:outerShdw blurRad="254000" dist="50800" dir="5400000" algn="bl" rotWithShape="0">
              <a:srgbClr val="000000">
                <a:alpha val="5098"/>
              </a:srgbClr>
            </a:outerShdw>
          </a:effectLst>
        </p:spPr>
      </p:sp>
      <p:sp>
        <p:nvSpPr>
          <p:cNvPr id="16" name="Text 14"/>
          <p:cNvSpPr/>
          <p:nvPr/>
        </p:nvSpPr>
        <p:spPr>
          <a:xfrm>
            <a:off x="8699500" y="2730500"/>
            <a:ext cx="1524000" cy="1016000"/>
          </a:xfrm>
          <a:prstGeom prst="rect">
            <a:avLst/>
          </a:prstGeom>
          <a:noFill/>
        </p:spPr>
        <p:txBody>
          <a:bodyPr wrap="none" lIns="0" tIns="0" rIns="0" bIns="0" rtlCol="0" anchor="t"/>
          <a:lstStyle/>
          <a:p>
            <a:pPr>
              <a:lnSpc>
                <a:spcPct val="100000"/>
              </a:lnSpc>
            </a:pPr>
            <a:r>
              <a:rPr lang="en-US" sz="7200" dirty="0">
                <a:solidFill>
                  <a:srgbClr val="2D3436">
                    <a:alpha val="6275"/>
                  </a:srgbClr>
                </a:solidFill>
                <a:latin typeface="Liter" panose="02000503030000020004" pitchFamily="34" charset="0"/>
                <a:ea typeface="Liter" panose="02000503030000020004" pitchFamily="34" charset="-122"/>
                <a:cs typeface="Liter" panose="02000503030000020004" pitchFamily="34" charset="-120"/>
              </a:rPr>
              <a:t>03</a:t>
            </a:r>
            <a:endParaRPr lang="en-US" sz="1600" dirty="0"/>
          </a:p>
        </p:txBody>
      </p:sp>
      <p:sp>
        <p:nvSpPr>
          <p:cNvPr id="17" name="Text 15"/>
          <p:cNvSpPr/>
          <p:nvPr/>
        </p:nvSpPr>
        <p:spPr>
          <a:xfrm>
            <a:off x="8699500" y="4064000"/>
            <a:ext cx="2794000" cy="406400"/>
          </a:xfrm>
          <a:prstGeom prst="rect">
            <a:avLst/>
          </a:prstGeom>
          <a:noFill/>
        </p:spPr>
        <p:txBody>
          <a:bodyPr wrap="none" lIns="0" tIns="0" rIns="0" bIns="0" rtlCol="0" anchor="ctr"/>
          <a:lstStyle/>
          <a:p>
            <a:pPr>
              <a:lnSpc>
                <a:spcPct val="100000"/>
              </a:lnSpc>
            </a:pPr>
            <a:r>
              <a:rPr lang="en-US" sz="2200" dirty="0">
                <a:solidFill>
                  <a:srgbClr val="2D3436"/>
                </a:solidFill>
                <a:latin typeface="Liter" panose="02000503030000020004" pitchFamily="34" charset="0"/>
                <a:ea typeface="Liter" panose="02000503030000020004" pitchFamily="34" charset="-122"/>
                <a:cs typeface="Liter" panose="02000503030000020004" pitchFamily="34" charset="-120"/>
              </a:rPr>
              <a:t>成果汇总</a:t>
            </a:r>
            <a:endParaRPr lang="en-US" sz="1600" dirty="0"/>
          </a:p>
        </p:txBody>
      </p:sp>
      <p:sp>
        <p:nvSpPr>
          <p:cNvPr id="18" name="Text 16"/>
          <p:cNvSpPr/>
          <p:nvPr/>
        </p:nvSpPr>
        <p:spPr>
          <a:xfrm>
            <a:off x="8699500" y="4635500"/>
            <a:ext cx="2794000" cy="1016000"/>
          </a:xfrm>
          <a:prstGeom prst="rect">
            <a:avLst/>
          </a:prstGeom>
          <a:noFill/>
        </p:spPr>
        <p:txBody>
          <a:bodyPr wrap="square" lIns="0" tIns="0" rIns="0" bIns="0" rtlCol="0" anchor="t"/>
          <a:lstStyle/>
          <a:p>
            <a:pPr>
              <a:lnSpc>
                <a:spcPct val="160000"/>
              </a:lnSpc>
            </a:pPr>
            <a:r>
              <a:rPr lang="en-US" sz="1400" dirty="0">
                <a:solidFill>
                  <a:srgbClr val="636E72"/>
                </a:solidFill>
                <a:latin typeface="Quattrocento Sans" panose="020B0502050000020003" pitchFamily="34" charset="0"/>
                <a:ea typeface="Quattrocento Sans" panose="020B0502050000020003" pitchFamily="34" charset="-122"/>
                <a:cs typeface="Quattrocento Sans" panose="020B0502050000020003" pitchFamily="34" charset="-120"/>
              </a:rPr>
              <a:t>理论研究与实践探索的阶段性成果</a:t>
            </a:r>
            <a:endParaRPr lang="en-US" sz="1600" dirty="0"/>
          </a:p>
        </p:txBody>
      </p:sp>
      <p:sp>
        <p:nvSpPr>
          <p:cNvPr id="19" name="Shape 17"/>
          <p:cNvSpPr/>
          <p:nvPr/>
        </p:nvSpPr>
        <p:spPr>
          <a:xfrm>
            <a:off x="8699500" y="7366000"/>
            <a:ext cx="508000" cy="38100"/>
          </a:xfrm>
          <a:prstGeom prst="rect">
            <a:avLst/>
          </a:prstGeom>
          <a:solidFill>
            <a:srgbClr val="B33939"/>
          </a:solidFill>
        </p:spPr>
      </p:sp>
      <p:sp>
        <p:nvSpPr>
          <p:cNvPr id="20" name="Shape 18"/>
          <p:cNvSpPr/>
          <p:nvPr/>
        </p:nvSpPr>
        <p:spPr>
          <a:xfrm>
            <a:off x="12192000" y="2349500"/>
            <a:ext cx="3429000" cy="5842000"/>
          </a:xfrm>
          <a:prstGeom prst="rect">
            <a:avLst/>
          </a:prstGeom>
          <a:solidFill>
            <a:srgbClr val="FFFFFF"/>
          </a:solidFill>
          <a:effectLst>
            <a:outerShdw blurRad="254000" dist="50800" dir="5400000" algn="bl" rotWithShape="0">
              <a:srgbClr val="000000">
                <a:alpha val="5098"/>
              </a:srgbClr>
            </a:outerShdw>
          </a:effectLst>
        </p:spPr>
      </p:sp>
      <p:sp>
        <p:nvSpPr>
          <p:cNvPr id="21" name="Text 19"/>
          <p:cNvSpPr/>
          <p:nvPr/>
        </p:nvSpPr>
        <p:spPr>
          <a:xfrm>
            <a:off x="12509500" y="2730500"/>
            <a:ext cx="1524000" cy="1016000"/>
          </a:xfrm>
          <a:prstGeom prst="rect">
            <a:avLst/>
          </a:prstGeom>
          <a:noFill/>
        </p:spPr>
        <p:txBody>
          <a:bodyPr wrap="none" lIns="0" tIns="0" rIns="0" bIns="0" rtlCol="0" anchor="t"/>
          <a:lstStyle/>
          <a:p>
            <a:pPr>
              <a:lnSpc>
                <a:spcPct val="100000"/>
              </a:lnSpc>
            </a:pPr>
            <a:r>
              <a:rPr lang="en-US" sz="7200" dirty="0">
                <a:solidFill>
                  <a:srgbClr val="2D3436">
                    <a:alpha val="6275"/>
                  </a:srgbClr>
                </a:solidFill>
                <a:latin typeface="Liter" panose="02000503030000020004" pitchFamily="34" charset="0"/>
                <a:ea typeface="Liter" panose="02000503030000020004" pitchFamily="34" charset="-122"/>
                <a:cs typeface="Liter" panose="02000503030000020004" pitchFamily="34" charset="-120"/>
              </a:rPr>
              <a:t>04</a:t>
            </a:r>
            <a:endParaRPr lang="en-US" sz="1600" dirty="0"/>
          </a:p>
        </p:txBody>
      </p:sp>
      <p:sp>
        <p:nvSpPr>
          <p:cNvPr id="22" name="Text 20"/>
          <p:cNvSpPr/>
          <p:nvPr/>
        </p:nvSpPr>
        <p:spPr>
          <a:xfrm>
            <a:off x="12509500" y="4064000"/>
            <a:ext cx="2794000" cy="406400"/>
          </a:xfrm>
          <a:prstGeom prst="rect">
            <a:avLst/>
          </a:prstGeom>
          <a:noFill/>
        </p:spPr>
        <p:txBody>
          <a:bodyPr wrap="none" lIns="0" tIns="0" rIns="0" bIns="0" rtlCol="0" anchor="ctr"/>
          <a:lstStyle/>
          <a:p>
            <a:pPr>
              <a:lnSpc>
                <a:spcPct val="100000"/>
              </a:lnSpc>
            </a:pPr>
            <a:r>
              <a:rPr lang="en-US" sz="2200" dirty="0">
                <a:solidFill>
                  <a:srgbClr val="2D3436"/>
                </a:solidFill>
                <a:latin typeface="Liter" panose="02000503030000020004" pitchFamily="34" charset="0"/>
                <a:ea typeface="Liter" panose="02000503030000020004" pitchFamily="34" charset="-122"/>
                <a:cs typeface="Liter" panose="02000503030000020004" pitchFamily="34" charset="-120"/>
              </a:rPr>
              <a:t>未来计划</a:t>
            </a:r>
            <a:endParaRPr lang="en-US" sz="1600" dirty="0"/>
          </a:p>
        </p:txBody>
      </p:sp>
      <p:sp>
        <p:nvSpPr>
          <p:cNvPr id="23" name="Text 21"/>
          <p:cNvSpPr/>
          <p:nvPr/>
        </p:nvSpPr>
        <p:spPr>
          <a:xfrm>
            <a:off x="12509500" y="4635500"/>
            <a:ext cx="2794000" cy="635000"/>
          </a:xfrm>
          <a:prstGeom prst="rect">
            <a:avLst/>
          </a:prstGeom>
          <a:noFill/>
        </p:spPr>
        <p:txBody>
          <a:bodyPr wrap="square" lIns="0" tIns="0" rIns="0" bIns="0" rtlCol="0" anchor="t"/>
          <a:lstStyle/>
          <a:p>
            <a:pPr>
              <a:lnSpc>
                <a:spcPct val="160000"/>
              </a:lnSpc>
            </a:pPr>
            <a:r>
              <a:rPr lang="en-US" sz="1400" dirty="0">
                <a:solidFill>
                  <a:srgbClr val="636E72"/>
                </a:solidFill>
                <a:latin typeface="Quattrocento Sans" panose="020B0502050000020003" pitchFamily="34" charset="0"/>
                <a:ea typeface="Quattrocento Sans" panose="020B0502050000020003" pitchFamily="34" charset="-122"/>
                <a:cs typeface="Quattrocento Sans" panose="020B0502050000020003" pitchFamily="34" charset="-120"/>
              </a:rPr>
              <a:t>深化研究，服务实践</a:t>
            </a:r>
            <a:endParaRPr lang="en-US" sz="1600" dirty="0"/>
          </a:p>
        </p:txBody>
      </p:sp>
      <p:sp>
        <p:nvSpPr>
          <p:cNvPr id="24" name="Shape 22"/>
          <p:cNvSpPr/>
          <p:nvPr/>
        </p:nvSpPr>
        <p:spPr>
          <a:xfrm>
            <a:off x="12509500" y="7366000"/>
            <a:ext cx="508000" cy="38100"/>
          </a:xfrm>
          <a:prstGeom prst="rect">
            <a:avLst/>
          </a:prstGeom>
          <a:solidFill>
            <a:srgbClr val="B33939"/>
          </a:solidFill>
        </p:spPr>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okc/vddp6qs6dys5m/mnt/agents/output/dcq_midterm_report/images/2_Dark_tech_network_background_Images.png"/>
          <p:cNvPicPr>
            <a:picLocks noChangeAspect="1"/>
          </p:cNvPicPr>
          <p:nvPr/>
        </p:nvPicPr>
        <p:blipFill>
          <a:blip r:embed="rId1"/>
          <a:srcRect t="7869" b="7869"/>
          <a:stretch>
            <a:fillRect/>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flip="none" rotWithShape="1">
            <a:gsLst>
              <a:gs pos="0">
                <a:srgbClr val="2D3436">
                  <a:alpha val="94000"/>
                </a:srgbClr>
              </a:gs>
              <a:gs pos="60000">
                <a:srgbClr val="2D3436">
                  <a:alpha val="82000"/>
                </a:srgbClr>
              </a:gs>
              <a:gs pos="100000">
                <a:srgbClr val="2D3436">
                  <a:alpha val="50000"/>
                </a:srgbClr>
              </a:gs>
            </a:gsLst>
            <a:lin ang="0" scaled="1"/>
          </a:gradFill>
          <a:ln w="12700">
            <a:solidFill>
              <a:srgbClr val="333333"/>
            </a:solidFill>
            <a:prstDash val="solid"/>
          </a:ln>
        </p:spPr>
      </p:sp>
      <p:sp>
        <p:nvSpPr>
          <p:cNvPr id="4" name="Text 1"/>
          <p:cNvSpPr/>
          <p:nvPr/>
        </p:nvSpPr>
        <p:spPr>
          <a:xfrm>
            <a:off x="762000" y="1778000"/>
            <a:ext cx="5080000" cy="2032000"/>
          </a:xfrm>
          <a:prstGeom prst="rect">
            <a:avLst/>
          </a:prstGeom>
          <a:noFill/>
        </p:spPr>
        <p:txBody>
          <a:bodyPr wrap="none" lIns="0" tIns="0" rIns="0" bIns="0" rtlCol="0" anchor="t"/>
          <a:lstStyle/>
          <a:p>
            <a:pPr>
              <a:lnSpc>
                <a:spcPct val="100000"/>
              </a:lnSpc>
            </a:pPr>
            <a:r>
              <a:rPr lang="en-US" sz="14000" dirty="0">
                <a:solidFill>
                  <a:srgbClr val="FFFFFF">
                    <a:alpha val="3137"/>
                  </a:srgbClr>
                </a:solidFill>
                <a:latin typeface="Liter" panose="02000503030000020004" pitchFamily="34" charset="0"/>
                <a:ea typeface="Liter" panose="02000503030000020004" pitchFamily="34" charset="-122"/>
                <a:cs typeface="Liter" panose="02000503030000020004" pitchFamily="34" charset="-120"/>
              </a:rPr>
              <a:t>01</a:t>
            </a:r>
            <a:endParaRPr lang="en-US" sz="1600" dirty="0"/>
          </a:p>
        </p:txBody>
      </p:sp>
      <p:sp>
        <p:nvSpPr>
          <p:cNvPr id="5" name="Text 2"/>
          <p:cNvSpPr/>
          <p:nvPr/>
        </p:nvSpPr>
        <p:spPr>
          <a:xfrm>
            <a:off x="1016000" y="4064000"/>
            <a:ext cx="2540000" cy="304800"/>
          </a:xfrm>
          <a:prstGeom prst="rect">
            <a:avLst/>
          </a:prstGeom>
          <a:noFill/>
        </p:spPr>
        <p:txBody>
          <a:bodyPr wrap="none" lIns="0" tIns="0" rIns="0" bIns="0" rtlCol="0" anchor="ctr"/>
          <a:lstStyle/>
          <a:p>
            <a:pPr>
              <a:lnSpc>
                <a:spcPct val="100000"/>
              </a:lnSpc>
            </a:pPr>
            <a:r>
              <a:rPr lang="en-US" sz="1300" kern="0" spc="400" dirty="0">
                <a:solidFill>
                  <a:srgbClr val="E8A0A0"/>
                </a:solidFill>
                <a:latin typeface="Liter" panose="02000503030000020004" pitchFamily="34" charset="0"/>
                <a:ea typeface="Liter" panose="02000503030000020004" pitchFamily="34" charset="-122"/>
                <a:cs typeface="Liter" panose="02000503030000020004" pitchFamily="34" charset="-120"/>
              </a:rPr>
              <a:t>CHAPTER ONE</a:t>
            </a:r>
            <a:endParaRPr lang="en-US" sz="1600" dirty="0"/>
          </a:p>
        </p:txBody>
      </p:sp>
      <p:sp>
        <p:nvSpPr>
          <p:cNvPr id="6" name="Shape 3"/>
          <p:cNvSpPr/>
          <p:nvPr/>
        </p:nvSpPr>
        <p:spPr>
          <a:xfrm>
            <a:off x="1016000" y="4508500"/>
            <a:ext cx="762000" cy="38100"/>
          </a:xfrm>
          <a:prstGeom prst="rect">
            <a:avLst/>
          </a:prstGeom>
          <a:solidFill>
            <a:srgbClr val="B33939"/>
          </a:solidFill>
        </p:spPr>
      </p:sp>
      <p:sp>
        <p:nvSpPr>
          <p:cNvPr id="7" name="Text 4"/>
          <p:cNvSpPr/>
          <p:nvPr/>
        </p:nvSpPr>
        <p:spPr>
          <a:xfrm>
            <a:off x="1016000" y="4762500"/>
            <a:ext cx="7620000" cy="698500"/>
          </a:xfrm>
          <a:prstGeom prst="rect">
            <a:avLst/>
          </a:prstGeom>
          <a:noFill/>
        </p:spPr>
        <p:txBody>
          <a:bodyPr wrap="none" lIns="0" tIns="0" rIns="0" bIns="0" rtlCol="0" anchor="ctr"/>
          <a:lstStyle/>
          <a:p>
            <a:pPr>
              <a:lnSpc>
                <a:spcPct val="100000"/>
              </a:lnSpc>
            </a:pPr>
            <a:r>
              <a:rPr lang="en-US" sz="4200" kern="0" spc="300" dirty="0">
                <a:solidFill>
                  <a:srgbClr val="F5F6F7"/>
                </a:solidFill>
                <a:latin typeface="Liter" panose="02000503030000020004" pitchFamily="34" charset="0"/>
                <a:ea typeface="Liter" panose="02000503030000020004" pitchFamily="34" charset="-122"/>
                <a:cs typeface="Liter" panose="02000503030000020004" pitchFamily="34" charset="-120"/>
              </a:rPr>
              <a:t>项目背景与意义</a:t>
            </a:r>
            <a:endParaRPr lang="en-US" sz="4000" dirty="0"/>
          </a:p>
        </p:txBody>
      </p:sp>
      <p:sp>
        <p:nvSpPr>
          <p:cNvPr id="8" name="Text 5"/>
          <p:cNvSpPr/>
          <p:nvPr/>
        </p:nvSpPr>
        <p:spPr>
          <a:xfrm>
            <a:off x="1016000" y="5651500"/>
            <a:ext cx="8890000" cy="381000"/>
          </a:xfrm>
          <a:prstGeom prst="rect">
            <a:avLst/>
          </a:prstGeom>
          <a:noFill/>
        </p:spPr>
        <p:txBody>
          <a:bodyPr wrap="none" lIns="0" tIns="0" rIns="0" bIns="0" rtlCol="0" anchor="ctr"/>
          <a:lstStyle/>
          <a:p>
            <a:pPr>
              <a:lnSpc>
                <a:spcPct val="150000"/>
              </a:lnSpc>
            </a:pPr>
            <a:r>
              <a:rPr lang="en-US" sz="1800" dirty="0">
                <a:solidFill>
                  <a:srgbClr val="B0BEC5"/>
                </a:solidFill>
                <a:latin typeface="QuattrocentoSans" panose="020B0502050000020003" pitchFamily="34" charset="0"/>
                <a:ea typeface="QuattrocentoSans" panose="020B0502050000020003" pitchFamily="34" charset="-122"/>
                <a:cs typeface="QuattrocentoSans" panose="020B0502050000020003" pitchFamily="34" charset="-120"/>
              </a:rPr>
              <a:t>新媒体时代意识形态传播面临的新挑战与新机遇</a:t>
            </a:r>
            <a:endParaRPr lang="en-US" sz="22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7"/>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2D3436"/>
          </a:solidFill>
        </p:spPr>
      </p:sp>
      <p:sp>
        <p:nvSpPr>
          <p:cNvPr id="3" name="Text 1"/>
          <p:cNvSpPr/>
          <p:nvPr/>
        </p:nvSpPr>
        <p:spPr>
          <a:xfrm>
            <a:off x="0" y="0"/>
            <a:ext cx="4064000" cy="508000"/>
          </a:xfrm>
          <a:prstGeom prst="rect">
            <a:avLst/>
          </a:prstGeom>
          <a:noFill/>
        </p:spPr>
        <p:txBody>
          <a:bodyPr wrap="none" lIns="0" tIns="0" rIns="0" bIns="0" rtlCol="0" anchor="ctr"/>
          <a:lstStyle/>
          <a:p>
            <a:pPr algn="ctr">
              <a:lnSpc>
                <a:spcPct val="100000"/>
              </a:lnSpc>
            </a:pPr>
            <a:r>
              <a:rPr lang="en-US" sz="1300" dirty="0">
                <a:solidFill>
                  <a:srgbClr val="F5F6F7"/>
                </a:solidFill>
                <a:latin typeface="QuattrocentoSans" panose="020B0502050000020003" pitchFamily="34" charset="0"/>
                <a:ea typeface="QuattrocentoSans" panose="020B0502050000020003" pitchFamily="34" charset="-122"/>
                <a:cs typeface="QuattrocentoSans" panose="020B0502050000020003" pitchFamily="34" charset="-120"/>
              </a:rPr>
              <a:t>项目背景与意义</a:t>
            </a:r>
            <a:endParaRPr lang="en-US" sz="1300" dirty="0"/>
          </a:p>
        </p:txBody>
      </p:sp>
      <p:sp>
        <p:nvSpPr>
          <p:cNvPr id="4" name="Shape 2"/>
          <p:cNvSpPr/>
          <p:nvPr/>
        </p:nvSpPr>
        <p:spPr>
          <a:xfrm>
            <a:off x="762000" y="520700"/>
            <a:ext cx="2540000" cy="38100"/>
          </a:xfrm>
          <a:prstGeom prst="rect">
            <a:avLst/>
          </a:prstGeom>
          <a:solidFill>
            <a:srgbClr val="B33939"/>
          </a:solidFill>
        </p:spPr>
      </p:sp>
      <p:sp>
        <p:nvSpPr>
          <p:cNvPr id="5" name="Text 3"/>
          <p:cNvSpPr/>
          <p:nvPr/>
        </p:nvSpPr>
        <p:spPr>
          <a:xfrm>
            <a:off x="4064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项目进展</a:t>
            </a:r>
            <a:endParaRPr lang="en-US" sz="1300" dirty="0"/>
          </a:p>
        </p:txBody>
      </p:sp>
      <p:sp>
        <p:nvSpPr>
          <p:cNvPr id="6" name="Text 4"/>
          <p:cNvSpPr/>
          <p:nvPr/>
        </p:nvSpPr>
        <p:spPr>
          <a:xfrm>
            <a:off x="8128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成果汇总</a:t>
            </a:r>
            <a:endParaRPr lang="en-US" sz="1300" dirty="0"/>
          </a:p>
        </p:txBody>
      </p:sp>
      <p:sp>
        <p:nvSpPr>
          <p:cNvPr id="7" name="Text 5"/>
          <p:cNvSpPr/>
          <p:nvPr/>
        </p:nvSpPr>
        <p:spPr>
          <a:xfrm>
            <a:off x="12192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未来计划</a:t>
            </a:r>
            <a:endParaRPr lang="en-US" sz="1300" dirty="0"/>
          </a:p>
        </p:txBody>
      </p:sp>
      <p:sp>
        <p:nvSpPr>
          <p:cNvPr id="8" name="Text 6"/>
          <p:cNvSpPr/>
          <p:nvPr/>
        </p:nvSpPr>
        <p:spPr>
          <a:xfrm>
            <a:off x="762000" y="736600"/>
            <a:ext cx="8890000" cy="508000"/>
          </a:xfrm>
          <a:prstGeom prst="rect">
            <a:avLst/>
          </a:prstGeom>
          <a:noFill/>
        </p:spPr>
        <p:txBody>
          <a:bodyPr wrap="none" lIns="0" tIns="0" rIns="0" bIns="0" rtlCol="0" anchor="ctr"/>
          <a:lstStyle/>
          <a:p>
            <a:pPr>
              <a:lnSpc>
                <a:spcPct val="100000"/>
              </a:lnSpc>
            </a:pPr>
            <a:r>
              <a:rPr lang="en-US" sz="2800" dirty="0">
                <a:solidFill>
                  <a:srgbClr val="2D3436"/>
                </a:solidFill>
                <a:latin typeface="Liter" panose="02000503030000020004" pitchFamily="34" charset="0"/>
                <a:ea typeface="Liter" panose="02000503030000020004" pitchFamily="34" charset="-122"/>
                <a:cs typeface="Liter" panose="02000503030000020004" pitchFamily="34" charset="-120"/>
              </a:rPr>
              <a:t>新媒体与AI技术发展背景</a:t>
            </a:r>
            <a:endParaRPr lang="en-US" sz="2800" dirty="0"/>
          </a:p>
        </p:txBody>
      </p:sp>
      <p:sp>
        <p:nvSpPr>
          <p:cNvPr id="9" name="Shape 7"/>
          <p:cNvSpPr/>
          <p:nvPr/>
        </p:nvSpPr>
        <p:spPr>
          <a:xfrm>
            <a:off x="762000" y="1308100"/>
            <a:ext cx="635000" cy="38100"/>
          </a:xfrm>
          <a:prstGeom prst="rect">
            <a:avLst/>
          </a:prstGeom>
          <a:solidFill>
            <a:srgbClr val="B33939"/>
          </a:solidFill>
        </p:spPr>
      </p:sp>
      <p:sp>
        <p:nvSpPr>
          <p:cNvPr id="10" name="Shape 8"/>
          <p:cNvSpPr/>
          <p:nvPr/>
        </p:nvSpPr>
        <p:spPr>
          <a:xfrm>
            <a:off x="762000" y="1714500"/>
            <a:ext cx="50800" cy="6413500"/>
          </a:xfrm>
          <a:prstGeom prst="rect">
            <a:avLst/>
          </a:prstGeom>
          <a:solidFill>
            <a:srgbClr val="B33939"/>
          </a:solidFill>
        </p:spPr>
      </p:sp>
      <p:sp>
        <p:nvSpPr>
          <p:cNvPr id="11" name="Shape 9"/>
          <p:cNvSpPr/>
          <p:nvPr/>
        </p:nvSpPr>
        <p:spPr>
          <a:xfrm>
            <a:off x="1111250" y="1803400"/>
            <a:ext cx="266700" cy="355600"/>
          </a:xfrm>
          <a:custGeom>
            <a:avLst/>
            <a:gdLst/>
            <a:ahLst/>
            <a:cxnLst/>
            <a:rect l="l" t="t" r="r" b="b"/>
            <a:pathLst>
              <a:path w="266700" h="355600">
                <a:moveTo>
                  <a:pt x="11112" y="44450"/>
                </a:moveTo>
                <a:cubicBezTo>
                  <a:pt x="11112" y="19933"/>
                  <a:pt x="31046" y="0"/>
                  <a:pt x="55563" y="0"/>
                </a:cubicBezTo>
                <a:lnTo>
                  <a:pt x="211138" y="0"/>
                </a:lnTo>
                <a:cubicBezTo>
                  <a:pt x="235654" y="0"/>
                  <a:pt x="255587" y="19933"/>
                  <a:pt x="255587" y="44450"/>
                </a:cubicBezTo>
                <a:lnTo>
                  <a:pt x="255587" y="311150"/>
                </a:lnTo>
                <a:cubicBezTo>
                  <a:pt x="255587" y="335667"/>
                  <a:pt x="235654" y="355600"/>
                  <a:pt x="211138" y="355600"/>
                </a:cubicBezTo>
                <a:lnTo>
                  <a:pt x="55563" y="355600"/>
                </a:lnTo>
                <a:cubicBezTo>
                  <a:pt x="31046" y="355600"/>
                  <a:pt x="11112" y="335667"/>
                  <a:pt x="11112" y="311150"/>
                </a:cubicBezTo>
                <a:lnTo>
                  <a:pt x="11112" y="44450"/>
                </a:lnTo>
                <a:close/>
                <a:moveTo>
                  <a:pt x="88900" y="305594"/>
                </a:moveTo>
                <a:cubicBezTo>
                  <a:pt x="88900" y="314831"/>
                  <a:pt x="96331" y="322263"/>
                  <a:pt x="105569" y="322263"/>
                </a:cubicBezTo>
                <a:lnTo>
                  <a:pt x="161131" y="322263"/>
                </a:lnTo>
                <a:cubicBezTo>
                  <a:pt x="170369" y="322263"/>
                  <a:pt x="177800" y="314831"/>
                  <a:pt x="177800" y="305594"/>
                </a:cubicBezTo>
                <a:cubicBezTo>
                  <a:pt x="177800" y="296356"/>
                  <a:pt x="170369" y="288925"/>
                  <a:pt x="161131" y="288925"/>
                </a:cubicBezTo>
                <a:lnTo>
                  <a:pt x="105569" y="288925"/>
                </a:lnTo>
                <a:cubicBezTo>
                  <a:pt x="96331" y="288925"/>
                  <a:pt x="88900" y="296356"/>
                  <a:pt x="88900" y="305594"/>
                </a:cubicBezTo>
                <a:close/>
                <a:moveTo>
                  <a:pt x="211138" y="44450"/>
                </a:moveTo>
                <a:lnTo>
                  <a:pt x="55563" y="44450"/>
                </a:lnTo>
                <a:lnTo>
                  <a:pt x="55563" y="255587"/>
                </a:lnTo>
                <a:lnTo>
                  <a:pt x="211138" y="255587"/>
                </a:lnTo>
                <a:lnTo>
                  <a:pt x="211138" y="44450"/>
                </a:lnTo>
                <a:close/>
              </a:path>
            </a:pathLst>
          </a:custGeom>
          <a:solidFill>
            <a:srgbClr val="B33939"/>
          </a:solidFill>
        </p:spPr>
      </p:sp>
      <p:sp>
        <p:nvSpPr>
          <p:cNvPr id="12" name="Text 10"/>
          <p:cNvSpPr/>
          <p:nvPr/>
        </p:nvSpPr>
        <p:spPr>
          <a:xfrm>
            <a:off x="1574800" y="1778000"/>
            <a:ext cx="3810000" cy="406400"/>
          </a:xfrm>
          <a:prstGeom prst="rect">
            <a:avLst/>
          </a:prstGeom>
          <a:noFill/>
        </p:spPr>
        <p:txBody>
          <a:bodyPr wrap="none" lIns="0" tIns="0" rIns="0" bIns="0" rtlCol="0" anchor="ctr"/>
          <a:lstStyle/>
          <a:p>
            <a:pPr>
              <a:lnSpc>
                <a:spcPct val="100000"/>
              </a:lnSpc>
            </a:pPr>
            <a:r>
              <a:rPr lang="en-US" sz="2000" dirty="0">
                <a:solidFill>
                  <a:srgbClr val="2D3436"/>
                </a:solidFill>
                <a:latin typeface="Liter" panose="02000503030000020004" pitchFamily="34" charset="0"/>
                <a:ea typeface="Liter" panose="02000503030000020004" pitchFamily="34" charset="-122"/>
                <a:cs typeface="Liter" panose="02000503030000020004" pitchFamily="34" charset="-120"/>
              </a:rPr>
              <a:t>新媒体快速发展</a:t>
            </a:r>
            <a:endParaRPr lang="en-US" sz="1600" dirty="0"/>
          </a:p>
        </p:txBody>
      </p:sp>
      <p:sp>
        <p:nvSpPr>
          <p:cNvPr id="13" name="Text 11"/>
          <p:cNvSpPr/>
          <p:nvPr/>
        </p:nvSpPr>
        <p:spPr>
          <a:xfrm>
            <a:off x="1066800" y="2349500"/>
            <a:ext cx="6604000" cy="2032000"/>
          </a:xfrm>
          <a:prstGeom prst="rect">
            <a:avLst/>
          </a:prstGeom>
          <a:noFill/>
        </p:spPr>
        <p:txBody>
          <a:bodyPr wrap="square" lIns="0" tIns="0" rIns="0" bIns="0" rtlCol="0" anchor="t"/>
          <a:lstStyle/>
          <a:p>
            <a:pPr>
              <a:lnSpc>
                <a:spcPct val="160000"/>
              </a:lnSpc>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短视频、社交平台、个性化推荐等新媒体形态迅速崛起，信息传播呈现出</a:t>
            </a:r>
            <a:r>
              <a:rPr lang="en-US" sz="1800" b="1"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速度快、渠道多、形式碎片化</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的显著特征。</a:t>
            </a:r>
            <a:endParaRPr lang="en-US" sz="1800" dirty="0"/>
          </a:p>
          <a:p>
            <a:pPr>
              <a:lnSpc>
                <a:spcPct val="160000"/>
              </a:lnSpc>
              <a:spcBef>
                <a:spcPts val="1000"/>
              </a:spcBef>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传统媒体的话语权被重新定义，信息生产与消费的边界日益模糊，每个人都成为潜在的信息传播节点。</a:t>
            </a:r>
            <a:endParaRPr lang="en-US" sz="1800" dirty="0"/>
          </a:p>
        </p:txBody>
      </p:sp>
      <p:sp>
        <p:nvSpPr>
          <p:cNvPr id="14" name="Shape 12"/>
          <p:cNvSpPr/>
          <p:nvPr/>
        </p:nvSpPr>
        <p:spPr>
          <a:xfrm>
            <a:off x="1022350" y="4699000"/>
            <a:ext cx="444500" cy="355600"/>
          </a:xfrm>
          <a:custGeom>
            <a:avLst/>
            <a:gdLst/>
            <a:ahLst/>
            <a:cxnLst/>
            <a:rect l="l" t="t" r="r" b="b"/>
            <a:pathLst>
              <a:path w="444500" h="355600">
                <a:moveTo>
                  <a:pt x="244475" y="0"/>
                </a:moveTo>
                <a:cubicBezTo>
                  <a:pt x="244475" y="-12293"/>
                  <a:pt x="234543" y="-22225"/>
                  <a:pt x="222250" y="-22225"/>
                </a:cubicBezTo>
                <a:cubicBezTo>
                  <a:pt x="209957" y="-22225"/>
                  <a:pt x="200025" y="-12293"/>
                  <a:pt x="200025" y="0"/>
                </a:cubicBezTo>
                <a:lnTo>
                  <a:pt x="200025" y="44450"/>
                </a:lnTo>
                <a:lnTo>
                  <a:pt x="133350" y="44450"/>
                </a:lnTo>
                <a:cubicBezTo>
                  <a:pt x="96540" y="44450"/>
                  <a:pt x="66675" y="74315"/>
                  <a:pt x="66675" y="111125"/>
                </a:cubicBezTo>
                <a:lnTo>
                  <a:pt x="66675" y="266700"/>
                </a:lnTo>
                <a:cubicBezTo>
                  <a:pt x="66675" y="303510"/>
                  <a:pt x="96540" y="333375"/>
                  <a:pt x="133350" y="333375"/>
                </a:cubicBezTo>
                <a:lnTo>
                  <a:pt x="311150" y="333375"/>
                </a:lnTo>
                <a:cubicBezTo>
                  <a:pt x="347960" y="333375"/>
                  <a:pt x="377825" y="303510"/>
                  <a:pt x="377825" y="266700"/>
                </a:cubicBezTo>
                <a:lnTo>
                  <a:pt x="377825" y="111125"/>
                </a:lnTo>
                <a:cubicBezTo>
                  <a:pt x="377825" y="74315"/>
                  <a:pt x="347960" y="44450"/>
                  <a:pt x="311150" y="44450"/>
                </a:cubicBezTo>
                <a:lnTo>
                  <a:pt x="244475" y="44450"/>
                </a:lnTo>
                <a:lnTo>
                  <a:pt x="244475" y="0"/>
                </a:lnTo>
                <a:close/>
                <a:moveTo>
                  <a:pt x="111125" y="255587"/>
                </a:moveTo>
                <a:cubicBezTo>
                  <a:pt x="111125" y="246350"/>
                  <a:pt x="118556" y="238919"/>
                  <a:pt x="127794" y="238919"/>
                </a:cubicBezTo>
                <a:lnTo>
                  <a:pt x="150019" y="238919"/>
                </a:lnTo>
                <a:cubicBezTo>
                  <a:pt x="159256" y="238919"/>
                  <a:pt x="166688" y="246350"/>
                  <a:pt x="166688" y="255587"/>
                </a:cubicBezTo>
                <a:cubicBezTo>
                  <a:pt x="166688" y="264825"/>
                  <a:pt x="159256" y="272256"/>
                  <a:pt x="150019" y="272256"/>
                </a:cubicBezTo>
                <a:lnTo>
                  <a:pt x="127794" y="272256"/>
                </a:lnTo>
                <a:cubicBezTo>
                  <a:pt x="118556" y="272256"/>
                  <a:pt x="111125" y="264825"/>
                  <a:pt x="111125" y="255587"/>
                </a:cubicBezTo>
                <a:close/>
                <a:moveTo>
                  <a:pt x="194469" y="255587"/>
                </a:moveTo>
                <a:cubicBezTo>
                  <a:pt x="194469" y="246350"/>
                  <a:pt x="201900" y="238919"/>
                  <a:pt x="211138" y="238919"/>
                </a:cubicBezTo>
                <a:lnTo>
                  <a:pt x="233363" y="238919"/>
                </a:lnTo>
                <a:cubicBezTo>
                  <a:pt x="242600" y="238919"/>
                  <a:pt x="250031" y="246350"/>
                  <a:pt x="250031" y="255587"/>
                </a:cubicBezTo>
                <a:cubicBezTo>
                  <a:pt x="250031" y="264825"/>
                  <a:pt x="242600" y="272256"/>
                  <a:pt x="233363" y="272256"/>
                </a:cubicBezTo>
                <a:lnTo>
                  <a:pt x="211138" y="272256"/>
                </a:lnTo>
                <a:cubicBezTo>
                  <a:pt x="201900" y="272256"/>
                  <a:pt x="194469" y="264825"/>
                  <a:pt x="194469" y="255587"/>
                </a:cubicBezTo>
                <a:close/>
                <a:moveTo>
                  <a:pt x="277813" y="255587"/>
                </a:moveTo>
                <a:cubicBezTo>
                  <a:pt x="277813" y="246350"/>
                  <a:pt x="285244" y="238919"/>
                  <a:pt x="294481" y="238919"/>
                </a:cubicBezTo>
                <a:lnTo>
                  <a:pt x="316706" y="238919"/>
                </a:lnTo>
                <a:cubicBezTo>
                  <a:pt x="325944" y="238919"/>
                  <a:pt x="333375" y="246350"/>
                  <a:pt x="333375" y="255587"/>
                </a:cubicBezTo>
                <a:cubicBezTo>
                  <a:pt x="333375" y="264825"/>
                  <a:pt x="325944" y="272256"/>
                  <a:pt x="316706" y="272256"/>
                </a:cubicBezTo>
                <a:lnTo>
                  <a:pt x="294481" y="272256"/>
                </a:lnTo>
                <a:cubicBezTo>
                  <a:pt x="285244" y="272256"/>
                  <a:pt x="277813" y="264825"/>
                  <a:pt x="277813" y="255587"/>
                </a:cubicBezTo>
                <a:close/>
                <a:moveTo>
                  <a:pt x="155575" y="122238"/>
                </a:moveTo>
                <a:cubicBezTo>
                  <a:pt x="173974" y="122238"/>
                  <a:pt x="188913" y="137176"/>
                  <a:pt x="188913" y="155575"/>
                </a:cubicBezTo>
                <a:cubicBezTo>
                  <a:pt x="188913" y="173974"/>
                  <a:pt x="173974" y="188913"/>
                  <a:pt x="155575" y="188913"/>
                </a:cubicBezTo>
                <a:cubicBezTo>
                  <a:pt x="137176" y="188913"/>
                  <a:pt x="122238" y="173974"/>
                  <a:pt x="122238" y="155575"/>
                </a:cubicBezTo>
                <a:cubicBezTo>
                  <a:pt x="122238" y="137176"/>
                  <a:pt x="137176" y="122238"/>
                  <a:pt x="155575" y="122238"/>
                </a:cubicBezTo>
                <a:close/>
                <a:moveTo>
                  <a:pt x="255587" y="155575"/>
                </a:moveTo>
                <a:cubicBezTo>
                  <a:pt x="255587" y="137176"/>
                  <a:pt x="270526" y="122238"/>
                  <a:pt x="288925" y="122238"/>
                </a:cubicBezTo>
                <a:cubicBezTo>
                  <a:pt x="307324" y="122238"/>
                  <a:pt x="322263" y="137176"/>
                  <a:pt x="322263" y="155575"/>
                </a:cubicBezTo>
                <a:cubicBezTo>
                  <a:pt x="322263" y="173974"/>
                  <a:pt x="307324" y="188913"/>
                  <a:pt x="288925" y="188913"/>
                </a:cubicBezTo>
                <a:cubicBezTo>
                  <a:pt x="270526" y="188913"/>
                  <a:pt x="255587" y="173974"/>
                  <a:pt x="255587" y="155575"/>
                </a:cubicBezTo>
                <a:close/>
                <a:moveTo>
                  <a:pt x="44450" y="155575"/>
                </a:moveTo>
                <a:cubicBezTo>
                  <a:pt x="44450" y="143282"/>
                  <a:pt x="34518" y="133350"/>
                  <a:pt x="22225" y="133350"/>
                </a:cubicBezTo>
                <a:cubicBezTo>
                  <a:pt x="9932" y="133350"/>
                  <a:pt x="0" y="143282"/>
                  <a:pt x="0" y="155575"/>
                </a:cubicBezTo>
                <a:lnTo>
                  <a:pt x="0" y="222250"/>
                </a:lnTo>
                <a:cubicBezTo>
                  <a:pt x="0" y="234543"/>
                  <a:pt x="9932" y="244475"/>
                  <a:pt x="22225" y="244475"/>
                </a:cubicBezTo>
                <a:cubicBezTo>
                  <a:pt x="34518" y="244475"/>
                  <a:pt x="44450" y="234543"/>
                  <a:pt x="44450" y="222250"/>
                </a:cubicBezTo>
                <a:lnTo>
                  <a:pt x="44450" y="155575"/>
                </a:lnTo>
                <a:close/>
                <a:moveTo>
                  <a:pt x="422275" y="133350"/>
                </a:moveTo>
                <a:cubicBezTo>
                  <a:pt x="409982" y="133350"/>
                  <a:pt x="400050" y="143282"/>
                  <a:pt x="400050" y="155575"/>
                </a:cubicBezTo>
                <a:lnTo>
                  <a:pt x="400050" y="222250"/>
                </a:lnTo>
                <a:cubicBezTo>
                  <a:pt x="400050" y="234543"/>
                  <a:pt x="409982" y="244475"/>
                  <a:pt x="422275" y="244475"/>
                </a:cubicBezTo>
                <a:cubicBezTo>
                  <a:pt x="434568" y="244475"/>
                  <a:pt x="444500" y="234543"/>
                  <a:pt x="444500" y="222250"/>
                </a:cubicBezTo>
                <a:lnTo>
                  <a:pt x="444500" y="155575"/>
                </a:lnTo>
                <a:cubicBezTo>
                  <a:pt x="444500" y="143282"/>
                  <a:pt x="434568" y="133350"/>
                  <a:pt x="422275" y="133350"/>
                </a:cubicBezTo>
                <a:close/>
              </a:path>
            </a:pathLst>
          </a:custGeom>
          <a:solidFill>
            <a:srgbClr val="B33939"/>
          </a:solidFill>
        </p:spPr>
      </p:sp>
      <p:sp>
        <p:nvSpPr>
          <p:cNvPr id="15" name="Text 13"/>
          <p:cNvSpPr/>
          <p:nvPr/>
        </p:nvSpPr>
        <p:spPr>
          <a:xfrm>
            <a:off x="1574800" y="4673600"/>
            <a:ext cx="3810000" cy="406400"/>
          </a:xfrm>
          <a:prstGeom prst="rect">
            <a:avLst/>
          </a:prstGeom>
          <a:noFill/>
        </p:spPr>
        <p:txBody>
          <a:bodyPr wrap="none" lIns="0" tIns="0" rIns="0" bIns="0" rtlCol="0" anchor="ctr"/>
          <a:lstStyle/>
          <a:p>
            <a:pPr>
              <a:lnSpc>
                <a:spcPct val="100000"/>
              </a:lnSpc>
            </a:pPr>
            <a:r>
              <a:rPr lang="en-US" sz="2000" dirty="0">
                <a:solidFill>
                  <a:srgbClr val="2D3436"/>
                </a:solidFill>
                <a:latin typeface="Liter" panose="02000503030000020004" pitchFamily="34" charset="0"/>
                <a:ea typeface="Liter" panose="02000503030000020004" pitchFamily="34" charset="-122"/>
                <a:cs typeface="Liter" panose="02000503030000020004" pitchFamily="34" charset="-120"/>
              </a:rPr>
              <a:t>AI技术深度赋能</a:t>
            </a:r>
            <a:endParaRPr lang="en-US" sz="1600" dirty="0"/>
          </a:p>
        </p:txBody>
      </p:sp>
      <p:sp>
        <p:nvSpPr>
          <p:cNvPr id="16" name="Text 14"/>
          <p:cNvSpPr/>
          <p:nvPr/>
        </p:nvSpPr>
        <p:spPr>
          <a:xfrm>
            <a:off x="1066800" y="5245100"/>
            <a:ext cx="6604000" cy="2032000"/>
          </a:xfrm>
          <a:prstGeom prst="rect">
            <a:avLst/>
          </a:prstGeom>
          <a:noFill/>
        </p:spPr>
        <p:txBody>
          <a:bodyPr wrap="square" lIns="0" tIns="0" rIns="0" bIns="0" rtlCol="0" anchor="t"/>
          <a:lstStyle/>
          <a:p>
            <a:pPr>
              <a:lnSpc>
                <a:spcPct val="160000"/>
              </a:lnSpc>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推荐算法、内容生成、舆情分析等AI技术进一步增强了信息传播的</a:t>
            </a:r>
            <a:r>
              <a:rPr lang="en-US" sz="1800" b="1"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智能化和精准化</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水平，使内容分发更加个性化、互动化。</a:t>
            </a:r>
            <a:endParaRPr lang="en-US" sz="1800" dirty="0"/>
          </a:p>
          <a:p>
            <a:pPr>
              <a:lnSpc>
                <a:spcPct val="160000"/>
              </a:lnSpc>
              <a:spcBef>
                <a:spcPts val="1000"/>
              </a:spcBef>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算法驱动的信息分发机制在提升用户体验的同时，也带来了"信息茧房"等新型传播效应，对意识形态安全构成潜在挑战。</a:t>
            </a:r>
            <a:endParaRPr lang="en-US" sz="1800" dirty="0"/>
          </a:p>
        </p:txBody>
      </p:sp>
      <p:sp>
        <p:nvSpPr>
          <p:cNvPr id="17" name="Shape 15"/>
          <p:cNvSpPr/>
          <p:nvPr/>
        </p:nvSpPr>
        <p:spPr>
          <a:xfrm>
            <a:off x="8382000" y="1714500"/>
            <a:ext cx="7112000" cy="6413500"/>
          </a:xfrm>
          <a:prstGeom prst="rect">
            <a:avLst/>
          </a:prstGeom>
          <a:solidFill>
            <a:srgbClr val="FFFFFF"/>
          </a:solidFill>
          <a:effectLst>
            <a:outerShdw blurRad="203200" dist="50800" dir="5400000" algn="bl" rotWithShape="0">
              <a:srgbClr val="000000">
                <a:alpha val="3922"/>
              </a:srgbClr>
            </a:outerShdw>
          </a:effectLst>
        </p:spPr>
      </p:sp>
      <p:sp>
        <p:nvSpPr>
          <p:cNvPr id="18" name="Text 16"/>
          <p:cNvSpPr/>
          <p:nvPr/>
        </p:nvSpPr>
        <p:spPr>
          <a:xfrm>
            <a:off x="8763000" y="1968500"/>
            <a:ext cx="6350000" cy="406400"/>
          </a:xfrm>
          <a:prstGeom prst="rect">
            <a:avLst/>
          </a:prstGeom>
          <a:noFill/>
        </p:spPr>
        <p:txBody>
          <a:bodyPr wrap="none" lIns="0" tIns="0" rIns="0" bIns="0" rtlCol="0" anchor="ctr"/>
          <a:lstStyle/>
          <a:p>
            <a:pPr>
              <a:lnSpc>
                <a:spcPct val="100000"/>
              </a:lnSpc>
            </a:pPr>
            <a:r>
              <a:rPr lang="en-US" sz="1800" dirty="0">
                <a:solidFill>
                  <a:srgbClr val="2D3436"/>
                </a:solidFill>
                <a:latin typeface="Liter" panose="02000503030000020004" pitchFamily="34" charset="0"/>
                <a:ea typeface="Liter" panose="02000503030000020004" pitchFamily="34" charset="-122"/>
                <a:cs typeface="Liter" panose="02000503030000020004" pitchFamily="34" charset="-120"/>
              </a:rPr>
              <a:t>技术变革的核心特征</a:t>
            </a:r>
            <a:endParaRPr lang="en-US" sz="1600" dirty="0"/>
          </a:p>
        </p:txBody>
      </p:sp>
      <p:sp>
        <p:nvSpPr>
          <p:cNvPr id="19" name="Shape 17"/>
          <p:cNvSpPr/>
          <p:nvPr/>
        </p:nvSpPr>
        <p:spPr>
          <a:xfrm>
            <a:off x="8763000" y="2476500"/>
            <a:ext cx="6350000" cy="12700"/>
          </a:xfrm>
          <a:prstGeom prst="rect">
            <a:avLst/>
          </a:prstGeom>
          <a:solidFill>
            <a:srgbClr val="D5DBDB"/>
          </a:solidFill>
        </p:spPr>
      </p:sp>
      <p:sp>
        <p:nvSpPr>
          <p:cNvPr id="20" name="Text 18"/>
          <p:cNvSpPr/>
          <p:nvPr/>
        </p:nvSpPr>
        <p:spPr>
          <a:xfrm>
            <a:off x="8763000" y="2730500"/>
            <a:ext cx="698500" cy="508000"/>
          </a:xfrm>
          <a:prstGeom prst="rect">
            <a:avLst/>
          </a:prstGeom>
          <a:noFill/>
        </p:spPr>
        <p:txBody>
          <a:bodyPr wrap="none" lIns="0" tIns="0" rIns="0" bIns="0" rtlCol="0" anchor="ctr"/>
          <a:lstStyle/>
          <a:p>
            <a:pPr>
              <a:lnSpc>
                <a:spcPct val="100000"/>
              </a:lnSpc>
            </a:pPr>
            <a:r>
              <a:rPr lang="en-US" sz="2800" dirty="0">
                <a:solidFill>
                  <a:srgbClr val="B33939"/>
                </a:solidFill>
                <a:latin typeface="Liter" panose="02000503030000020004" pitchFamily="34" charset="0"/>
                <a:ea typeface="Liter" panose="02000503030000020004" pitchFamily="34" charset="-122"/>
                <a:cs typeface="Liter" panose="02000503030000020004" pitchFamily="34" charset="-120"/>
              </a:rPr>
              <a:t>01</a:t>
            </a:r>
            <a:endParaRPr lang="en-US" sz="1600" dirty="0"/>
          </a:p>
        </p:txBody>
      </p:sp>
      <p:sp>
        <p:nvSpPr>
          <p:cNvPr id="21" name="Text 19"/>
          <p:cNvSpPr/>
          <p:nvPr/>
        </p:nvSpPr>
        <p:spPr>
          <a:xfrm>
            <a:off x="9525000" y="2730500"/>
            <a:ext cx="5588000" cy="889000"/>
          </a:xfrm>
          <a:prstGeom prst="rect">
            <a:avLst/>
          </a:prstGeom>
          <a:noFill/>
        </p:spPr>
        <p:txBody>
          <a:bodyPr wrap="square" lIns="0" tIns="0" rIns="0" bIns="0" rtlCol="0" anchor="t"/>
          <a:lstStyle/>
          <a:p>
            <a:pPr>
              <a:lnSpc>
                <a:spcPct val="150000"/>
              </a:lnSpc>
            </a:pPr>
            <a:r>
              <a:rPr lang="en-US" sz="1600" b="1" dirty="0">
                <a:solidFill>
                  <a:srgbClr val="2D3436"/>
                </a:solidFill>
                <a:latin typeface="Quattrocento Sans" panose="020B0502050000020003" pitchFamily="34" charset="0"/>
                <a:ea typeface="Quattrocento Sans" panose="020B0502050000020003" pitchFamily="34" charset="-122"/>
                <a:cs typeface="Quattrocento Sans" panose="020B0502050000020003" pitchFamily="34" charset="-120"/>
              </a:rPr>
              <a:t>传播速度指数级增长</a:t>
            </a:r>
            <a:endParaRPr lang="en-US" sz="1600" dirty="0"/>
          </a:p>
          <a:p>
            <a:pPr>
              <a:lnSpc>
                <a:spcPct val="150000"/>
              </a:lnSpc>
            </a:pPr>
            <a:r>
              <a:rPr lang="en-US" sz="1600" dirty="0">
                <a:solidFill>
                  <a:srgbClr val="2D3436"/>
                </a:solidFill>
                <a:latin typeface="Quattrocento Sans" panose="020B0502050000020003" pitchFamily="34" charset="0"/>
                <a:ea typeface="Quattrocento Sans" panose="020B0502050000020003" pitchFamily="34" charset="-122"/>
                <a:cs typeface="Quattrocento Sans" panose="020B0502050000020003" pitchFamily="34" charset="-120"/>
              </a:rPr>
              <a:t>信息可在数秒内触达百万级用户</a:t>
            </a:r>
            <a:endParaRPr lang="en-US" sz="1600" dirty="0"/>
          </a:p>
        </p:txBody>
      </p:sp>
      <p:sp>
        <p:nvSpPr>
          <p:cNvPr id="22" name="Text 20"/>
          <p:cNvSpPr/>
          <p:nvPr/>
        </p:nvSpPr>
        <p:spPr>
          <a:xfrm>
            <a:off x="8763000" y="3810000"/>
            <a:ext cx="698500" cy="508000"/>
          </a:xfrm>
          <a:prstGeom prst="rect">
            <a:avLst/>
          </a:prstGeom>
          <a:noFill/>
        </p:spPr>
        <p:txBody>
          <a:bodyPr wrap="none" lIns="0" tIns="0" rIns="0" bIns="0" rtlCol="0" anchor="ctr"/>
          <a:lstStyle/>
          <a:p>
            <a:pPr>
              <a:lnSpc>
                <a:spcPct val="100000"/>
              </a:lnSpc>
            </a:pPr>
            <a:r>
              <a:rPr lang="en-US" sz="2800" dirty="0">
                <a:solidFill>
                  <a:srgbClr val="B33939"/>
                </a:solidFill>
                <a:latin typeface="Liter" panose="02000503030000020004" pitchFamily="34" charset="0"/>
                <a:ea typeface="Liter" panose="02000503030000020004" pitchFamily="34" charset="-122"/>
                <a:cs typeface="Liter" panose="02000503030000020004" pitchFamily="34" charset="-120"/>
              </a:rPr>
              <a:t>02</a:t>
            </a:r>
            <a:endParaRPr lang="en-US" sz="1600" dirty="0"/>
          </a:p>
        </p:txBody>
      </p:sp>
      <p:sp>
        <p:nvSpPr>
          <p:cNvPr id="23" name="Text 21"/>
          <p:cNvSpPr/>
          <p:nvPr/>
        </p:nvSpPr>
        <p:spPr>
          <a:xfrm>
            <a:off x="9525000" y="3810000"/>
            <a:ext cx="5588000" cy="889000"/>
          </a:xfrm>
          <a:prstGeom prst="rect">
            <a:avLst/>
          </a:prstGeom>
          <a:noFill/>
        </p:spPr>
        <p:txBody>
          <a:bodyPr wrap="square" lIns="0" tIns="0" rIns="0" bIns="0" rtlCol="0" anchor="t"/>
          <a:lstStyle/>
          <a:p>
            <a:pPr>
              <a:lnSpc>
                <a:spcPct val="150000"/>
              </a:lnSpc>
            </a:pPr>
            <a:r>
              <a:rPr lang="en-US" sz="1600" b="1" dirty="0">
                <a:solidFill>
                  <a:srgbClr val="2D3436"/>
                </a:solidFill>
                <a:latin typeface="Quattrocento Sans" panose="020B0502050000020003" pitchFamily="34" charset="0"/>
                <a:ea typeface="Quattrocento Sans" panose="020B0502050000020003" pitchFamily="34" charset="-122"/>
                <a:cs typeface="Quattrocento Sans" panose="020B0502050000020003" pitchFamily="34" charset="-120"/>
              </a:rPr>
              <a:t>传播渠道高度分散</a:t>
            </a:r>
            <a:endParaRPr lang="en-US" sz="1600" dirty="0"/>
          </a:p>
          <a:p>
            <a:pPr>
              <a:lnSpc>
                <a:spcPct val="150000"/>
              </a:lnSpc>
            </a:pPr>
            <a:r>
              <a:rPr lang="en-US" sz="1600" dirty="0">
                <a:solidFill>
                  <a:srgbClr val="2D3436"/>
                </a:solidFill>
                <a:latin typeface="Quattrocento Sans" panose="020B0502050000020003" pitchFamily="34" charset="0"/>
                <a:ea typeface="Quattrocento Sans" panose="020B0502050000020003" pitchFamily="34" charset="-122"/>
                <a:cs typeface="Quattrocento Sans" panose="020B0502050000020003" pitchFamily="34" charset="-120"/>
              </a:rPr>
              <a:t>多平台并行，信息源难以统一管理</a:t>
            </a:r>
            <a:endParaRPr lang="en-US" sz="1600" dirty="0"/>
          </a:p>
        </p:txBody>
      </p:sp>
      <p:sp>
        <p:nvSpPr>
          <p:cNvPr id="24" name="Text 22"/>
          <p:cNvSpPr/>
          <p:nvPr/>
        </p:nvSpPr>
        <p:spPr>
          <a:xfrm>
            <a:off x="8763000" y="4889500"/>
            <a:ext cx="698500" cy="508000"/>
          </a:xfrm>
          <a:prstGeom prst="rect">
            <a:avLst/>
          </a:prstGeom>
          <a:noFill/>
        </p:spPr>
        <p:txBody>
          <a:bodyPr wrap="none" lIns="0" tIns="0" rIns="0" bIns="0" rtlCol="0" anchor="ctr"/>
          <a:lstStyle/>
          <a:p>
            <a:pPr>
              <a:lnSpc>
                <a:spcPct val="100000"/>
              </a:lnSpc>
            </a:pPr>
            <a:r>
              <a:rPr lang="en-US" sz="2800" dirty="0">
                <a:solidFill>
                  <a:srgbClr val="B33939"/>
                </a:solidFill>
                <a:latin typeface="Liter" panose="02000503030000020004" pitchFamily="34" charset="0"/>
                <a:ea typeface="Liter" panose="02000503030000020004" pitchFamily="34" charset="-122"/>
                <a:cs typeface="Liter" panose="02000503030000020004" pitchFamily="34" charset="-120"/>
              </a:rPr>
              <a:t>03</a:t>
            </a:r>
            <a:endParaRPr lang="en-US" sz="1600" dirty="0"/>
          </a:p>
        </p:txBody>
      </p:sp>
      <p:sp>
        <p:nvSpPr>
          <p:cNvPr id="25" name="Text 23"/>
          <p:cNvSpPr/>
          <p:nvPr/>
        </p:nvSpPr>
        <p:spPr>
          <a:xfrm>
            <a:off x="9525000" y="4889500"/>
            <a:ext cx="5588000" cy="889000"/>
          </a:xfrm>
          <a:prstGeom prst="rect">
            <a:avLst/>
          </a:prstGeom>
          <a:noFill/>
        </p:spPr>
        <p:txBody>
          <a:bodyPr wrap="square" lIns="0" tIns="0" rIns="0" bIns="0" rtlCol="0" anchor="t"/>
          <a:lstStyle/>
          <a:p>
            <a:pPr>
              <a:lnSpc>
                <a:spcPct val="150000"/>
              </a:lnSpc>
            </a:pPr>
            <a:r>
              <a:rPr lang="en-US" sz="1600" b="1" dirty="0">
                <a:solidFill>
                  <a:srgbClr val="2D3436"/>
                </a:solidFill>
                <a:latin typeface="Quattrocento Sans" panose="020B0502050000020003" pitchFamily="34" charset="0"/>
                <a:ea typeface="Quattrocento Sans" panose="020B0502050000020003" pitchFamily="34" charset="-122"/>
                <a:cs typeface="Quattrocento Sans" panose="020B0502050000020003" pitchFamily="34" charset="-120"/>
              </a:rPr>
              <a:t>算法推荐精准化</a:t>
            </a:r>
            <a:endParaRPr lang="en-US" sz="1600" dirty="0"/>
          </a:p>
          <a:p>
            <a:pPr>
              <a:lnSpc>
                <a:spcPct val="150000"/>
              </a:lnSpc>
            </a:pPr>
            <a:r>
              <a:rPr lang="en-US" sz="1600" dirty="0">
                <a:solidFill>
                  <a:srgbClr val="2D3436"/>
                </a:solidFill>
                <a:latin typeface="Quattrocento Sans" panose="020B0502050000020003" pitchFamily="34" charset="0"/>
                <a:ea typeface="Quattrocento Sans" panose="020B0502050000020003" pitchFamily="34" charset="-122"/>
                <a:cs typeface="Quattrocento Sans" panose="020B0502050000020003" pitchFamily="34" charset="-120"/>
              </a:rPr>
              <a:t>个性化分发塑造用户信息环境</a:t>
            </a:r>
            <a:endParaRPr lang="en-US" sz="1600" dirty="0"/>
          </a:p>
        </p:txBody>
      </p:sp>
      <p:sp>
        <p:nvSpPr>
          <p:cNvPr id="26" name="Text 24"/>
          <p:cNvSpPr/>
          <p:nvPr/>
        </p:nvSpPr>
        <p:spPr>
          <a:xfrm>
            <a:off x="8763000" y="5969000"/>
            <a:ext cx="698500" cy="508000"/>
          </a:xfrm>
          <a:prstGeom prst="rect">
            <a:avLst/>
          </a:prstGeom>
          <a:noFill/>
        </p:spPr>
        <p:txBody>
          <a:bodyPr wrap="none" lIns="0" tIns="0" rIns="0" bIns="0" rtlCol="0" anchor="ctr"/>
          <a:lstStyle/>
          <a:p>
            <a:pPr>
              <a:lnSpc>
                <a:spcPct val="100000"/>
              </a:lnSpc>
            </a:pPr>
            <a:r>
              <a:rPr lang="en-US" sz="2800" dirty="0">
                <a:solidFill>
                  <a:srgbClr val="B33939"/>
                </a:solidFill>
                <a:latin typeface="Liter" panose="02000503030000020004" pitchFamily="34" charset="0"/>
                <a:ea typeface="Liter" panose="02000503030000020004" pitchFamily="34" charset="-122"/>
                <a:cs typeface="Liter" panose="02000503030000020004" pitchFamily="34" charset="-120"/>
              </a:rPr>
              <a:t>04</a:t>
            </a:r>
            <a:endParaRPr lang="en-US" sz="1600" dirty="0"/>
          </a:p>
        </p:txBody>
      </p:sp>
      <p:sp>
        <p:nvSpPr>
          <p:cNvPr id="27" name="Text 25"/>
          <p:cNvSpPr/>
          <p:nvPr/>
        </p:nvSpPr>
        <p:spPr>
          <a:xfrm>
            <a:off x="9525000" y="5969000"/>
            <a:ext cx="5588000" cy="889000"/>
          </a:xfrm>
          <a:prstGeom prst="rect">
            <a:avLst/>
          </a:prstGeom>
          <a:noFill/>
        </p:spPr>
        <p:txBody>
          <a:bodyPr wrap="square" lIns="0" tIns="0" rIns="0" bIns="0" rtlCol="0" anchor="t"/>
          <a:lstStyle/>
          <a:p>
            <a:pPr>
              <a:lnSpc>
                <a:spcPct val="150000"/>
              </a:lnSpc>
            </a:pPr>
            <a:r>
              <a:rPr lang="en-US" sz="1600" b="1" dirty="0">
                <a:solidFill>
                  <a:srgbClr val="2D3436"/>
                </a:solidFill>
                <a:latin typeface="Quattrocento Sans" panose="020B0502050000020003" pitchFamily="34" charset="0"/>
                <a:ea typeface="Quattrocento Sans" panose="020B0502050000020003" pitchFamily="34" charset="-122"/>
                <a:cs typeface="Quattrocento Sans" panose="020B0502050000020003" pitchFamily="34" charset="-120"/>
              </a:rPr>
              <a:t>信息茧房效应凸显</a:t>
            </a:r>
            <a:endParaRPr lang="en-US" sz="1600" dirty="0"/>
          </a:p>
          <a:p>
            <a:pPr>
              <a:lnSpc>
                <a:spcPct val="150000"/>
              </a:lnSpc>
            </a:pPr>
            <a:r>
              <a:rPr lang="en-US" sz="1600" dirty="0">
                <a:solidFill>
                  <a:srgbClr val="2D3436"/>
                </a:solidFill>
                <a:latin typeface="Quattrocento Sans" panose="020B0502050000020003" pitchFamily="34" charset="0"/>
                <a:ea typeface="Quattrocento Sans" panose="020B0502050000020003" pitchFamily="34" charset="-122"/>
                <a:cs typeface="Quattrocento Sans" panose="020B0502050000020003" pitchFamily="34" charset="-120"/>
              </a:rPr>
              <a:t>用户认知边界被算法悄然固化</a:t>
            </a:r>
            <a:endParaRPr lang="en-US" sz="1600" dirty="0"/>
          </a:p>
        </p:txBody>
      </p:sp>
      <p:sp>
        <p:nvSpPr>
          <p:cNvPr id="28" name="Shape 26"/>
          <p:cNvSpPr/>
          <p:nvPr/>
        </p:nvSpPr>
        <p:spPr>
          <a:xfrm>
            <a:off x="8763000" y="7239000"/>
            <a:ext cx="6350000" cy="635000"/>
          </a:xfrm>
          <a:prstGeom prst="rect">
            <a:avLst/>
          </a:prstGeom>
          <a:solidFill>
            <a:srgbClr val="ECEFF1"/>
          </a:solidFill>
        </p:spPr>
      </p:sp>
      <p:sp>
        <p:nvSpPr>
          <p:cNvPr id="29" name="Text 27"/>
          <p:cNvSpPr/>
          <p:nvPr/>
        </p:nvSpPr>
        <p:spPr>
          <a:xfrm>
            <a:off x="9017000" y="7239000"/>
            <a:ext cx="5842000" cy="635000"/>
          </a:xfrm>
          <a:prstGeom prst="rect">
            <a:avLst/>
          </a:prstGeom>
          <a:noFill/>
        </p:spPr>
        <p:txBody>
          <a:bodyPr wrap="square" lIns="0" tIns="0" rIns="0" bIns="0" rtlCol="0" anchor="ctr"/>
          <a:lstStyle/>
          <a:p>
            <a:pPr>
              <a:lnSpc>
                <a:spcPct val="100000"/>
              </a:lnSpc>
            </a:pPr>
            <a:r>
              <a:rPr lang="en-US" sz="1500" b="1" dirty="0">
                <a:solidFill>
                  <a:srgbClr val="2D3436"/>
                </a:solidFill>
                <a:latin typeface="Quattrocento Sans" panose="020B0502050000020003" pitchFamily="34" charset="0"/>
                <a:ea typeface="Quattrocento Sans" panose="020B0502050000020003" pitchFamily="34" charset="-122"/>
                <a:cs typeface="Quattrocento Sans" panose="020B0502050000020003" pitchFamily="34" charset="-120"/>
              </a:rPr>
              <a:t>核心挑战：</a:t>
            </a:r>
            <a:r>
              <a:rPr lang="en-US" sz="1500" dirty="0">
                <a:solidFill>
                  <a:srgbClr val="2D3436"/>
                </a:solidFill>
                <a:latin typeface="Quattrocento Sans" panose="020B0502050000020003" pitchFamily="34" charset="0"/>
                <a:ea typeface="Quattrocento Sans" panose="020B0502050000020003" pitchFamily="34" charset="-122"/>
                <a:cs typeface="Quattrocento Sans" panose="020B0502050000020003" pitchFamily="34" charset="-120"/>
              </a:rPr>
              <a:t>技术变革正在重塑信息传播格局，意识形态引导面临前所未有的复杂环境</a:t>
            </a:r>
            <a:endParaRPr lang="en-US" sz="1600" dirty="0"/>
          </a:p>
        </p:txBody>
      </p:sp>
      <p:sp>
        <p:nvSpPr>
          <p:cNvPr id="30" name="Text 28"/>
          <p:cNvSpPr/>
          <p:nvPr/>
        </p:nvSpPr>
        <p:spPr>
          <a:xfrm>
            <a:off x="15240000" y="8763000"/>
            <a:ext cx="635000" cy="254000"/>
          </a:xfrm>
          <a:prstGeom prst="rect">
            <a:avLst/>
          </a:prstGeom>
          <a:noFill/>
        </p:spPr>
        <p:txBody>
          <a:bodyPr wrap="none" lIns="0" tIns="0" rIns="0" bIns="0" rtlCol="0" anchor="ctr"/>
          <a:lstStyle/>
          <a:p>
            <a:pPr algn="r">
              <a:lnSpc>
                <a:spcPct val="140000"/>
              </a:lnSpc>
            </a:pPr>
            <a:r>
              <a:rPr lang="en-US" sz="1400" dirty="0">
                <a:solidFill>
                  <a:srgbClr val="636E72"/>
                </a:solidFill>
                <a:latin typeface="QuattrocentoSans" panose="020B0502050000020003" pitchFamily="34" charset="0"/>
                <a:ea typeface="QuattrocentoSans" panose="020B0502050000020003" pitchFamily="34" charset="-122"/>
                <a:cs typeface="QuattrocentoSans" panose="020B0502050000020003" pitchFamily="34" charset="-120"/>
              </a:rPr>
              <a:t>04</a:t>
            </a:r>
            <a:endParaRPr lang="en-US" sz="14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7"/>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2D3436"/>
          </a:solidFill>
        </p:spPr>
      </p:sp>
      <p:sp>
        <p:nvSpPr>
          <p:cNvPr id="3" name="Text 1"/>
          <p:cNvSpPr/>
          <p:nvPr/>
        </p:nvSpPr>
        <p:spPr>
          <a:xfrm>
            <a:off x="0" y="0"/>
            <a:ext cx="4064000" cy="508000"/>
          </a:xfrm>
          <a:prstGeom prst="rect">
            <a:avLst/>
          </a:prstGeom>
          <a:noFill/>
        </p:spPr>
        <p:txBody>
          <a:bodyPr wrap="none" lIns="0" tIns="0" rIns="0" bIns="0" rtlCol="0" anchor="ctr"/>
          <a:lstStyle/>
          <a:p>
            <a:pPr algn="ctr">
              <a:lnSpc>
                <a:spcPct val="100000"/>
              </a:lnSpc>
            </a:pPr>
            <a:r>
              <a:rPr lang="en-US" sz="1300" dirty="0">
                <a:solidFill>
                  <a:srgbClr val="F5F6F7"/>
                </a:solidFill>
                <a:latin typeface="QuattrocentoSans" panose="020B0502050000020003" pitchFamily="34" charset="0"/>
                <a:ea typeface="QuattrocentoSans" panose="020B0502050000020003" pitchFamily="34" charset="-122"/>
                <a:cs typeface="QuattrocentoSans" panose="020B0502050000020003" pitchFamily="34" charset="-120"/>
              </a:rPr>
              <a:t>项目背景与意义</a:t>
            </a:r>
            <a:endParaRPr lang="en-US" sz="1300" dirty="0"/>
          </a:p>
        </p:txBody>
      </p:sp>
      <p:sp>
        <p:nvSpPr>
          <p:cNvPr id="4" name="Shape 2"/>
          <p:cNvSpPr/>
          <p:nvPr/>
        </p:nvSpPr>
        <p:spPr>
          <a:xfrm>
            <a:off x="762000" y="520700"/>
            <a:ext cx="2540000" cy="38100"/>
          </a:xfrm>
          <a:prstGeom prst="rect">
            <a:avLst/>
          </a:prstGeom>
          <a:solidFill>
            <a:srgbClr val="B33939"/>
          </a:solidFill>
        </p:spPr>
      </p:sp>
      <p:sp>
        <p:nvSpPr>
          <p:cNvPr id="5" name="Text 3"/>
          <p:cNvSpPr/>
          <p:nvPr/>
        </p:nvSpPr>
        <p:spPr>
          <a:xfrm>
            <a:off x="4064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项目进展</a:t>
            </a:r>
            <a:endParaRPr lang="en-US" sz="1300" dirty="0"/>
          </a:p>
        </p:txBody>
      </p:sp>
      <p:sp>
        <p:nvSpPr>
          <p:cNvPr id="6" name="Text 4"/>
          <p:cNvSpPr/>
          <p:nvPr/>
        </p:nvSpPr>
        <p:spPr>
          <a:xfrm>
            <a:off x="8128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成果汇总</a:t>
            </a:r>
            <a:endParaRPr lang="en-US" sz="1300" dirty="0"/>
          </a:p>
        </p:txBody>
      </p:sp>
      <p:sp>
        <p:nvSpPr>
          <p:cNvPr id="7" name="Text 5"/>
          <p:cNvSpPr/>
          <p:nvPr/>
        </p:nvSpPr>
        <p:spPr>
          <a:xfrm>
            <a:off x="12192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未来计划</a:t>
            </a:r>
            <a:endParaRPr lang="en-US" sz="1300" dirty="0"/>
          </a:p>
        </p:txBody>
      </p:sp>
      <p:sp>
        <p:nvSpPr>
          <p:cNvPr id="8" name="Text 6"/>
          <p:cNvSpPr/>
          <p:nvPr/>
        </p:nvSpPr>
        <p:spPr>
          <a:xfrm>
            <a:off x="762000" y="736600"/>
            <a:ext cx="8890000" cy="508000"/>
          </a:xfrm>
          <a:prstGeom prst="rect">
            <a:avLst/>
          </a:prstGeom>
          <a:noFill/>
        </p:spPr>
        <p:txBody>
          <a:bodyPr wrap="none" lIns="0" tIns="0" rIns="0" bIns="0" rtlCol="0" anchor="ctr"/>
          <a:lstStyle/>
          <a:p>
            <a:pPr>
              <a:lnSpc>
                <a:spcPct val="100000"/>
              </a:lnSpc>
            </a:pPr>
            <a:r>
              <a:rPr lang="en-US" sz="2800" dirty="0">
                <a:solidFill>
                  <a:srgbClr val="2D3436"/>
                </a:solidFill>
                <a:latin typeface="Liter" panose="02000503030000020004" pitchFamily="34" charset="0"/>
                <a:ea typeface="Liter" panose="02000503030000020004" pitchFamily="34" charset="-122"/>
                <a:cs typeface="Liter" panose="02000503030000020004" pitchFamily="34" charset="-120"/>
              </a:rPr>
              <a:t>项目研究意义</a:t>
            </a:r>
            <a:endParaRPr lang="en-US" sz="2800" dirty="0"/>
          </a:p>
        </p:txBody>
      </p:sp>
      <p:sp>
        <p:nvSpPr>
          <p:cNvPr id="9" name="Shape 7"/>
          <p:cNvSpPr/>
          <p:nvPr/>
        </p:nvSpPr>
        <p:spPr>
          <a:xfrm>
            <a:off x="762000" y="1308100"/>
            <a:ext cx="635000" cy="38100"/>
          </a:xfrm>
          <a:prstGeom prst="rect">
            <a:avLst/>
          </a:prstGeom>
          <a:solidFill>
            <a:srgbClr val="B33939"/>
          </a:solidFill>
        </p:spPr>
      </p:sp>
      <p:sp>
        <p:nvSpPr>
          <p:cNvPr id="10" name="Shape 8"/>
          <p:cNvSpPr/>
          <p:nvPr/>
        </p:nvSpPr>
        <p:spPr>
          <a:xfrm>
            <a:off x="762000" y="1714500"/>
            <a:ext cx="7048500" cy="6413500"/>
          </a:xfrm>
          <a:prstGeom prst="rect">
            <a:avLst/>
          </a:prstGeom>
          <a:solidFill>
            <a:srgbClr val="FFFFFF"/>
          </a:solidFill>
          <a:effectLst>
            <a:outerShdw blurRad="203200" dist="50800" dir="5400000" algn="bl" rotWithShape="0">
              <a:srgbClr val="000000">
                <a:alpha val="3922"/>
              </a:srgbClr>
            </a:outerShdw>
          </a:effectLst>
        </p:spPr>
      </p:sp>
      <p:sp>
        <p:nvSpPr>
          <p:cNvPr id="11" name="Shape 9"/>
          <p:cNvSpPr/>
          <p:nvPr/>
        </p:nvSpPr>
        <p:spPr>
          <a:xfrm>
            <a:off x="762000" y="1714500"/>
            <a:ext cx="7048500" cy="63500"/>
          </a:xfrm>
          <a:prstGeom prst="rect">
            <a:avLst/>
          </a:prstGeom>
          <a:solidFill>
            <a:srgbClr val="B33939"/>
          </a:solidFill>
        </p:spPr>
      </p:sp>
      <p:sp>
        <p:nvSpPr>
          <p:cNvPr id="12" name="Shape 10"/>
          <p:cNvSpPr/>
          <p:nvPr/>
        </p:nvSpPr>
        <p:spPr>
          <a:xfrm>
            <a:off x="1143000" y="2159000"/>
            <a:ext cx="457200" cy="457200"/>
          </a:xfrm>
          <a:custGeom>
            <a:avLst/>
            <a:gdLst/>
            <a:ahLst/>
            <a:cxnLst/>
            <a:rect l="l" t="t" r="r" b="b"/>
            <a:pathLst>
              <a:path w="457200" h="457200">
                <a:moveTo>
                  <a:pt x="228600" y="126176"/>
                </a:moveTo>
                <a:lnTo>
                  <a:pt x="228600" y="402372"/>
                </a:lnTo>
                <a:lnTo>
                  <a:pt x="229046" y="402193"/>
                </a:lnTo>
                <a:cubicBezTo>
                  <a:pt x="277803" y="381923"/>
                  <a:pt x="330131" y="371475"/>
                  <a:pt x="382905" y="371475"/>
                </a:cubicBezTo>
                <a:lnTo>
                  <a:pt x="400050" y="371475"/>
                </a:lnTo>
                <a:lnTo>
                  <a:pt x="400050" y="85725"/>
                </a:lnTo>
                <a:lnTo>
                  <a:pt x="382905" y="85725"/>
                </a:lnTo>
                <a:cubicBezTo>
                  <a:pt x="345222" y="85725"/>
                  <a:pt x="307806" y="93226"/>
                  <a:pt x="272981" y="107692"/>
                </a:cubicBezTo>
                <a:cubicBezTo>
                  <a:pt x="257979" y="113943"/>
                  <a:pt x="243155" y="120104"/>
                  <a:pt x="228600" y="126176"/>
                </a:cubicBezTo>
                <a:close/>
                <a:moveTo>
                  <a:pt x="206186" y="54918"/>
                </a:moveTo>
                <a:lnTo>
                  <a:pt x="228600" y="64294"/>
                </a:lnTo>
                <a:lnTo>
                  <a:pt x="251014" y="54918"/>
                </a:lnTo>
                <a:cubicBezTo>
                  <a:pt x="292804" y="37505"/>
                  <a:pt x="337631" y="28575"/>
                  <a:pt x="382905" y="28575"/>
                </a:cubicBezTo>
                <a:lnTo>
                  <a:pt x="414338" y="28575"/>
                </a:lnTo>
                <a:cubicBezTo>
                  <a:pt x="438001" y="28575"/>
                  <a:pt x="457200" y="47774"/>
                  <a:pt x="457200" y="71438"/>
                </a:cubicBezTo>
                <a:lnTo>
                  <a:pt x="457200" y="385763"/>
                </a:lnTo>
                <a:cubicBezTo>
                  <a:pt x="457200" y="409426"/>
                  <a:pt x="438001" y="428625"/>
                  <a:pt x="414338" y="428625"/>
                </a:cubicBezTo>
                <a:lnTo>
                  <a:pt x="382905" y="428625"/>
                </a:lnTo>
                <a:cubicBezTo>
                  <a:pt x="337631" y="428625"/>
                  <a:pt x="292804" y="437555"/>
                  <a:pt x="251014" y="454968"/>
                </a:cubicBezTo>
                <a:lnTo>
                  <a:pt x="239584" y="459700"/>
                </a:lnTo>
                <a:cubicBezTo>
                  <a:pt x="232529" y="462647"/>
                  <a:pt x="224671" y="462647"/>
                  <a:pt x="217616" y="459700"/>
                </a:cubicBezTo>
                <a:lnTo>
                  <a:pt x="206186" y="454968"/>
                </a:lnTo>
                <a:cubicBezTo>
                  <a:pt x="164396" y="437555"/>
                  <a:pt x="119569" y="428625"/>
                  <a:pt x="74295" y="428625"/>
                </a:cubicBezTo>
                <a:lnTo>
                  <a:pt x="42863" y="428625"/>
                </a:lnTo>
                <a:cubicBezTo>
                  <a:pt x="19199" y="428625"/>
                  <a:pt x="0" y="409426"/>
                  <a:pt x="0" y="385763"/>
                </a:cubicBezTo>
                <a:lnTo>
                  <a:pt x="0" y="71438"/>
                </a:lnTo>
                <a:cubicBezTo>
                  <a:pt x="0" y="47774"/>
                  <a:pt x="19199" y="28575"/>
                  <a:pt x="42863" y="28575"/>
                </a:cubicBezTo>
                <a:lnTo>
                  <a:pt x="74295" y="28575"/>
                </a:lnTo>
                <a:cubicBezTo>
                  <a:pt x="119569" y="28575"/>
                  <a:pt x="164396" y="37505"/>
                  <a:pt x="206186" y="54918"/>
                </a:cubicBezTo>
                <a:close/>
              </a:path>
            </a:pathLst>
          </a:custGeom>
          <a:solidFill>
            <a:srgbClr val="B33939"/>
          </a:solidFill>
        </p:spPr>
      </p:sp>
      <p:sp>
        <p:nvSpPr>
          <p:cNvPr id="13" name="Text 11"/>
          <p:cNvSpPr/>
          <p:nvPr/>
        </p:nvSpPr>
        <p:spPr>
          <a:xfrm>
            <a:off x="1778000" y="2159000"/>
            <a:ext cx="2540000" cy="457200"/>
          </a:xfrm>
          <a:prstGeom prst="rect">
            <a:avLst/>
          </a:prstGeom>
          <a:noFill/>
        </p:spPr>
        <p:txBody>
          <a:bodyPr wrap="none" lIns="0" tIns="0" rIns="0" bIns="0" rtlCol="0" anchor="ctr"/>
          <a:lstStyle/>
          <a:p>
            <a:pPr>
              <a:lnSpc>
                <a:spcPct val="100000"/>
              </a:lnSpc>
            </a:pPr>
            <a:r>
              <a:rPr lang="en-US" sz="1400" kern="0" spc="300" dirty="0">
                <a:solidFill>
                  <a:srgbClr val="B33939"/>
                </a:solidFill>
                <a:latin typeface="Liter" panose="02000503030000020004" pitchFamily="34" charset="0"/>
                <a:ea typeface="Liter" panose="02000503030000020004" pitchFamily="34" charset="-122"/>
                <a:cs typeface="Liter" panose="02000503030000020004" pitchFamily="34" charset="-120"/>
              </a:rPr>
              <a:t>理论意义</a:t>
            </a:r>
            <a:endParaRPr lang="en-US" sz="1600" dirty="0"/>
          </a:p>
        </p:txBody>
      </p:sp>
      <p:sp>
        <p:nvSpPr>
          <p:cNvPr id="14" name="Text 12"/>
          <p:cNvSpPr/>
          <p:nvPr/>
        </p:nvSpPr>
        <p:spPr>
          <a:xfrm>
            <a:off x="1143000" y="2857500"/>
            <a:ext cx="6286500" cy="444500"/>
          </a:xfrm>
          <a:prstGeom prst="rect">
            <a:avLst/>
          </a:prstGeom>
          <a:noFill/>
        </p:spPr>
        <p:txBody>
          <a:bodyPr wrap="none" lIns="0" tIns="0" rIns="0" bIns="0" rtlCol="0" anchor="ctr"/>
          <a:lstStyle/>
          <a:p>
            <a:pPr>
              <a:lnSpc>
                <a:spcPct val="100000"/>
              </a:lnSpc>
            </a:pPr>
            <a:r>
              <a:rPr lang="en-US" sz="2200" dirty="0">
                <a:solidFill>
                  <a:srgbClr val="2D3436"/>
                </a:solidFill>
                <a:latin typeface="Liter" panose="02000503030000020004" pitchFamily="34" charset="0"/>
                <a:ea typeface="Liter" panose="02000503030000020004" pitchFamily="34" charset="-122"/>
                <a:cs typeface="Liter" panose="02000503030000020004" pitchFamily="34" charset="-120"/>
              </a:rPr>
              <a:t>系统分析新技术对意识形态引导的影响</a:t>
            </a:r>
            <a:endParaRPr lang="en-US" sz="1600" dirty="0"/>
          </a:p>
        </p:txBody>
      </p:sp>
      <p:sp>
        <p:nvSpPr>
          <p:cNvPr id="15" name="Shape 13"/>
          <p:cNvSpPr/>
          <p:nvPr/>
        </p:nvSpPr>
        <p:spPr>
          <a:xfrm>
            <a:off x="1143000" y="3454400"/>
            <a:ext cx="6286500" cy="12700"/>
          </a:xfrm>
          <a:prstGeom prst="rect">
            <a:avLst/>
          </a:prstGeom>
          <a:solidFill>
            <a:srgbClr val="D5DBDB"/>
          </a:solidFill>
        </p:spPr>
      </p:sp>
      <p:sp>
        <p:nvSpPr>
          <p:cNvPr id="16" name="Text 14"/>
          <p:cNvSpPr/>
          <p:nvPr/>
        </p:nvSpPr>
        <p:spPr>
          <a:xfrm>
            <a:off x="1143000" y="3683000"/>
            <a:ext cx="6286500" cy="4064000"/>
          </a:xfrm>
          <a:prstGeom prst="rect">
            <a:avLst/>
          </a:prstGeom>
          <a:noFill/>
        </p:spPr>
        <p:txBody>
          <a:bodyPr wrap="square" lIns="0" tIns="0" rIns="0" bIns="0" rtlCol="0" anchor="t"/>
          <a:lstStyle/>
          <a:p>
            <a:pPr>
              <a:lnSpc>
                <a:spcPct val="160000"/>
              </a:lnSpc>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本项目深入分析</a:t>
            </a:r>
            <a:r>
              <a:rPr lang="en-US" sz="1800" b="1"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新媒体技术与受众行为变化</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对意识形态传播的多维影响机制，致力于：</a:t>
            </a:r>
            <a:endParaRPr lang="en-US" sz="1800" dirty="0"/>
          </a:p>
          <a:p>
            <a:pPr>
              <a:lnSpc>
                <a:spcPct val="160000"/>
              </a:lnSpc>
              <a:spcBef>
                <a:spcPts val="1200"/>
              </a:spcBef>
            </a:pPr>
            <a:r>
              <a:rPr lang="en-US" sz="1800"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揭示算法推荐环境下信息传播的规律与特征</a:t>
            </a:r>
            <a:endParaRPr lang="en-US" sz="1800" dirty="0"/>
          </a:p>
          <a:p>
            <a:pPr>
              <a:lnSpc>
                <a:spcPct val="160000"/>
              </a:lnSpc>
              <a:spcBef>
                <a:spcPts val="800"/>
              </a:spcBef>
            </a:pPr>
            <a:r>
              <a:rPr lang="en-US" sz="1800"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解构"信息茧房""数字泔水"等新型传播效应的形成机理</a:t>
            </a:r>
            <a:endParaRPr lang="en-US" sz="1800" dirty="0"/>
          </a:p>
          <a:p>
            <a:pPr>
              <a:lnSpc>
                <a:spcPct val="160000"/>
              </a:lnSpc>
              <a:spcBef>
                <a:spcPts val="800"/>
              </a:spcBef>
            </a:pPr>
            <a:r>
              <a:rPr lang="en-US" sz="1800"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构建算法时代意识形态传播的理论分析框架</a:t>
            </a:r>
            <a:endParaRPr lang="en-US" sz="1800" dirty="0"/>
          </a:p>
          <a:p>
            <a:pPr>
              <a:lnSpc>
                <a:spcPct val="160000"/>
              </a:lnSpc>
              <a:spcBef>
                <a:spcPts val="800"/>
              </a:spcBef>
            </a:pPr>
            <a:r>
              <a:rPr lang="en-US" sz="1800"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提出兼具创新性与可行性的优化方案</a:t>
            </a:r>
            <a:endParaRPr lang="en-US" sz="1800" dirty="0"/>
          </a:p>
        </p:txBody>
      </p:sp>
      <p:sp>
        <p:nvSpPr>
          <p:cNvPr id="17" name="Shape 15"/>
          <p:cNvSpPr/>
          <p:nvPr/>
        </p:nvSpPr>
        <p:spPr>
          <a:xfrm>
            <a:off x="8445500" y="1714500"/>
            <a:ext cx="7048500" cy="6413500"/>
          </a:xfrm>
          <a:prstGeom prst="rect">
            <a:avLst/>
          </a:prstGeom>
          <a:solidFill>
            <a:srgbClr val="FFFFFF"/>
          </a:solidFill>
          <a:effectLst>
            <a:outerShdw blurRad="203200" dist="50800" dir="5400000" algn="bl" rotWithShape="0">
              <a:srgbClr val="000000">
                <a:alpha val="3922"/>
              </a:srgbClr>
            </a:outerShdw>
          </a:effectLst>
        </p:spPr>
      </p:sp>
      <p:sp>
        <p:nvSpPr>
          <p:cNvPr id="18" name="Shape 16"/>
          <p:cNvSpPr/>
          <p:nvPr/>
        </p:nvSpPr>
        <p:spPr>
          <a:xfrm>
            <a:off x="8445500" y="1714500"/>
            <a:ext cx="7048500" cy="63500"/>
          </a:xfrm>
          <a:prstGeom prst="rect">
            <a:avLst/>
          </a:prstGeom>
          <a:solidFill>
            <a:srgbClr val="2D3436"/>
          </a:solidFill>
        </p:spPr>
      </p:sp>
      <p:sp>
        <p:nvSpPr>
          <p:cNvPr id="19" name="Shape 17"/>
          <p:cNvSpPr/>
          <p:nvPr/>
        </p:nvSpPr>
        <p:spPr>
          <a:xfrm>
            <a:off x="8826500" y="2159000"/>
            <a:ext cx="457200" cy="457200"/>
          </a:xfrm>
          <a:custGeom>
            <a:avLst/>
            <a:gdLst/>
            <a:ahLst/>
            <a:cxnLst/>
            <a:rect l="l" t="t" r="r" b="b"/>
            <a:pathLst>
              <a:path w="457200" h="457200">
                <a:moveTo>
                  <a:pt x="213152" y="4554"/>
                </a:moveTo>
                <a:cubicBezTo>
                  <a:pt x="222528" y="-1518"/>
                  <a:pt x="234672" y="-1518"/>
                  <a:pt x="244048" y="4554"/>
                </a:cubicBezTo>
                <a:lnTo>
                  <a:pt x="444073" y="133142"/>
                </a:lnTo>
                <a:cubicBezTo>
                  <a:pt x="454700" y="140017"/>
                  <a:pt x="459611" y="153055"/>
                  <a:pt x="456039" y="165199"/>
                </a:cubicBezTo>
                <a:cubicBezTo>
                  <a:pt x="452467" y="177344"/>
                  <a:pt x="441305" y="185738"/>
                  <a:pt x="428625" y="185738"/>
                </a:cubicBezTo>
                <a:lnTo>
                  <a:pt x="400050" y="185738"/>
                </a:lnTo>
                <a:lnTo>
                  <a:pt x="400050" y="371475"/>
                </a:lnTo>
                <a:lnTo>
                  <a:pt x="445770" y="405765"/>
                </a:lnTo>
                <a:cubicBezTo>
                  <a:pt x="453003" y="411123"/>
                  <a:pt x="457200" y="419606"/>
                  <a:pt x="457200" y="428625"/>
                </a:cubicBezTo>
                <a:cubicBezTo>
                  <a:pt x="457200" y="444431"/>
                  <a:pt x="444431" y="457200"/>
                  <a:pt x="428625" y="457200"/>
                </a:cubicBezTo>
                <a:lnTo>
                  <a:pt x="28575" y="457200"/>
                </a:lnTo>
                <a:cubicBezTo>
                  <a:pt x="12769" y="457200"/>
                  <a:pt x="0" y="444431"/>
                  <a:pt x="0" y="428625"/>
                </a:cubicBezTo>
                <a:cubicBezTo>
                  <a:pt x="0" y="419606"/>
                  <a:pt x="4197" y="411123"/>
                  <a:pt x="11430" y="405765"/>
                </a:cubicBezTo>
                <a:lnTo>
                  <a:pt x="57150" y="371475"/>
                </a:lnTo>
                <a:lnTo>
                  <a:pt x="57150" y="371475"/>
                </a:lnTo>
                <a:lnTo>
                  <a:pt x="57150" y="185738"/>
                </a:lnTo>
                <a:lnTo>
                  <a:pt x="28575" y="185738"/>
                </a:lnTo>
                <a:cubicBezTo>
                  <a:pt x="15895" y="185738"/>
                  <a:pt x="4733" y="177344"/>
                  <a:pt x="1161" y="165199"/>
                </a:cubicBezTo>
                <a:cubicBezTo>
                  <a:pt x="-2411" y="153055"/>
                  <a:pt x="2500" y="139928"/>
                  <a:pt x="13127" y="133142"/>
                </a:cubicBezTo>
                <a:lnTo>
                  <a:pt x="213152" y="4554"/>
                </a:lnTo>
                <a:close/>
                <a:moveTo>
                  <a:pt x="300038" y="185738"/>
                </a:moveTo>
                <a:lnTo>
                  <a:pt x="300038" y="371475"/>
                </a:lnTo>
                <a:lnTo>
                  <a:pt x="357188" y="371475"/>
                </a:lnTo>
                <a:lnTo>
                  <a:pt x="357188" y="185738"/>
                </a:lnTo>
                <a:lnTo>
                  <a:pt x="300038" y="185738"/>
                </a:lnTo>
                <a:close/>
                <a:moveTo>
                  <a:pt x="200025" y="371475"/>
                </a:moveTo>
                <a:lnTo>
                  <a:pt x="257175" y="371475"/>
                </a:lnTo>
                <a:lnTo>
                  <a:pt x="257175" y="185738"/>
                </a:lnTo>
                <a:lnTo>
                  <a:pt x="200025" y="185738"/>
                </a:lnTo>
                <a:lnTo>
                  <a:pt x="200025" y="371475"/>
                </a:lnTo>
                <a:close/>
                <a:moveTo>
                  <a:pt x="100013" y="185738"/>
                </a:moveTo>
                <a:lnTo>
                  <a:pt x="100013" y="371475"/>
                </a:lnTo>
                <a:lnTo>
                  <a:pt x="157163" y="371475"/>
                </a:lnTo>
                <a:lnTo>
                  <a:pt x="157163" y="185738"/>
                </a:lnTo>
                <a:lnTo>
                  <a:pt x="100013" y="185738"/>
                </a:lnTo>
                <a:close/>
              </a:path>
            </a:pathLst>
          </a:custGeom>
          <a:solidFill>
            <a:srgbClr val="2D3436"/>
          </a:solidFill>
        </p:spPr>
      </p:sp>
      <p:sp>
        <p:nvSpPr>
          <p:cNvPr id="20" name="Text 18"/>
          <p:cNvSpPr/>
          <p:nvPr/>
        </p:nvSpPr>
        <p:spPr>
          <a:xfrm>
            <a:off x="9461500" y="2159000"/>
            <a:ext cx="2540000" cy="457200"/>
          </a:xfrm>
          <a:prstGeom prst="rect">
            <a:avLst/>
          </a:prstGeom>
          <a:noFill/>
        </p:spPr>
        <p:txBody>
          <a:bodyPr wrap="none" lIns="0" tIns="0" rIns="0" bIns="0" rtlCol="0" anchor="ctr"/>
          <a:lstStyle/>
          <a:p>
            <a:pPr>
              <a:lnSpc>
                <a:spcPct val="100000"/>
              </a:lnSpc>
            </a:pPr>
            <a:r>
              <a:rPr lang="en-US" sz="1400" kern="0" spc="300" dirty="0">
                <a:solidFill>
                  <a:srgbClr val="2D3436"/>
                </a:solidFill>
                <a:latin typeface="Liter" panose="02000503030000020004" pitchFamily="34" charset="0"/>
                <a:ea typeface="Liter" panose="02000503030000020004" pitchFamily="34" charset="-122"/>
                <a:cs typeface="Liter" panose="02000503030000020004" pitchFamily="34" charset="-120"/>
              </a:rPr>
              <a:t>实践意义</a:t>
            </a:r>
            <a:endParaRPr lang="en-US" sz="1600" dirty="0"/>
          </a:p>
        </p:txBody>
      </p:sp>
      <p:sp>
        <p:nvSpPr>
          <p:cNvPr id="21" name="Text 19"/>
          <p:cNvSpPr/>
          <p:nvPr/>
        </p:nvSpPr>
        <p:spPr>
          <a:xfrm>
            <a:off x="8826500" y="2857500"/>
            <a:ext cx="6286500" cy="444500"/>
          </a:xfrm>
          <a:prstGeom prst="rect">
            <a:avLst/>
          </a:prstGeom>
          <a:noFill/>
        </p:spPr>
        <p:txBody>
          <a:bodyPr wrap="none" lIns="0" tIns="0" rIns="0" bIns="0" rtlCol="0" anchor="ctr"/>
          <a:lstStyle/>
          <a:p>
            <a:pPr>
              <a:lnSpc>
                <a:spcPct val="100000"/>
              </a:lnSpc>
            </a:pPr>
            <a:r>
              <a:rPr lang="en-US" sz="2200" dirty="0">
                <a:solidFill>
                  <a:srgbClr val="2D3436"/>
                </a:solidFill>
                <a:latin typeface="Liter" panose="02000503030000020004" pitchFamily="34" charset="0"/>
                <a:ea typeface="Liter" panose="02000503030000020004" pitchFamily="34" charset="-122"/>
                <a:cs typeface="Liter" panose="02000503030000020004" pitchFamily="34" charset="-120"/>
              </a:rPr>
              <a:t>为政府部门提供理论支撑与政策参考</a:t>
            </a:r>
            <a:endParaRPr lang="en-US" sz="1600" dirty="0"/>
          </a:p>
        </p:txBody>
      </p:sp>
      <p:sp>
        <p:nvSpPr>
          <p:cNvPr id="22" name="Shape 20"/>
          <p:cNvSpPr/>
          <p:nvPr/>
        </p:nvSpPr>
        <p:spPr>
          <a:xfrm>
            <a:off x="8826500" y="3454400"/>
            <a:ext cx="6286500" cy="12700"/>
          </a:xfrm>
          <a:prstGeom prst="rect">
            <a:avLst/>
          </a:prstGeom>
          <a:solidFill>
            <a:srgbClr val="D5DBDB"/>
          </a:solidFill>
        </p:spPr>
      </p:sp>
      <p:sp>
        <p:nvSpPr>
          <p:cNvPr id="23" name="Text 21"/>
          <p:cNvSpPr/>
          <p:nvPr/>
        </p:nvSpPr>
        <p:spPr>
          <a:xfrm>
            <a:off x="8826500" y="3683000"/>
            <a:ext cx="6286500" cy="4064000"/>
          </a:xfrm>
          <a:prstGeom prst="rect">
            <a:avLst/>
          </a:prstGeom>
          <a:noFill/>
        </p:spPr>
        <p:txBody>
          <a:bodyPr wrap="square" lIns="0" tIns="0" rIns="0" bIns="0" rtlCol="0" anchor="t"/>
          <a:lstStyle/>
          <a:p>
            <a:pPr>
              <a:lnSpc>
                <a:spcPct val="160000"/>
              </a:lnSpc>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研究成果将直接服务于</a:t>
            </a:r>
            <a:r>
              <a:rPr lang="en-US" sz="1800" b="1"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政府相关部门</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，助力新时代思想政治工作在数字化环境下更有效开展：</a:t>
            </a:r>
            <a:endParaRPr lang="en-US" sz="1800" dirty="0"/>
          </a:p>
          <a:p>
            <a:pPr>
              <a:lnSpc>
                <a:spcPct val="160000"/>
              </a:lnSpc>
              <a:spcBef>
                <a:spcPts val="1200"/>
              </a:spcBef>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为政策制定提供学理依据和数据支撑</a:t>
            </a:r>
            <a:endParaRPr lang="en-US" sz="1800" dirty="0"/>
          </a:p>
          <a:p>
            <a:pPr>
              <a:lnSpc>
                <a:spcPct val="160000"/>
              </a:lnSpc>
              <a:spcBef>
                <a:spcPts val="800"/>
              </a:spcBef>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为基层宣传工作提供可操作的方法论指导</a:t>
            </a:r>
            <a:endParaRPr lang="en-US" sz="1800" dirty="0"/>
          </a:p>
          <a:p>
            <a:pPr>
              <a:lnSpc>
                <a:spcPct val="160000"/>
              </a:lnSpc>
              <a:spcBef>
                <a:spcPts val="800"/>
              </a:spcBef>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为舆情监测和应对机制建设提供参考</a:t>
            </a:r>
            <a:endParaRPr lang="en-US" sz="1800" dirty="0"/>
          </a:p>
          <a:p>
            <a:pPr>
              <a:lnSpc>
                <a:spcPct val="160000"/>
              </a:lnSpc>
              <a:spcBef>
                <a:spcPts val="800"/>
              </a:spcBef>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推动思想政治工作的数字化转型与创新</a:t>
            </a:r>
            <a:endParaRPr lang="en-US" sz="1800" dirty="0"/>
          </a:p>
        </p:txBody>
      </p:sp>
      <p:sp>
        <p:nvSpPr>
          <p:cNvPr id="24" name="Text 22"/>
          <p:cNvSpPr/>
          <p:nvPr/>
        </p:nvSpPr>
        <p:spPr>
          <a:xfrm>
            <a:off x="15240000" y="8763000"/>
            <a:ext cx="635000" cy="254000"/>
          </a:xfrm>
          <a:prstGeom prst="rect">
            <a:avLst/>
          </a:prstGeom>
          <a:noFill/>
        </p:spPr>
        <p:txBody>
          <a:bodyPr wrap="none" lIns="0" tIns="0" rIns="0" bIns="0" rtlCol="0" anchor="ctr"/>
          <a:lstStyle/>
          <a:p>
            <a:pPr algn="r">
              <a:lnSpc>
                <a:spcPct val="140000"/>
              </a:lnSpc>
            </a:pPr>
            <a:r>
              <a:rPr lang="en-US" sz="1400" dirty="0">
                <a:solidFill>
                  <a:srgbClr val="636E72"/>
                </a:solidFill>
                <a:latin typeface="QuattrocentoSans" panose="020B0502050000020003" pitchFamily="34" charset="0"/>
                <a:ea typeface="QuattrocentoSans" panose="020B0502050000020003" pitchFamily="34" charset="-122"/>
                <a:cs typeface="QuattrocentoSans" panose="020B0502050000020003" pitchFamily="34" charset="-120"/>
              </a:rPr>
              <a:t>05</a:t>
            </a:r>
            <a:endParaRPr lang="en-US" sz="14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okc/vddp6qs6dys5m/mnt/agents/output/dcq_midterm_report/images/4_Beyond_the_Aesthetics_An_Introduction.png"/>
          <p:cNvPicPr>
            <a:picLocks noChangeAspect="1"/>
          </p:cNvPicPr>
          <p:nvPr/>
        </p:nvPicPr>
        <p:blipFill>
          <a:blip r:embed="rId1"/>
          <a:srcRect/>
          <a:stretch>
            <a:fillRect/>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flip="none" rotWithShape="1">
            <a:gsLst>
              <a:gs pos="0">
                <a:srgbClr val="2D3436">
                  <a:alpha val="94000"/>
                </a:srgbClr>
              </a:gs>
              <a:gs pos="60000">
                <a:srgbClr val="2D3436">
                  <a:alpha val="82000"/>
                </a:srgbClr>
              </a:gs>
              <a:gs pos="100000">
                <a:srgbClr val="2D3436">
                  <a:alpha val="50000"/>
                </a:srgbClr>
              </a:gs>
            </a:gsLst>
            <a:lin ang="0" scaled="1"/>
          </a:gradFill>
          <a:ln w="12700">
            <a:solidFill>
              <a:srgbClr val="333333"/>
            </a:solidFill>
            <a:prstDash val="solid"/>
          </a:ln>
        </p:spPr>
      </p:sp>
      <p:sp>
        <p:nvSpPr>
          <p:cNvPr id="4" name="Text 1"/>
          <p:cNvSpPr/>
          <p:nvPr/>
        </p:nvSpPr>
        <p:spPr>
          <a:xfrm>
            <a:off x="762000" y="1778000"/>
            <a:ext cx="5080000" cy="2032000"/>
          </a:xfrm>
          <a:prstGeom prst="rect">
            <a:avLst/>
          </a:prstGeom>
          <a:noFill/>
        </p:spPr>
        <p:txBody>
          <a:bodyPr wrap="none" lIns="0" tIns="0" rIns="0" bIns="0" rtlCol="0" anchor="t"/>
          <a:lstStyle/>
          <a:p>
            <a:pPr>
              <a:lnSpc>
                <a:spcPct val="100000"/>
              </a:lnSpc>
            </a:pPr>
            <a:r>
              <a:rPr lang="en-US" sz="14000" dirty="0">
                <a:solidFill>
                  <a:srgbClr val="FFFFFF">
                    <a:alpha val="3137"/>
                  </a:srgbClr>
                </a:solidFill>
                <a:latin typeface="Liter" panose="02000503030000020004" pitchFamily="34" charset="0"/>
                <a:ea typeface="Liter" panose="02000503030000020004" pitchFamily="34" charset="-122"/>
                <a:cs typeface="Liter" panose="02000503030000020004" pitchFamily="34" charset="-120"/>
              </a:rPr>
              <a:t>02</a:t>
            </a:r>
            <a:endParaRPr lang="en-US" sz="1600" dirty="0"/>
          </a:p>
        </p:txBody>
      </p:sp>
      <p:sp>
        <p:nvSpPr>
          <p:cNvPr id="5" name="Text 2"/>
          <p:cNvSpPr/>
          <p:nvPr/>
        </p:nvSpPr>
        <p:spPr>
          <a:xfrm>
            <a:off x="1016000" y="4064000"/>
            <a:ext cx="2540000" cy="304800"/>
          </a:xfrm>
          <a:prstGeom prst="rect">
            <a:avLst/>
          </a:prstGeom>
          <a:noFill/>
        </p:spPr>
        <p:txBody>
          <a:bodyPr wrap="none" lIns="0" tIns="0" rIns="0" bIns="0" rtlCol="0" anchor="ctr"/>
          <a:lstStyle/>
          <a:p>
            <a:pPr>
              <a:lnSpc>
                <a:spcPct val="100000"/>
              </a:lnSpc>
            </a:pPr>
            <a:r>
              <a:rPr lang="en-US" sz="1300" kern="0" spc="400" dirty="0">
                <a:solidFill>
                  <a:srgbClr val="E8A0A0"/>
                </a:solidFill>
                <a:latin typeface="Liter" panose="02000503030000020004" pitchFamily="34" charset="0"/>
                <a:ea typeface="Liter" panose="02000503030000020004" pitchFamily="34" charset="-122"/>
                <a:cs typeface="Liter" panose="02000503030000020004" pitchFamily="34" charset="-120"/>
              </a:rPr>
              <a:t>CHAPTER TWO</a:t>
            </a:r>
            <a:endParaRPr lang="en-US" sz="1600" dirty="0"/>
          </a:p>
        </p:txBody>
      </p:sp>
      <p:sp>
        <p:nvSpPr>
          <p:cNvPr id="6" name="Shape 3"/>
          <p:cNvSpPr/>
          <p:nvPr/>
        </p:nvSpPr>
        <p:spPr>
          <a:xfrm>
            <a:off x="1016000" y="4508500"/>
            <a:ext cx="762000" cy="38100"/>
          </a:xfrm>
          <a:prstGeom prst="rect">
            <a:avLst/>
          </a:prstGeom>
          <a:solidFill>
            <a:srgbClr val="B33939"/>
          </a:solidFill>
        </p:spPr>
      </p:sp>
      <p:sp>
        <p:nvSpPr>
          <p:cNvPr id="7" name="Text 4"/>
          <p:cNvSpPr/>
          <p:nvPr/>
        </p:nvSpPr>
        <p:spPr>
          <a:xfrm>
            <a:off x="1016000" y="4762500"/>
            <a:ext cx="7620000" cy="698500"/>
          </a:xfrm>
          <a:prstGeom prst="rect">
            <a:avLst/>
          </a:prstGeom>
          <a:noFill/>
        </p:spPr>
        <p:txBody>
          <a:bodyPr wrap="none" lIns="0" tIns="0" rIns="0" bIns="0" rtlCol="0" anchor="ctr"/>
          <a:lstStyle/>
          <a:p>
            <a:pPr>
              <a:lnSpc>
                <a:spcPct val="100000"/>
              </a:lnSpc>
            </a:pPr>
            <a:r>
              <a:rPr lang="en-US" sz="4200" kern="0" spc="300" dirty="0">
                <a:solidFill>
                  <a:srgbClr val="F5F6F7"/>
                </a:solidFill>
                <a:latin typeface="Liter" panose="02000503030000020004" pitchFamily="34" charset="0"/>
                <a:ea typeface="Liter" panose="02000503030000020004" pitchFamily="34" charset="-122"/>
                <a:cs typeface="Liter" panose="02000503030000020004" pitchFamily="34" charset="-120"/>
              </a:rPr>
              <a:t>项目进展</a:t>
            </a:r>
            <a:endParaRPr lang="en-US" sz="4000" dirty="0"/>
          </a:p>
        </p:txBody>
      </p:sp>
      <p:sp>
        <p:nvSpPr>
          <p:cNvPr id="8" name="Text 5"/>
          <p:cNvSpPr/>
          <p:nvPr/>
        </p:nvSpPr>
        <p:spPr>
          <a:xfrm>
            <a:off x="1016000" y="5651500"/>
            <a:ext cx="8890000" cy="381000"/>
          </a:xfrm>
          <a:prstGeom prst="rect">
            <a:avLst/>
          </a:prstGeom>
          <a:noFill/>
        </p:spPr>
        <p:txBody>
          <a:bodyPr wrap="none" lIns="0" tIns="0" rIns="0" bIns="0" rtlCol="0" anchor="ctr"/>
          <a:lstStyle/>
          <a:p>
            <a:pPr>
              <a:lnSpc>
                <a:spcPct val="150000"/>
              </a:lnSpc>
            </a:pPr>
            <a:r>
              <a:rPr lang="en-US" sz="1800" dirty="0">
                <a:solidFill>
                  <a:srgbClr val="B0BEC5"/>
                </a:solidFill>
                <a:latin typeface="QuattrocentoSans" panose="020B0502050000020003" pitchFamily="34" charset="0"/>
                <a:ea typeface="QuattrocentoSans" panose="020B0502050000020003" pitchFamily="34" charset="-122"/>
                <a:cs typeface="QuattrocentoSans" panose="020B0502050000020003" pitchFamily="34" charset="-120"/>
              </a:rPr>
              <a:t>与导师深度研讨，构建研究框架</a:t>
            </a:r>
            <a:endParaRPr lang="en-US" sz="22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7"/>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2D3436"/>
          </a:solidFill>
        </p:spPr>
      </p:sp>
      <p:sp>
        <p:nvSpPr>
          <p:cNvPr id="3" name="Text 1"/>
          <p:cNvSpPr/>
          <p:nvPr/>
        </p:nvSpPr>
        <p:spPr>
          <a:xfrm>
            <a:off x="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项目背景与意义</a:t>
            </a:r>
            <a:endParaRPr lang="en-US" sz="1300" dirty="0"/>
          </a:p>
        </p:txBody>
      </p:sp>
      <p:sp>
        <p:nvSpPr>
          <p:cNvPr id="4" name="Text 2"/>
          <p:cNvSpPr/>
          <p:nvPr/>
        </p:nvSpPr>
        <p:spPr>
          <a:xfrm>
            <a:off x="4064000" y="0"/>
            <a:ext cx="4064000" cy="508000"/>
          </a:xfrm>
          <a:prstGeom prst="rect">
            <a:avLst/>
          </a:prstGeom>
          <a:noFill/>
        </p:spPr>
        <p:txBody>
          <a:bodyPr wrap="none" lIns="0" tIns="0" rIns="0" bIns="0" rtlCol="0" anchor="ctr"/>
          <a:lstStyle/>
          <a:p>
            <a:pPr algn="ctr">
              <a:lnSpc>
                <a:spcPct val="100000"/>
              </a:lnSpc>
            </a:pPr>
            <a:r>
              <a:rPr lang="en-US" sz="1300" dirty="0">
                <a:solidFill>
                  <a:srgbClr val="F5F6F7"/>
                </a:solidFill>
                <a:latin typeface="QuattrocentoSans" panose="020B0502050000020003" pitchFamily="34" charset="0"/>
                <a:ea typeface="QuattrocentoSans" panose="020B0502050000020003" pitchFamily="34" charset="-122"/>
                <a:cs typeface="QuattrocentoSans" panose="020B0502050000020003" pitchFamily="34" charset="-120"/>
              </a:rPr>
              <a:t>项目进展</a:t>
            </a:r>
            <a:endParaRPr lang="en-US" sz="1300" dirty="0"/>
          </a:p>
        </p:txBody>
      </p:sp>
      <p:sp>
        <p:nvSpPr>
          <p:cNvPr id="5" name="Shape 3"/>
          <p:cNvSpPr/>
          <p:nvPr/>
        </p:nvSpPr>
        <p:spPr>
          <a:xfrm>
            <a:off x="4826000" y="520700"/>
            <a:ext cx="2540000" cy="38100"/>
          </a:xfrm>
          <a:prstGeom prst="rect">
            <a:avLst/>
          </a:prstGeom>
          <a:solidFill>
            <a:srgbClr val="B33939"/>
          </a:solidFill>
        </p:spPr>
      </p:sp>
      <p:sp>
        <p:nvSpPr>
          <p:cNvPr id="6" name="Text 4"/>
          <p:cNvSpPr/>
          <p:nvPr/>
        </p:nvSpPr>
        <p:spPr>
          <a:xfrm>
            <a:off x="8128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成果汇总</a:t>
            </a:r>
            <a:endParaRPr lang="en-US" sz="1300" dirty="0"/>
          </a:p>
        </p:txBody>
      </p:sp>
      <p:sp>
        <p:nvSpPr>
          <p:cNvPr id="7" name="Text 5"/>
          <p:cNvSpPr/>
          <p:nvPr/>
        </p:nvSpPr>
        <p:spPr>
          <a:xfrm>
            <a:off x="12192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未来计划</a:t>
            </a:r>
            <a:endParaRPr lang="en-US" sz="1300" dirty="0"/>
          </a:p>
        </p:txBody>
      </p:sp>
      <p:sp>
        <p:nvSpPr>
          <p:cNvPr id="8" name="Text 6"/>
          <p:cNvSpPr/>
          <p:nvPr/>
        </p:nvSpPr>
        <p:spPr>
          <a:xfrm>
            <a:off x="762000" y="736600"/>
            <a:ext cx="8890000" cy="508000"/>
          </a:xfrm>
          <a:prstGeom prst="rect">
            <a:avLst/>
          </a:prstGeom>
          <a:noFill/>
        </p:spPr>
        <p:txBody>
          <a:bodyPr wrap="none" lIns="0" tIns="0" rIns="0" bIns="0" rtlCol="0" anchor="ctr"/>
          <a:lstStyle/>
          <a:p>
            <a:pPr>
              <a:lnSpc>
                <a:spcPct val="100000"/>
              </a:lnSpc>
            </a:pPr>
            <a:r>
              <a:rPr lang="en-US" sz="2800" dirty="0">
                <a:solidFill>
                  <a:srgbClr val="2D3436"/>
                </a:solidFill>
                <a:latin typeface="Liter" panose="02000503030000020004" pitchFamily="34" charset="0"/>
                <a:ea typeface="Liter" panose="02000503030000020004" pitchFamily="34" charset="-122"/>
                <a:cs typeface="Liter" panose="02000503030000020004" pitchFamily="34" charset="-120"/>
              </a:rPr>
              <a:t>导师讨论历程</a:t>
            </a:r>
            <a:endParaRPr lang="en-US" sz="2800" dirty="0"/>
          </a:p>
        </p:txBody>
      </p:sp>
      <p:sp>
        <p:nvSpPr>
          <p:cNvPr id="9" name="Shape 7"/>
          <p:cNvSpPr/>
          <p:nvPr/>
        </p:nvSpPr>
        <p:spPr>
          <a:xfrm>
            <a:off x="762000" y="1308100"/>
            <a:ext cx="635000" cy="38100"/>
          </a:xfrm>
          <a:prstGeom prst="rect">
            <a:avLst/>
          </a:prstGeom>
          <a:solidFill>
            <a:srgbClr val="B33939"/>
          </a:solidFill>
        </p:spPr>
      </p:sp>
      <p:sp>
        <p:nvSpPr>
          <p:cNvPr id="10" name="Text 8"/>
          <p:cNvSpPr/>
          <p:nvPr/>
        </p:nvSpPr>
        <p:spPr>
          <a:xfrm>
            <a:off x="762000" y="1422400"/>
            <a:ext cx="7620000" cy="330200"/>
          </a:xfrm>
          <a:prstGeom prst="rect">
            <a:avLst/>
          </a:prstGeom>
          <a:noFill/>
        </p:spPr>
        <p:txBody>
          <a:bodyPr wrap="none" lIns="0" tIns="0" rIns="0" bIns="0" rtlCol="0" anchor="ctr"/>
          <a:lstStyle/>
          <a:p>
            <a:pPr>
              <a:lnSpc>
                <a:spcPct val="140000"/>
              </a:lnSpc>
            </a:pPr>
            <a:r>
              <a:rPr lang="en-US" sz="1400" dirty="0">
                <a:solidFill>
                  <a:srgbClr val="636E72"/>
                </a:solidFill>
                <a:latin typeface="QuattrocentoSans" panose="020B0502050000020003" pitchFamily="34" charset="0"/>
                <a:ea typeface="QuattrocentoSans" panose="020B0502050000020003" pitchFamily="34" charset="-122"/>
                <a:cs typeface="QuattrocentoSans" panose="020B0502050000020003" pitchFamily="34" charset="-120"/>
              </a:rPr>
              <a:t>与胡小武老师累计讨论近10小时，研究思路逐步清晰</a:t>
            </a:r>
            <a:endParaRPr lang="en-US" sz="1400" dirty="0"/>
          </a:p>
        </p:txBody>
      </p:sp>
      <p:sp>
        <p:nvSpPr>
          <p:cNvPr id="11" name="Shape 9"/>
          <p:cNvSpPr/>
          <p:nvPr/>
        </p:nvSpPr>
        <p:spPr>
          <a:xfrm>
            <a:off x="2032000" y="2222500"/>
            <a:ext cx="12192000" cy="25400"/>
          </a:xfrm>
          <a:prstGeom prst="rect">
            <a:avLst/>
          </a:prstGeom>
          <a:solidFill>
            <a:srgbClr val="D5DBDB"/>
          </a:solidFill>
        </p:spPr>
      </p:sp>
      <p:sp>
        <p:nvSpPr>
          <p:cNvPr id="12" name="Shape 10"/>
          <p:cNvSpPr/>
          <p:nvPr/>
        </p:nvSpPr>
        <p:spPr>
          <a:xfrm>
            <a:off x="1930400" y="2133600"/>
            <a:ext cx="203200" cy="203200"/>
          </a:xfrm>
          <a:prstGeom prst="ellipse">
            <a:avLst/>
          </a:prstGeom>
          <a:solidFill>
            <a:srgbClr val="B33939"/>
          </a:solidFill>
        </p:spPr>
      </p:sp>
      <p:sp>
        <p:nvSpPr>
          <p:cNvPr id="13" name="Shape 11"/>
          <p:cNvSpPr/>
          <p:nvPr/>
        </p:nvSpPr>
        <p:spPr>
          <a:xfrm>
            <a:off x="8026400" y="2133600"/>
            <a:ext cx="203200" cy="203200"/>
          </a:xfrm>
          <a:prstGeom prst="ellipse">
            <a:avLst/>
          </a:prstGeom>
          <a:solidFill>
            <a:srgbClr val="B33939"/>
          </a:solidFill>
        </p:spPr>
      </p:sp>
      <p:sp>
        <p:nvSpPr>
          <p:cNvPr id="14" name="Shape 12"/>
          <p:cNvSpPr/>
          <p:nvPr/>
        </p:nvSpPr>
        <p:spPr>
          <a:xfrm>
            <a:off x="14122400" y="2133600"/>
            <a:ext cx="203200" cy="203200"/>
          </a:xfrm>
          <a:prstGeom prst="ellipse">
            <a:avLst/>
          </a:prstGeom>
          <a:solidFill>
            <a:srgbClr val="B33939"/>
          </a:solidFill>
        </p:spPr>
      </p:sp>
      <p:sp>
        <p:nvSpPr>
          <p:cNvPr id="15" name="Shape 13"/>
          <p:cNvSpPr/>
          <p:nvPr/>
        </p:nvSpPr>
        <p:spPr>
          <a:xfrm>
            <a:off x="762000" y="2667000"/>
            <a:ext cx="4572000" cy="5461000"/>
          </a:xfrm>
          <a:prstGeom prst="rect">
            <a:avLst/>
          </a:prstGeom>
          <a:solidFill>
            <a:srgbClr val="FFFFFF"/>
          </a:solidFill>
          <a:effectLst>
            <a:outerShdw blurRad="152400" dist="38100" dir="5400000" algn="bl" rotWithShape="0">
              <a:srgbClr val="000000">
                <a:alpha val="3922"/>
              </a:srgbClr>
            </a:outerShdw>
          </a:effectLst>
        </p:spPr>
      </p:sp>
      <p:sp>
        <p:nvSpPr>
          <p:cNvPr id="16" name="Text 14"/>
          <p:cNvSpPr/>
          <p:nvPr/>
        </p:nvSpPr>
        <p:spPr>
          <a:xfrm>
            <a:off x="1016000" y="2857500"/>
            <a:ext cx="1016000" cy="508000"/>
          </a:xfrm>
          <a:prstGeom prst="rect">
            <a:avLst/>
          </a:prstGeom>
          <a:noFill/>
        </p:spPr>
        <p:txBody>
          <a:bodyPr wrap="none" lIns="0" tIns="0" rIns="0" bIns="0" rtlCol="0" anchor="ctr"/>
          <a:lstStyle/>
          <a:p>
            <a:pPr>
              <a:lnSpc>
                <a:spcPct val="100000"/>
              </a:lnSpc>
            </a:pPr>
            <a:r>
              <a:rPr lang="en-US" sz="3200" dirty="0">
                <a:solidFill>
                  <a:srgbClr val="B33939"/>
                </a:solidFill>
                <a:latin typeface="Liter" panose="02000503030000020004" pitchFamily="34" charset="0"/>
                <a:ea typeface="Liter" panose="02000503030000020004" pitchFamily="34" charset="-122"/>
                <a:cs typeface="Liter" panose="02000503030000020004" pitchFamily="34" charset="-120"/>
              </a:rPr>
              <a:t>01</a:t>
            </a:r>
            <a:endParaRPr lang="en-US" sz="1600" dirty="0"/>
          </a:p>
        </p:txBody>
      </p:sp>
      <p:sp>
        <p:nvSpPr>
          <p:cNvPr id="17" name="Text 15"/>
          <p:cNvSpPr/>
          <p:nvPr/>
        </p:nvSpPr>
        <p:spPr>
          <a:xfrm>
            <a:off x="1016000" y="3429000"/>
            <a:ext cx="4064000" cy="355600"/>
          </a:xfrm>
          <a:prstGeom prst="rect">
            <a:avLst/>
          </a:prstGeom>
          <a:noFill/>
        </p:spPr>
        <p:txBody>
          <a:bodyPr wrap="none" lIns="0" tIns="0" rIns="0" bIns="0" rtlCol="0" anchor="ctr"/>
          <a:lstStyle/>
          <a:p>
            <a:pPr>
              <a:lnSpc>
                <a:spcPct val="100000"/>
              </a:lnSpc>
            </a:pPr>
            <a:r>
              <a:rPr lang="en-US" sz="1800" dirty="0">
                <a:solidFill>
                  <a:srgbClr val="2D3436"/>
                </a:solidFill>
                <a:latin typeface="Liter" panose="02000503030000020004" pitchFamily="34" charset="0"/>
                <a:ea typeface="Liter" panose="02000503030000020004" pitchFamily="34" charset="-122"/>
                <a:cs typeface="Liter" panose="02000503030000020004" pitchFamily="34" charset="-120"/>
              </a:rPr>
              <a:t>首次探讨</a:t>
            </a:r>
            <a:endParaRPr lang="en-US" sz="1600" dirty="0"/>
          </a:p>
        </p:txBody>
      </p:sp>
      <p:sp>
        <p:nvSpPr>
          <p:cNvPr id="18" name="Shape 16"/>
          <p:cNvSpPr/>
          <p:nvPr/>
        </p:nvSpPr>
        <p:spPr>
          <a:xfrm>
            <a:off x="1016000" y="3911600"/>
            <a:ext cx="4064000" cy="12700"/>
          </a:xfrm>
          <a:prstGeom prst="rect">
            <a:avLst/>
          </a:prstGeom>
          <a:solidFill>
            <a:srgbClr val="D5DBDB"/>
          </a:solidFill>
        </p:spPr>
      </p:sp>
      <p:sp>
        <p:nvSpPr>
          <p:cNvPr id="19" name="Text 17"/>
          <p:cNvSpPr/>
          <p:nvPr/>
        </p:nvSpPr>
        <p:spPr>
          <a:xfrm>
            <a:off x="1016000" y="4089400"/>
            <a:ext cx="4064000" cy="3683000"/>
          </a:xfrm>
          <a:prstGeom prst="rect">
            <a:avLst/>
          </a:prstGeom>
          <a:noFill/>
        </p:spPr>
        <p:txBody>
          <a:bodyPr wrap="square" lIns="0" tIns="0" rIns="0" bIns="0" rtlCol="0" anchor="t"/>
          <a:lstStyle/>
          <a:p>
            <a:pPr>
              <a:lnSpc>
                <a:spcPct val="170000"/>
              </a:lnSpc>
            </a:pPr>
            <a:r>
              <a:rPr lang="en-US" sz="1600" b="1"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核心任务</a:t>
            </a:r>
            <a:endParaRPr lang="en-US" sz="1800" dirty="0"/>
          </a:p>
          <a:p>
            <a:pPr>
              <a:lnSpc>
                <a:spcPct val="170000"/>
              </a:lnSpc>
              <a:spcBef>
                <a:spcPts val="600"/>
              </a:spcBef>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明确论文研究方向与题目，确定研究的基本范畴和理论切入点</a:t>
            </a:r>
            <a:endParaRPr lang="en-US" sz="1800" dirty="0"/>
          </a:p>
          <a:p>
            <a:pPr>
              <a:lnSpc>
                <a:spcPct val="170000"/>
              </a:lnSpc>
              <a:spcBef>
                <a:spcPts val="1400"/>
              </a:spcBef>
            </a:pPr>
            <a:r>
              <a:rPr lang="en-US" sz="1600" b="1"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关键成果</a:t>
            </a:r>
            <a:endParaRPr lang="en-US" sz="1800" dirty="0"/>
          </a:p>
          <a:p>
            <a:pPr>
              <a:lnSpc>
                <a:spcPct val="170000"/>
              </a:lnSpc>
              <a:spcBef>
                <a:spcPts val="600"/>
              </a:spcBef>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确立了"算法时代意识形态传播"的核心研究主题，为后续研究奠定了方向基础</a:t>
            </a:r>
            <a:endParaRPr lang="en-US" sz="1800" dirty="0"/>
          </a:p>
        </p:txBody>
      </p:sp>
      <p:sp>
        <p:nvSpPr>
          <p:cNvPr id="20" name="Shape 18"/>
          <p:cNvSpPr/>
          <p:nvPr/>
        </p:nvSpPr>
        <p:spPr>
          <a:xfrm>
            <a:off x="5842000" y="2667000"/>
            <a:ext cx="4572000" cy="5461000"/>
          </a:xfrm>
          <a:prstGeom prst="rect">
            <a:avLst/>
          </a:prstGeom>
          <a:solidFill>
            <a:srgbClr val="FFFFFF"/>
          </a:solidFill>
          <a:effectLst>
            <a:outerShdw blurRad="152400" dist="38100" dir="5400000" algn="bl" rotWithShape="0">
              <a:srgbClr val="000000">
                <a:alpha val="3922"/>
              </a:srgbClr>
            </a:outerShdw>
          </a:effectLst>
        </p:spPr>
      </p:sp>
      <p:sp>
        <p:nvSpPr>
          <p:cNvPr id="21" name="Text 19"/>
          <p:cNvSpPr/>
          <p:nvPr/>
        </p:nvSpPr>
        <p:spPr>
          <a:xfrm>
            <a:off x="6096000" y="2857500"/>
            <a:ext cx="1016000" cy="508000"/>
          </a:xfrm>
          <a:prstGeom prst="rect">
            <a:avLst/>
          </a:prstGeom>
          <a:noFill/>
        </p:spPr>
        <p:txBody>
          <a:bodyPr wrap="none" lIns="0" tIns="0" rIns="0" bIns="0" rtlCol="0" anchor="ctr"/>
          <a:lstStyle/>
          <a:p>
            <a:pPr>
              <a:lnSpc>
                <a:spcPct val="100000"/>
              </a:lnSpc>
            </a:pPr>
            <a:r>
              <a:rPr lang="en-US" sz="3200" dirty="0">
                <a:solidFill>
                  <a:srgbClr val="B33939"/>
                </a:solidFill>
                <a:latin typeface="Liter" panose="02000503030000020004" pitchFamily="34" charset="0"/>
                <a:ea typeface="Liter" panose="02000503030000020004" pitchFamily="34" charset="-122"/>
                <a:cs typeface="Liter" panose="02000503030000020004" pitchFamily="34" charset="-120"/>
              </a:rPr>
              <a:t>02</a:t>
            </a:r>
            <a:endParaRPr lang="en-US" sz="1600" dirty="0"/>
          </a:p>
        </p:txBody>
      </p:sp>
      <p:sp>
        <p:nvSpPr>
          <p:cNvPr id="22" name="Text 20"/>
          <p:cNvSpPr/>
          <p:nvPr/>
        </p:nvSpPr>
        <p:spPr>
          <a:xfrm>
            <a:off x="6096000" y="3429000"/>
            <a:ext cx="4064000" cy="355600"/>
          </a:xfrm>
          <a:prstGeom prst="rect">
            <a:avLst/>
          </a:prstGeom>
          <a:noFill/>
        </p:spPr>
        <p:txBody>
          <a:bodyPr wrap="none" lIns="0" tIns="0" rIns="0" bIns="0" rtlCol="0" anchor="ctr"/>
          <a:lstStyle/>
          <a:p>
            <a:pPr>
              <a:lnSpc>
                <a:spcPct val="100000"/>
              </a:lnSpc>
            </a:pPr>
            <a:r>
              <a:rPr lang="en-US" sz="1800" dirty="0">
                <a:solidFill>
                  <a:srgbClr val="2D3436"/>
                </a:solidFill>
                <a:latin typeface="Liter" panose="02000503030000020004" pitchFamily="34" charset="0"/>
                <a:ea typeface="Liter" panose="02000503030000020004" pitchFamily="34" charset="-122"/>
                <a:cs typeface="Liter" panose="02000503030000020004" pitchFamily="34" charset="-120"/>
              </a:rPr>
              <a:t>第二次讨论</a:t>
            </a:r>
            <a:endParaRPr lang="en-US" sz="1600" dirty="0"/>
          </a:p>
        </p:txBody>
      </p:sp>
      <p:sp>
        <p:nvSpPr>
          <p:cNvPr id="23" name="Shape 21"/>
          <p:cNvSpPr/>
          <p:nvPr/>
        </p:nvSpPr>
        <p:spPr>
          <a:xfrm>
            <a:off x="6096000" y="3911600"/>
            <a:ext cx="4064000" cy="12700"/>
          </a:xfrm>
          <a:prstGeom prst="rect">
            <a:avLst/>
          </a:prstGeom>
          <a:solidFill>
            <a:srgbClr val="D5DBDB"/>
          </a:solidFill>
        </p:spPr>
      </p:sp>
      <p:sp>
        <p:nvSpPr>
          <p:cNvPr id="24" name="Text 22"/>
          <p:cNvSpPr/>
          <p:nvPr/>
        </p:nvSpPr>
        <p:spPr>
          <a:xfrm>
            <a:off x="6096000" y="4089400"/>
            <a:ext cx="4064000" cy="3683000"/>
          </a:xfrm>
          <a:prstGeom prst="rect">
            <a:avLst/>
          </a:prstGeom>
          <a:noFill/>
        </p:spPr>
        <p:txBody>
          <a:bodyPr wrap="square" lIns="0" tIns="0" rIns="0" bIns="0" rtlCol="0" anchor="t"/>
          <a:lstStyle/>
          <a:p>
            <a:pPr>
              <a:lnSpc>
                <a:spcPct val="170000"/>
              </a:lnSpc>
            </a:pPr>
            <a:r>
              <a:rPr lang="en-US" sz="1600" b="1"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核心任务</a:t>
            </a:r>
            <a:endParaRPr lang="en-US" sz="1800" dirty="0"/>
          </a:p>
          <a:p>
            <a:pPr>
              <a:lnSpc>
                <a:spcPct val="170000"/>
              </a:lnSpc>
              <a:spcBef>
                <a:spcPts val="600"/>
              </a:spcBef>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确定论文整体结构框架，搭建五段式研究体系</a:t>
            </a:r>
            <a:endParaRPr lang="en-US" sz="1800" dirty="0"/>
          </a:p>
          <a:p>
            <a:pPr>
              <a:lnSpc>
                <a:spcPct val="170000"/>
              </a:lnSpc>
              <a:spcBef>
                <a:spcPts val="1400"/>
              </a:spcBef>
            </a:pPr>
            <a:r>
              <a:rPr lang="en-US" sz="1600" b="1"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关键成果</a:t>
            </a:r>
            <a:endParaRPr lang="en-US" sz="1800" dirty="0"/>
          </a:p>
          <a:p>
            <a:pPr>
              <a:lnSpc>
                <a:spcPct val="170000"/>
              </a:lnSpc>
              <a:spcBef>
                <a:spcPts val="600"/>
              </a:spcBef>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形成了完整的论文大纲：</a:t>
            </a:r>
            <a:b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b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问题的提出→传播特点→挑战与后果→理论反思→应对策略</a:t>
            </a:r>
            <a:endParaRPr lang="en-US" sz="1800" dirty="0"/>
          </a:p>
        </p:txBody>
      </p:sp>
      <p:sp>
        <p:nvSpPr>
          <p:cNvPr id="25" name="Shape 23"/>
          <p:cNvSpPr/>
          <p:nvPr/>
        </p:nvSpPr>
        <p:spPr>
          <a:xfrm>
            <a:off x="10922000" y="2667000"/>
            <a:ext cx="4572000" cy="5461000"/>
          </a:xfrm>
          <a:prstGeom prst="rect">
            <a:avLst/>
          </a:prstGeom>
          <a:solidFill>
            <a:srgbClr val="FFFFFF"/>
          </a:solidFill>
          <a:effectLst>
            <a:outerShdw blurRad="152400" dist="38100" dir="5400000" algn="bl" rotWithShape="0">
              <a:srgbClr val="000000">
                <a:alpha val="3922"/>
              </a:srgbClr>
            </a:outerShdw>
          </a:effectLst>
        </p:spPr>
      </p:sp>
      <p:sp>
        <p:nvSpPr>
          <p:cNvPr id="26" name="Text 24"/>
          <p:cNvSpPr/>
          <p:nvPr/>
        </p:nvSpPr>
        <p:spPr>
          <a:xfrm>
            <a:off x="11176000" y="2857500"/>
            <a:ext cx="1016000" cy="508000"/>
          </a:xfrm>
          <a:prstGeom prst="rect">
            <a:avLst/>
          </a:prstGeom>
          <a:noFill/>
        </p:spPr>
        <p:txBody>
          <a:bodyPr wrap="none" lIns="0" tIns="0" rIns="0" bIns="0" rtlCol="0" anchor="ctr"/>
          <a:lstStyle/>
          <a:p>
            <a:pPr>
              <a:lnSpc>
                <a:spcPct val="100000"/>
              </a:lnSpc>
            </a:pPr>
            <a:r>
              <a:rPr lang="en-US" sz="3200" dirty="0">
                <a:solidFill>
                  <a:srgbClr val="B33939"/>
                </a:solidFill>
                <a:latin typeface="Liter" panose="02000503030000020004" pitchFamily="34" charset="0"/>
                <a:ea typeface="Liter" panose="02000503030000020004" pitchFamily="34" charset="-122"/>
                <a:cs typeface="Liter" panose="02000503030000020004" pitchFamily="34" charset="-120"/>
              </a:rPr>
              <a:t>03</a:t>
            </a:r>
            <a:endParaRPr lang="en-US" sz="1600" dirty="0"/>
          </a:p>
        </p:txBody>
      </p:sp>
      <p:sp>
        <p:nvSpPr>
          <p:cNvPr id="27" name="Text 25"/>
          <p:cNvSpPr/>
          <p:nvPr/>
        </p:nvSpPr>
        <p:spPr>
          <a:xfrm>
            <a:off x="11176000" y="3429000"/>
            <a:ext cx="4064000" cy="355600"/>
          </a:xfrm>
          <a:prstGeom prst="rect">
            <a:avLst/>
          </a:prstGeom>
          <a:noFill/>
        </p:spPr>
        <p:txBody>
          <a:bodyPr wrap="none" lIns="0" tIns="0" rIns="0" bIns="0" rtlCol="0" anchor="ctr"/>
          <a:lstStyle/>
          <a:p>
            <a:pPr>
              <a:lnSpc>
                <a:spcPct val="100000"/>
              </a:lnSpc>
            </a:pPr>
            <a:r>
              <a:rPr lang="en-US" sz="1800" dirty="0">
                <a:solidFill>
                  <a:srgbClr val="2D3436"/>
                </a:solidFill>
                <a:latin typeface="Liter" panose="02000503030000020004" pitchFamily="34" charset="0"/>
                <a:ea typeface="Liter" panose="02000503030000020004" pitchFamily="34" charset="-122"/>
                <a:cs typeface="Liter" panose="02000503030000020004" pitchFamily="34" charset="-120"/>
              </a:rPr>
              <a:t>详细讨论</a:t>
            </a:r>
            <a:endParaRPr lang="en-US" sz="1600" dirty="0"/>
          </a:p>
        </p:txBody>
      </p:sp>
      <p:sp>
        <p:nvSpPr>
          <p:cNvPr id="28" name="Shape 26"/>
          <p:cNvSpPr/>
          <p:nvPr/>
        </p:nvSpPr>
        <p:spPr>
          <a:xfrm>
            <a:off x="11176000" y="3911600"/>
            <a:ext cx="4064000" cy="12700"/>
          </a:xfrm>
          <a:prstGeom prst="rect">
            <a:avLst/>
          </a:prstGeom>
          <a:solidFill>
            <a:srgbClr val="D5DBDB"/>
          </a:solidFill>
        </p:spPr>
      </p:sp>
      <p:sp>
        <p:nvSpPr>
          <p:cNvPr id="29" name="Text 27"/>
          <p:cNvSpPr/>
          <p:nvPr/>
        </p:nvSpPr>
        <p:spPr>
          <a:xfrm>
            <a:off x="11176000" y="4089400"/>
            <a:ext cx="4064000" cy="3683000"/>
          </a:xfrm>
          <a:prstGeom prst="rect">
            <a:avLst/>
          </a:prstGeom>
          <a:noFill/>
        </p:spPr>
        <p:txBody>
          <a:bodyPr wrap="square" lIns="0" tIns="0" rIns="0" bIns="0" rtlCol="0" anchor="t"/>
          <a:lstStyle/>
          <a:p>
            <a:pPr>
              <a:lnSpc>
                <a:spcPct val="170000"/>
              </a:lnSpc>
            </a:pPr>
            <a:r>
              <a:rPr lang="en-US" sz="1600" b="1"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核心任务</a:t>
            </a:r>
            <a:endParaRPr lang="en-US" sz="1800" dirty="0"/>
          </a:p>
          <a:p>
            <a:pPr>
              <a:lnSpc>
                <a:spcPct val="170000"/>
              </a:lnSpc>
              <a:spcBef>
                <a:spcPts val="600"/>
              </a:spcBef>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深入分析关键概念，探讨其对意识形态传播的具体影响机制</a:t>
            </a:r>
            <a:endParaRPr lang="en-US" sz="1800" dirty="0"/>
          </a:p>
          <a:p>
            <a:pPr>
              <a:lnSpc>
                <a:spcPct val="170000"/>
              </a:lnSpc>
              <a:spcBef>
                <a:spcPts val="1400"/>
              </a:spcBef>
            </a:pPr>
            <a:r>
              <a:rPr lang="en-US" sz="1600" b="1"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关键成果</a:t>
            </a:r>
            <a:endParaRPr lang="en-US" sz="1800" dirty="0"/>
          </a:p>
          <a:p>
            <a:pPr>
              <a:lnSpc>
                <a:spcPct val="170000"/>
              </a:lnSpc>
              <a:spcBef>
                <a:spcPts val="600"/>
              </a:spcBef>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深入剖析了"信息茧房""数字泔水"等核心概念的理论内涵与现实表现</a:t>
            </a:r>
            <a:endParaRPr lang="en-US" sz="1800" dirty="0"/>
          </a:p>
        </p:txBody>
      </p:sp>
      <p:sp>
        <p:nvSpPr>
          <p:cNvPr id="30" name="Text 28"/>
          <p:cNvSpPr/>
          <p:nvPr/>
        </p:nvSpPr>
        <p:spPr>
          <a:xfrm>
            <a:off x="15240000" y="8763000"/>
            <a:ext cx="635000" cy="254000"/>
          </a:xfrm>
          <a:prstGeom prst="rect">
            <a:avLst/>
          </a:prstGeom>
          <a:noFill/>
        </p:spPr>
        <p:txBody>
          <a:bodyPr wrap="none" lIns="0" tIns="0" rIns="0" bIns="0" rtlCol="0" anchor="ctr"/>
          <a:lstStyle/>
          <a:p>
            <a:pPr algn="r">
              <a:lnSpc>
                <a:spcPct val="140000"/>
              </a:lnSpc>
            </a:pPr>
            <a:r>
              <a:rPr lang="en-US" sz="1400" dirty="0">
                <a:solidFill>
                  <a:srgbClr val="636E72"/>
                </a:solidFill>
                <a:latin typeface="QuattrocentoSans" panose="020B0502050000020003" pitchFamily="34" charset="0"/>
                <a:ea typeface="QuattrocentoSans" panose="020B0502050000020003" pitchFamily="34" charset="-122"/>
                <a:cs typeface="QuattrocentoSans" panose="020B0502050000020003" pitchFamily="34" charset="-120"/>
              </a:rPr>
              <a:t>07</a:t>
            </a:r>
            <a:endParaRPr lang="en-US" sz="14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7"/>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2D3436"/>
          </a:solidFill>
        </p:spPr>
      </p:sp>
      <p:sp>
        <p:nvSpPr>
          <p:cNvPr id="3" name="Text 1"/>
          <p:cNvSpPr/>
          <p:nvPr/>
        </p:nvSpPr>
        <p:spPr>
          <a:xfrm>
            <a:off x="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项目背景与意义</a:t>
            </a:r>
            <a:endParaRPr lang="en-US" sz="1300" dirty="0"/>
          </a:p>
        </p:txBody>
      </p:sp>
      <p:sp>
        <p:nvSpPr>
          <p:cNvPr id="4" name="Text 2"/>
          <p:cNvSpPr/>
          <p:nvPr/>
        </p:nvSpPr>
        <p:spPr>
          <a:xfrm>
            <a:off x="4064000" y="0"/>
            <a:ext cx="4064000" cy="508000"/>
          </a:xfrm>
          <a:prstGeom prst="rect">
            <a:avLst/>
          </a:prstGeom>
          <a:noFill/>
        </p:spPr>
        <p:txBody>
          <a:bodyPr wrap="none" lIns="0" tIns="0" rIns="0" bIns="0" rtlCol="0" anchor="ctr"/>
          <a:lstStyle/>
          <a:p>
            <a:pPr algn="ctr">
              <a:lnSpc>
                <a:spcPct val="100000"/>
              </a:lnSpc>
            </a:pPr>
            <a:r>
              <a:rPr lang="en-US" sz="1300" dirty="0">
                <a:solidFill>
                  <a:srgbClr val="F5F6F7"/>
                </a:solidFill>
                <a:latin typeface="QuattrocentoSans" panose="020B0502050000020003" pitchFamily="34" charset="0"/>
                <a:ea typeface="QuattrocentoSans" panose="020B0502050000020003" pitchFamily="34" charset="-122"/>
                <a:cs typeface="QuattrocentoSans" panose="020B0502050000020003" pitchFamily="34" charset="-120"/>
              </a:rPr>
              <a:t>项目进展</a:t>
            </a:r>
            <a:endParaRPr lang="en-US" sz="1300" dirty="0"/>
          </a:p>
        </p:txBody>
      </p:sp>
      <p:sp>
        <p:nvSpPr>
          <p:cNvPr id="5" name="Shape 3"/>
          <p:cNvSpPr/>
          <p:nvPr/>
        </p:nvSpPr>
        <p:spPr>
          <a:xfrm>
            <a:off x="4826000" y="520700"/>
            <a:ext cx="2540000" cy="38100"/>
          </a:xfrm>
          <a:prstGeom prst="rect">
            <a:avLst/>
          </a:prstGeom>
          <a:solidFill>
            <a:srgbClr val="B33939"/>
          </a:solidFill>
        </p:spPr>
      </p:sp>
      <p:sp>
        <p:nvSpPr>
          <p:cNvPr id="6" name="Text 4"/>
          <p:cNvSpPr/>
          <p:nvPr/>
        </p:nvSpPr>
        <p:spPr>
          <a:xfrm>
            <a:off x="8128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成果汇总</a:t>
            </a:r>
            <a:endParaRPr lang="en-US" sz="1300" dirty="0"/>
          </a:p>
        </p:txBody>
      </p:sp>
      <p:sp>
        <p:nvSpPr>
          <p:cNvPr id="7" name="Text 5"/>
          <p:cNvSpPr/>
          <p:nvPr/>
        </p:nvSpPr>
        <p:spPr>
          <a:xfrm>
            <a:off x="12192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未来计划</a:t>
            </a:r>
            <a:endParaRPr lang="en-US" sz="1300" dirty="0"/>
          </a:p>
        </p:txBody>
      </p:sp>
      <p:sp>
        <p:nvSpPr>
          <p:cNvPr id="8" name="Text 6"/>
          <p:cNvSpPr/>
          <p:nvPr/>
        </p:nvSpPr>
        <p:spPr>
          <a:xfrm>
            <a:off x="762000" y="736600"/>
            <a:ext cx="8890000" cy="508000"/>
          </a:xfrm>
          <a:prstGeom prst="rect">
            <a:avLst/>
          </a:prstGeom>
          <a:noFill/>
        </p:spPr>
        <p:txBody>
          <a:bodyPr wrap="none" lIns="0" tIns="0" rIns="0" bIns="0" rtlCol="0" anchor="ctr"/>
          <a:lstStyle/>
          <a:p>
            <a:pPr>
              <a:lnSpc>
                <a:spcPct val="100000"/>
              </a:lnSpc>
            </a:pPr>
            <a:r>
              <a:rPr lang="en-US" sz="2800" dirty="0">
                <a:solidFill>
                  <a:srgbClr val="2D3436"/>
                </a:solidFill>
                <a:latin typeface="Liter" panose="02000503030000020004" pitchFamily="34" charset="0"/>
                <a:ea typeface="Liter" panose="02000503030000020004" pitchFamily="34" charset="-122"/>
                <a:cs typeface="Liter" panose="02000503030000020004" pitchFamily="34" charset="-120"/>
              </a:rPr>
              <a:t>论文结构框架</a:t>
            </a:r>
            <a:endParaRPr lang="en-US" sz="2800" dirty="0"/>
          </a:p>
        </p:txBody>
      </p:sp>
      <p:sp>
        <p:nvSpPr>
          <p:cNvPr id="9" name="Shape 7"/>
          <p:cNvSpPr/>
          <p:nvPr/>
        </p:nvSpPr>
        <p:spPr>
          <a:xfrm>
            <a:off x="762000" y="1308100"/>
            <a:ext cx="635000" cy="38100"/>
          </a:xfrm>
          <a:prstGeom prst="rect">
            <a:avLst/>
          </a:prstGeom>
          <a:solidFill>
            <a:srgbClr val="B33939"/>
          </a:solidFill>
        </p:spPr>
      </p:sp>
      <p:sp>
        <p:nvSpPr>
          <p:cNvPr id="10" name="Text 8"/>
          <p:cNvSpPr/>
          <p:nvPr/>
        </p:nvSpPr>
        <p:spPr>
          <a:xfrm>
            <a:off x="762000" y="1422400"/>
            <a:ext cx="8890000" cy="330200"/>
          </a:xfrm>
          <a:prstGeom prst="rect">
            <a:avLst/>
          </a:prstGeom>
          <a:noFill/>
        </p:spPr>
        <p:txBody>
          <a:bodyPr wrap="none" lIns="0" tIns="0" rIns="0" bIns="0" rtlCol="0" anchor="ctr"/>
          <a:lstStyle/>
          <a:p>
            <a:pPr>
              <a:lnSpc>
                <a:spcPct val="140000"/>
              </a:lnSpc>
            </a:pPr>
            <a:r>
              <a:rPr lang="en-US" sz="1400" dirty="0">
                <a:solidFill>
                  <a:srgbClr val="636E72"/>
                </a:solidFill>
                <a:latin typeface="QuattrocentoSans" panose="020B0502050000020003" pitchFamily="34" charset="0"/>
                <a:ea typeface="QuattrocentoSans" panose="020B0502050000020003" pitchFamily="34" charset="-122"/>
                <a:cs typeface="QuattrocentoSans" panose="020B0502050000020003" pitchFamily="34" charset="-120"/>
              </a:rPr>
              <a:t>五段式研究结构，逻辑严密层层递进</a:t>
            </a:r>
            <a:endParaRPr lang="en-US" sz="1400" dirty="0"/>
          </a:p>
        </p:txBody>
      </p:sp>
      <p:sp>
        <p:nvSpPr>
          <p:cNvPr id="11" name="Shape 9"/>
          <p:cNvSpPr/>
          <p:nvPr/>
        </p:nvSpPr>
        <p:spPr>
          <a:xfrm>
            <a:off x="1270000" y="2159000"/>
            <a:ext cx="2540000" cy="1016000"/>
          </a:xfrm>
          <a:prstGeom prst="rect">
            <a:avLst/>
          </a:prstGeom>
          <a:solidFill>
            <a:srgbClr val="B33939"/>
          </a:solidFill>
        </p:spPr>
      </p:sp>
      <p:sp>
        <p:nvSpPr>
          <p:cNvPr id="12" name="Text 10"/>
          <p:cNvSpPr/>
          <p:nvPr/>
        </p:nvSpPr>
        <p:spPr>
          <a:xfrm>
            <a:off x="1270000" y="2159000"/>
            <a:ext cx="2540000" cy="1016000"/>
          </a:xfrm>
          <a:prstGeom prst="rect">
            <a:avLst/>
          </a:prstGeom>
          <a:noFill/>
        </p:spPr>
        <p:txBody>
          <a:bodyPr wrap="none" lIns="0" tIns="0" rIns="0" bIns="0" rtlCol="0" anchor="ctr"/>
          <a:lstStyle/>
          <a:p>
            <a:pPr algn="ctr">
              <a:lnSpc>
                <a:spcPct val="100000"/>
              </a:lnSpc>
            </a:pPr>
            <a:r>
              <a:rPr lang="en-US" sz="1800" dirty="0">
                <a:solidFill>
                  <a:srgbClr val="F5F6F7"/>
                </a:solidFill>
                <a:latin typeface="Liter" panose="02000503030000020004" pitchFamily="34" charset="0"/>
                <a:ea typeface="Liter" panose="02000503030000020004" pitchFamily="34" charset="-122"/>
                <a:cs typeface="Liter" panose="02000503030000020004" pitchFamily="34" charset="-120"/>
              </a:rPr>
              <a:t>问题的提出</a:t>
            </a:r>
            <a:endParaRPr lang="en-US" sz="1600" dirty="0"/>
          </a:p>
        </p:txBody>
      </p:sp>
      <p:sp>
        <p:nvSpPr>
          <p:cNvPr id="13" name="Shape 11"/>
          <p:cNvSpPr/>
          <p:nvPr/>
        </p:nvSpPr>
        <p:spPr>
          <a:xfrm>
            <a:off x="3937000" y="2540000"/>
            <a:ext cx="508000" cy="0"/>
          </a:xfrm>
          <a:prstGeom prst="straightConnector1">
            <a:avLst/>
          </a:prstGeom>
          <a:noFill/>
          <a:ln w="25400">
            <a:solidFill>
              <a:srgbClr val="B33939"/>
            </a:solidFill>
            <a:prstDash val="solid"/>
            <a:headEnd type="none"/>
            <a:tailEnd type="arrow"/>
          </a:ln>
        </p:spPr>
      </p:sp>
      <p:sp>
        <p:nvSpPr>
          <p:cNvPr id="14" name="Shape 12"/>
          <p:cNvSpPr/>
          <p:nvPr/>
        </p:nvSpPr>
        <p:spPr>
          <a:xfrm>
            <a:off x="4572000" y="2159000"/>
            <a:ext cx="2540000" cy="1016000"/>
          </a:xfrm>
          <a:prstGeom prst="rect">
            <a:avLst/>
          </a:prstGeom>
          <a:solidFill>
            <a:srgbClr val="2D3436"/>
          </a:solidFill>
        </p:spPr>
      </p:sp>
      <p:sp>
        <p:nvSpPr>
          <p:cNvPr id="15" name="Text 13"/>
          <p:cNvSpPr/>
          <p:nvPr/>
        </p:nvSpPr>
        <p:spPr>
          <a:xfrm>
            <a:off x="4572000" y="2159000"/>
            <a:ext cx="2540000" cy="1016000"/>
          </a:xfrm>
          <a:prstGeom prst="rect">
            <a:avLst/>
          </a:prstGeom>
          <a:noFill/>
        </p:spPr>
        <p:txBody>
          <a:bodyPr wrap="square" lIns="0" tIns="0" rIns="0" bIns="0" rtlCol="0" anchor="ctr"/>
          <a:lstStyle/>
          <a:p>
            <a:pPr algn="ctr">
              <a:lnSpc>
                <a:spcPct val="100000"/>
              </a:lnSpc>
            </a:pPr>
            <a:r>
              <a:rPr lang="en-US" sz="1600" dirty="0">
                <a:solidFill>
                  <a:srgbClr val="F5F6F7"/>
                </a:solidFill>
                <a:latin typeface="Liter" panose="02000503030000020004" pitchFamily="34" charset="0"/>
                <a:ea typeface="Liter" panose="02000503030000020004" pitchFamily="34" charset="-122"/>
                <a:cs typeface="Liter" panose="02000503030000020004" pitchFamily="34" charset="-120"/>
              </a:rPr>
              <a:t>算法时代的</a:t>
            </a:r>
            <a:endParaRPr lang="en-US" sz="1600" dirty="0"/>
          </a:p>
          <a:p>
            <a:pPr algn="ctr">
              <a:lnSpc>
                <a:spcPct val="100000"/>
              </a:lnSpc>
            </a:pPr>
            <a:r>
              <a:rPr lang="en-US" sz="1600" dirty="0">
                <a:solidFill>
                  <a:srgbClr val="F5F6F7"/>
                </a:solidFill>
                <a:latin typeface="Liter" panose="02000503030000020004" pitchFamily="34" charset="0"/>
                <a:ea typeface="Liter" panose="02000503030000020004" pitchFamily="34" charset="-122"/>
                <a:cs typeface="Liter" panose="02000503030000020004" pitchFamily="34" charset="-120"/>
              </a:rPr>
              <a:t>传播特点</a:t>
            </a:r>
            <a:endParaRPr lang="en-US" sz="1600" dirty="0"/>
          </a:p>
        </p:txBody>
      </p:sp>
      <p:sp>
        <p:nvSpPr>
          <p:cNvPr id="16" name="Shape 14"/>
          <p:cNvSpPr/>
          <p:nvPr/>
        </p:nvSpPr>
        <p:spPr>
          <a:xfrm>
            <a:off x="7239000" y="2540000"/>
            <a:ext cx="508000" cy="0"/>
          </a:xfrm>
          <a:prstGeom prst="straightConnector1">
            <a:avLst/>
          </a:prstGeom>
          <a:noFill/>
          <a:ln w="25400">
            <a:solidFill>
              <a:srgbClr val="B33939"/>
            </a:solidFill>
            <a:prstDash val="solid"/>
            <a:headEnd type="none"/>
            <a:tailEnd type="arrow"/>
          </a:ln>
        </p:spPr>
      </p:sp>
      <p:sp>
        <p:nvSpPr>
          <p:cNvPr id="17" name="Shape 15"/>
          <p:cNvSpPr/>
          <p:nvPr/>
        </p:nvSpPr>
        <p:spPr>
          <a:xfrm>
            <a:off x="7874000" y="2159000"/>
            <a:ext cx="2540000" cy="1016000"/>
          </a:xfrm>
          <a:prstGeom prst="rect">
            <a:avLst/>
          </a:prstGeom>
          <a:solidFill>
            <a:srgbClr val="2D3436"/>
          </a:solidFill>
        </p:spPr>
      </p:sp>
      <p:sp>
        <p:nvSpPr>
          <p:cNvPr id="18" name="Text 16"/>
          <p:cNvSpPr/>
          <p:nvPr/>
        </p:nvSpPr>
        <p:spPr>
          <a:xfrm>
            <a:off x="7874000" y="2159000"/>
            <a:ext cx="2540000" cy="1016000"/>
          </a:xfrm>
          <a:prstGeom prst="rect">
            <a:avLst/>
          </a:prstGeom>
          <a:noFill/>
        </p:spPr>
        <p:txBody>
          <a:bodyPr wrap="square" lIns="0" tIns="0" rIns="0" bIns="0" rtlCol="0" anchor="ctr"/>
          <a:lstStyle/>
          <a:p>
            <a:pPr algn="ctr">
              <a:lnSpc>
                <a:spcPct val="100000"/>
              </a:lnSpc>
            </a:pPr>
            <a:r>
              <a:rPr lang="en-US" sz="1600" dirty="0">
                <a:solidFill>
                  <a:srgbClr val="F5F6F7"/>
                </a:solidFill>
                <a:latin typeface="Liter" panose="02000503030000020004" pitchFamily="34" charset="0"/>
                <a:ea typeface="Liter" panose="02000503030000020004" pitchFamily="34" charset="-122"/>
                <a:cs typeface="Liter" panose="02000503030000020004" pitchFamily="34" charset="-120"/>
              </a:rPr>
              <a:t>意识形态传播的</a:t>
            </a:r>
            <a:endParaRPr lang="en-US" sz="1600" dirty="0"/>
          </a:p>
          <a:p>
            <a:pPr algn="ctr">
              <a:lnSpc>
                <a:spcPct val="100000"/>
              </a:lnSpc>
            </a:pPr>
            <a:r>
              <a:rPr lang="en-US" sz="1600" dirty="0">
                <a:solidFill>
                  <a:srgbClr val="F5F6F7"/>
                </a:solidFill>
                <a:latin typeface="Liter" panose="02000503030000020004" pitchFamily="34" charset="0"/>
                <a:ea typeface="Liter" panose="02000503030000020004" pitchFamily="34" charset="-122"/>
                <a:cs typeface="Liter" panose="02000503030000020004" pitchFamily="34" charset="-120"/>
              </a:rPr>
              <a:t>挑战及后果</a:t>
            </a:r>
            <a:endParaRPr lang="en-US" sz="1600" dirty="0"/>
          </a:p>
        </p:txBody>
      </p:sp>
      <p:sp>
        <p:nvSpPr>
          <p:cNvPr id="19" name="Shape 17"/>
          <p:cNvSpPr/>
          <p:nvPr/>
        </p:nvSpPr>
        <p:spPr>
          <a:xfrm>
            <a:off x="10541000" y="2540000"/>
            <a:ext cx="508000" cy="0"/>
          </a:xfrm>
          <a:prstGeom prst="straightConnector1">
            <a:avLst/>
          </a:prstGeom>
          <a:noFill/>
          <a:ln w="25400">
            <a:solidFill>
              <a:srgbClr val="B33939"/>
            </a:solidFill>
            <a:prstDash val="solid"/>
            <a:headEnd type="none"/>
            <a:tailEnd type="arrow"/>
          </a:ln>
        </p:spPr>
      </p:sp>
      <p:sp>
        <p:nvSpPr>
          <p:cNvPr id="20" name="Shape 18"/>
          <p:cNvSpPr/>
          <p:nvPr/>
        </p:nvSpPr>
        <p:spPr>
          <a:xfrm>
            <a:off x="11176000" y="2159000"/>
            <a:ext cx="2540000" cy="1016000"/>
          </a:xfrm>
          <a:prstGeom prst="rect">
            <a:avLst/>
          </a:prstGeom>
          <a:solidFill>
            <a:srgbClr val="2D3436"/>
          </a:solidFill>
        </p:spPr>
      </p:sp>
      <p:sp>
        <p:nvSpPr>
          <p:cNvPr id="21" name="Text 19"/>
          <p:cNvSpPr/>
          <p:nvPr/>
        </p:nvSpPr>
        <p:spPr>
          <a:xfrm>
            <a:off x="11176000" y="2159000"/>
            <a:ext cx="2540000" cy="1016000"/>
          </a:xfrm>
          <a:prstGeom prst="rect">
            <a:avLst/>
          </a:prstGeom>
          <a:noFill/>
        </p:spPr>
        <p:txBody>
          <a:bodyPr wrap="square" lIns="0" tIns="0" rIns="0" bIns="0" rtlCol="0" anchor="ctr"/>
          <a:lstStyle/>
          <a:p>
            <a:pPr algn="ctr">
              <a:lnSpc>
                <a:spcPct val="100000"/>
              </a:lnSpc>
            </a:pPr>
            <a:r>
              <a:rPr lang="en-US" sz="1600" dirty="0">
                <a:solidFill>
                  <a:srgbClr val="F5F6F7"/>
                </a:solidFill>
                <a:latin typeface="Liter" panose="02000503030000020004" pitchFamily="34" charset="0"/>
                <a:ea typeface="Liter" panose="02000503030000020004" pitchFamily="34" charset="-122"/>
                <a:cs typeface="Liter" panose="02000503030000020004" pitchFamily="34" charset="-120"/>
              </a:rPr>
              <a:t>理论反思与</a:t>
            </a:r>
            <a:endParaRPr lang="en-US" sz="1600" dirty="0"/>
          </a:p>
          <a:p>
            <a:pPr algn="ctr">
              <a:lnSpc>
                <a:spcPct val="100000"/>
              </a:lnSpc>
            </a:pPr>
            <a:r>
              <a:rPr lang="en-US" sz="1600" dirty="0">
                <a:solidFill>
                  <a:srgbClr val="F5F6F7"/>
                </a:solidFill>
                <a:latin typeface="Liter" panose="02000503030000020004" pitchFamily="34" charset="0"/>
                <a:ea typeface="Liter" panose="02000503030000020004" pitchFamily="34" charset="-122"/>
                <a:cs typeface="Liter" panose="02000503030000020004" pitchFamily="34" charset="-120"/>
              </a:rPr>
              <a:t>现实解构</a:t>
            </a:r>
            <a:endParaRPr lang="en-US" sz="1600" dirty="0"/>
          </a:p>
        </p:txBody>
      </p:sp>
      <p:sp>
        <p:nvSpPr>
          <p:cNvPr id="22" name="Shape 20"/>
          <p:cNvSpPr/>
          <p:nvPr/>
        </p:nvSpPr>
        <p:spPr>
          <a:xfrm>
            <a:off x="13843000" y="2540000"/>
            <a:ext cx="508000" cy="0"/>
          </a:xfrm>
          <a:prstGeom prst="straightConnector1">
            <a:avLst/>
          </a:prstGeom>
          <a:noFill/>
          <a:ln w="25400">
            <a:solidFill>
              <a:srgbClr val="B33939"/>
            </a:solidFill>
            <a:prstDash val="solid"/>
            <a:headEnd type="none"/>
            <a:tailEnd type="arrow"/>
          </a:ln>
        </p:spPr>
      </p:sp>
      <p:sp>
        <p:nvSpPr>
          <p:cNvPr id="23" name="Shape 21"/>
          <p:cNvSpPr/>
          <p:nvPr/>
        </p:nvSpPr>
        <p:spPr>
          <a:xfrm>
            <a:off x="1270000" y="3683000"/>
            <a:ext cx="12446000" cy="1016000"/>
          </a:xfrm>
          <a:prstGeom prst="rect">
            <a:avLst/>
          </a:prstGeom>
          <a:solidFill>
            <a:srgbClr val="B33939"/>
          </a:solidFill>
        </p:spPr>
      </p:sp>
      <p:sp>
        <p:nvSpPr>
          <p:cNvPr id="24" name="Text 22"/>
          <p:cNvSpPr/>
          <p:nvPr/>
        </p:nvSpPr>
        <p:spPr>
          <a:xfrm>
            <a:off x="1270000" y="3683000"/>
            <a:ext cx="12446000" cy="1016000"/>
          </a:xfrm>
          <a:prstGeom prst="rect">
            <a:avLst/>
          </a:prstGeom>
          <a:noFill/>
        </p:spPr>
        <p:txBody>
          <a:bodyPr wrap="none" lIns="0" tIns="0" rIns="0" bIns="0" rtlCol="0" anchor="ctr"/>
          <a:lstStyle/>
          <a:p>
            <a:pPr algn="ctr">
              <a:lnSpc>
                <a:spcPct val="100000"/>
              </a:lnSpc>
            </a:pPr>
            <a:r>
              <a:rPr lang="en-US" sz="2200" dirty="0">
                <a:solidFill>
                  <a:srgbClr val="F5F6F7"/>
                </a:solidFill>
                <a:latin typeface="Liter" panose="02000503030000020004" pitchFamily="34" charset="0"/>
                <a:ea typeface="Liter" panose="02000503030000020004" pitchFamily="34" charset="-122"/>
                <a:cs typeface="Liter" panose="02000503030000020004" pitchFamily="34" charset="-120"/>
              </a:rPr>
              <a:t>算法时代意识形态工作的应对策略</a:t>
            </a:r>
            <a:endParaRPr lang="en-US" sz="1600" dirty="0"/>
          </a:p>
        </p:txBody>
      </p:sp>
      <p:sp>
        <p:nvSpPr>
          <p:cNvPr id="25" name="Shape 23"/>
          <p:cNvSpPr/>
          <p:nvPr/>
        </p:nvSpPr>
        <p:spPr>
          <a:xfrm>
            <a:off x="762000" y="5207000"/>
            <a:ext cx="14732000" cy="3302000"/>
          </a:xfrm>
          <a:prstGeom prst="rect">
            <a:avLst/>
          </a:prstGeom>
          <a:solidFill>
            <a:srgbClr val="FFFFFF"/>
          </a:solidFill>
          <a:effectLst>
            <a:outerShdw blurRad="152400" dist="38100" dir="5400000" algn="bl" rotWithShape="0">
              <a:srgbClr val="000000">
                <a:alpha val="3922"/>
              </a:srgbClr>
            </a:outerShdw>
          </a:effectLst>
        </p:spPr>
      </p:sp>
      <p:sp>
        <p:nvSpPr>
          <p:cNvPr id="26" name="Text 24"/>
          <p:cNvSpPr/>
          <p:nvPr/>
        </p:nvSpPr>
        <p:spPr>
          <a:xfrm>
            <a:off x="1143000" y="5397500"/>
            <a:ext cx="3810000" cy="355600"/>
          </a:xfrm>
          <a:prstGeom prst="rect">
            <a:avLst/>
          </a:prstGeom>
          <a:noFill/>
        </p:spPr>
        <p:txBody>
          <a:bodyPr wrap="none" lIns="0" tIns="0" rIns="0" bIns="0" rtlCol="0" anchor="ctr"/>
          <a:lstStyle/>
          <a:p>
            <a:pPr>
              <a:lnSpc>
                <a:spcPct val="100000"/>
              </a:lnSpc>
            </a:pPr>
            <a:r>
              <a:rPr lang="en-US" sz="1600" kern="0" spc="200" dirty="0">
                <a:solidFill>
                  <a:srgbClr val="B33939"/>
                </a:solidFill>
                <a:latin typeface="Liter" panose="02000503030000020004" pitchFamily="34" charset="0"/>
                <a:ea typeface="Liter" panose="02000503030000020004" pitchFamily="34" charset="-122"/>
                <a:cs typeface="Liter" panose="02000503030000020004" pitchFamily="34" charset="-120"/>
              </a:rPr>
              <a:t>框架说明</a:t>
            </a:r>
            <a:endParaRPr lang="en-US" sz="1600" dirty="0"/>
          </a:p>
        </p:txBody>
      </p:sp>
      <p:sp>
        <p:nvSpPr>
          <p:cNvPr id="27" name="Text 25"/>
          <p:cNvSpPr/>
          <p:nvPr/>
        </p:nvSpPr>
        <p:spPr>
          <a:xfrm>
            <a:off x="1143000" y="5867400"/>
            <a:ext cx="13970000" cy="2540000"/>
          </a:xfrm>
          <a:prstGeom prst="rect">
            <a:avLst/>
          </a:prstGeom>
          <a:noFill/>
        </p:spPr>
        <p:txBody>
          <a:bodyPr wrap="square" lIns="0" tIns="0" rIns="0" bIns="0" rtlCol="0" anchor="t"/>
          <a:lstStyle/>
          <a:p>
            <a:pPr>
              <a:lnSpc>
                <a:spcPct val="180000"/>
              </a:lnSpc>
            </a:pPr>
            <a:r>
              <a:rPr lang="en-US" sz="1600" b="1"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第一层</a:t>
            </a: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a:t>
            </a:r>
            <a:r>
              <a:rPr lang="en-US" sz="1600" b="1"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问题的提出</a:t>
            </a: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 界定研究范畴，明确算法时代意识形态传播研究的核心问题与现实紧迫性</a:t>
            </a:r>
            <a:endParaRPr lang="en-US" sz="1800" dirty="0"/>
          </a:p>
          <a:p>
            <a:pPr>
              <a:lnSpc>
                <a:spcPct val="180000"/>
              </a:lnSpc>
              <a:spcBef>
                <a:spcPts val="600"/>
              </a:spcBef>
            </a:pPr>
            <a:r>
              <a:rPr lang="en-US" sz="1600" b="1"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第二层</a:t>
            </a: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a:t>
            </a:r>
            <a:r>
              <a:rPr lang="en-US" sz="1600" b="1"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传播特点</a:t>
            </a: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 分析算法驱动下信息传播的新特征与新规律</a:t>
            </a:r>
            <a:endParaRPr lang="en-US" sz="1800" dirty="0"/>
          </a:p>
          <a:p>
            <a:pPr>
              <a:lnSpc>
                <a:spcPct val="180000"/>
              </a:lnSpc>
              <a:spcBef>
                <a:spcPts val="600"/>
              </a:spcBef>
            </a:pPr>
            <a:r>
              <a:rPr lang="en-US" sz="1600" b="1"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第三层</a:t>
            </a: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a:t>
            </a:r>
            <a:r>
              <a:rPr lang="en-US" sz="1600" b="1"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挑战与后果</a:t>
            </a: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 揭示信息茧房、数字泔水等现象对意识形态安全的威胁</a:t>
            </a:r>
            <a:endParaRPr lang="en-US" sz="1800" dirty="0"/>
          </a:p>
          <a:p>
            <a:pPr>
              <a:lnSpc>
                <a:spcPct val="180000"/>
              </a:lnSpc>
              <a:spcBef>
                <a:spcPts val="600"/>
              </a:spcBef>
            </a:pPr>
            <a:r>
              <a:rPr lang="en-US" sz="1600" b="1"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第四层</a:t>
            </a: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a:t>
            </a:r>
            <a:r>
              <a:rPr lang="en-US" sz="1600" b="1"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理论反思</a:t>
            </a: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 从理论高度审视算法时代意识形态工作的底层逻辑</a:t>
            </a:r>
            <a:endParaRPr lang="en-US" sz="1800" dirty="0"/>
          </a:p>
          <a:p>
            <a:pPr>
              <a:lnSpc>
                <a:spcPct val="180000"/>
              </a:lnSpc>
              <a:spcBef>
                <a:spcPts val="600"/>
              </a:spcBef>
            </a:pPr>
            <a:r>
              <a:rPr lang="en-US" sz="1600" b="1"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第五层</a:t>
            </a: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a:t>
            </a:r>
            <a:r>
              <a:rPr lang="en-US" sz="1600" b="1"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应对策略</a:t>
            </a: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 — 提出系统性的优化方案与政策建议</a:t>
            </a:r>
            <a:endParaRPr lang="en-US" sz="1800" dirty="0"/>
          </a:p>
        </p:txBody>
      </p:sp>
      <p:sp>
        <p:nvSpPr>
          <p:cNvPr id="28" name="Text 26"/>
          <p:cNvSpPr/>
          <p:nvPr/>
        </p:nvSpPr>
        <p:spPr>
          <a:xfrm>
            <a:off x="15240000" y="8763000"/>
            <a:ext cx="635000" cy="254000"/>
          </a:xfrm>
          <a:prstGeom prst="rect">
            <a:avLst/>
          </a:prstGeom>
          <a:noFill/>
        </p:spPr>
        <p:txBody>
          <a:bodyPr wrap="none" lIns="0" tIns="0" rIns="0" bIns="0" rtlCol="0" anchor="ctr"/>
          <a:lstStyle/>
          <a:p>
            <a:pPr algn="r">
              <a:lnSpc>
                <a:spcPct val="140000"/>
              </a:lnSpc>
            </a:pPr>
            <a:r>
              <a:rPr lang="en-US" sz="1400" dirty="0">
                <a:solidFill>
                  <a:srgbClr val="636E72"/>
                </a:solidFill>
                <a:latin typeface="QuattrocentoSans" panose="020B0502050000020003" pitchFamily="34" charset="0"/>
                <a:ea typeface="QuattrocentoSans" panose="020B0502050000020003" pitchFamily="34" charset="-122"/>
                <a:cs typeface="QuattrocentoSans" panose="020B0502050000020003" pitchFamily="34" charset="-120"/>
              </a:rPr>
              <a:t>08</a:t>
            </a:r>
            <a:endParaRPr lang="en-US" sz="14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7"/>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2D3436"/>
          </a:solidFill>
        </p:spPr>
      </p:sp>
      <p:sp>
        <p:nvSpPr>
          <p:cNvPr id="3" name="Text 1"/>
          <p:cNvSpPr/>
          <p:nvPr/>
        </p:nvSpPr>
        <p:spPr>
          <a:xfrm>
            <a:off x="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项目背景与意义</a:t>
            </a:r>
            <a:endParaRPr lang="en-US" sz="1300" dirty="0"/>
          </a:p>
        </p:txBody>
      </p:sp>
      <p:sp>
        <p:nvSpPr>
          <p:cNvPr id="4" name="Text 2"/>
          <p:cNvSpPr/>
          <p:nvPr/>
        </p:nvSpPr>
        <p:spPr>
          <a:xfrm>
            <a:off x="4064000" y="0"/>
            <a:ext cx="4064000" cy="508000"/>
          </a:xfrm>
          <a:prstGeom prst="rect">
            <a:avLst/>
          </a:prstGeom>
          <a:noFill/>
        </p:spPr>
        <p:txBody>
          <a:bodyPr wrap="none" lIns="0" tIns="0" rIns="0" bIns="0" rtlCol="0" anchor="ctr"/>
          <a:lstStyle/>
          <a:p>
            <a:pPr algn="ctr">
              <a:lnSpc>
                <a:spcPct val="100000"/>
              </a:lnSpc>
            </a:pPr>
            <a:r>
              <a:rPr lang="en-US" sz="1300" dirty="0">
                <a:solidFill>
                  <a:srgbClr val="F5F6F7"/>
                </a:solidFill>
                <a:latin typeface="QuattrocentoSans" panose="020B0502050000020003" pitchFamily="34" charset="0"/>
                <a:ea typeface="QuattrocentoSans" panose="020B0502050000020003" pitchFamily="34" charset="-122"/>
                <a:cs typeface="QuattrocentoSans" panose="020B0502050000020003" pitchFamily="34" charset="-120"/>
              </a:rPr>
              <a:t>项目进展</a:t>
            </a:r>
            <a:endParaRPr lang="en-US" sz="1300" dirty="0"/>
          </a:p>
        </p:txBody>
      </p:sp>
      <p:sp>
        <p:nvSpPr>
          <p:cNvPr id="5" name="Shape 3"/>
          <p:cNvSpPr/>
          <p:nvPr/>
        </p:nvSpPr>
        <p:spPr>
          <a:xfrm>
            <a:off x="4826000" y="520700"/>
            <a:ext cx="2540000" cy="38100"/>
          </a:xfrm>
          <a:prstGeom prst="rect">
            <a:avLst/>
          </a:prstGeom>
          <a:solidFill>
            <a:srgbClr val="B33939"/>
          </a:solidFill>
        </p:spPr>
      </p:sp>
      <p:sp>
        <p:nvSpPr>
          <p:cNvPr id="6" name="Text 4"/>
          <p:cNvSpPr/>
          <p:nvPr/>
        </p:nvSpPr>
        <p:spPr>
          <a:xfrm>
            <a:off x="8128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成果汇总</a:t>
            </a:r>
            <a:endParaRPr lang="en-US" sz="1300" dirty="0"/>
          </a:p>
        </p:txBody>
      </p:sp>
      <p:sp>
        <p:nvSpPr>
          <p:cNvPr id="7" name="Text 5"/>
          <p:cNvSpPr/>
          <p:nvPr/>
        </p:nvSpPr>
        <p:spPr>
          <a:xfrm>
            <a:off x="12192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未来计划</a:t>
            </a:r>
            <a:endParaRPr lang="en-US" sz="1300" dirty="0"/>
          </a:p>
        </p:txBody>
      </p:sp>
      <p:sp>
        <p:nvSpPr>
          <p:cNvPr id="8" name="Text 6"/>
          <p:cNvSpPr/>
          <p:nvPr/>
        </p:nvSpPr>
        <p:spPr>
          <a:xfrm>
            <a:off x="762000" y="736600"/>
            <a:ext cx="8890000" cy="508000"/>
          </a:xfrm>
          <a:prstGeom prst="rect">
            <a:avLst/>
          </a:prstGeom>
          <a:noFill/>
        </p:spPr>
        <p:txBody>
          <a:bodyPr wrap="none" lIns="0" tIns="0" rIns="0" bIns="0" rtlCol="0" anchor="ctr"/>
          <a:lstStyle/>
          <a:p>
            <a:pPr>
              <a:lnSpc>
                <a:spcPct val="100000"/>
              </a:lnSpc>
            </a:pPr>
            <a:r>
              <a:rPr lang="zh-CN" altLang="en-US" sz="2800" dirty="0">
                <a:solidFill>
                  <a:srgbClr val="2D3436"/>
                </a:solidFill>
                <a:latin typeface="Liter" panose="02000503030000020004" pitchFamily="34" charset="0"/>
                <a:ea typeface="Liter" panose="02000503030000020004" pitchFamily="34" charset="-122"/>
                <a:cs typeface="Liter" panose="02000503030000020004" pitchFamily="34" charset="-120"/>
              </a:rPr>
              <a:t>软件工程专业</a:t>
            </a:r>
            <a:r>
              <a:rPr lang="zh-CN" altLang="en-US" sz="2800" dirty="0">
                <a:solidFill>
                  <a:srgbClr val="2D3436"/>
                </a:solidFill>
                <a:latin typeface="Liter" panose="02000503030000020004" pitchFamily="34" charset="0"/>
                <a:ea typeface="Liter" panose="02000503030000020004" pitchFamily="34" charset="-122"/>
                <a:cs typeface="Liter" panose="02000503030000020004" pitchFamily="34" charset="-120"/>
              </a:rPr>
              <a:t>支撑</a:t>
            </a:r>
            <a:endParaRPr lang="zh-CN" altLang="en-US" sz="2800" dirty="0">
              <a:solidFill>
                <a:srgbClr val="2D3436"/>
              </a:solidFill>
              <a:latin typeface="Liter" panose="02000503030000020004" pitchFamily="34" charset="0"/>
              <a:ea typeface="Liter" panose="02000503030000020004" pitchFamily="34" charset="-122"/>
              <a:cs typeface="Liter" panose="02000503030000020004" pitchFamily="34" charset="-120"/>
            </a:endParaRPr>
          </a:p>
        </p:txBody>
      </p:sp>
      <p:sp>
        <p:nvSpPr>
          <p:cNvPr id="9" name="Shape 7"/>
          <p:cNvSpPr/>
          <p:nvPr/>
        </p:nvSpPr>
        <p:spPr>
          <a:xfrm>
            <a:off x="762000" y="1308100"/>
            <a:ext cx="635000" cy="38100"/>
          </a:xfrm>
          <a:prstGeom prst="rect">
            <a:avLst/>
          </a:prstGeom>
          <a:solidFill>
            <a:srgbClr val="B33939"/>
          </a:solidFill>
        </p:spPr>
      </p:sp>
      <p:sp>
        <p:nvSpPr>
          <p:cNvPr id="10" name="Shape 8"/>
          <p:cNvSpPr/>
          <p:nvPr/>
        </p:nvSpPr>
        <p:spPr>
          <a:xfrm>
            <a:off x="762000" y="1651000"/>
            <a:ext cx="14732000" cy="1270000"/>
          </a:xfrm>
          <a:prstGeom prst="rect">
            <a:avLst/>
          </a:prstGeom>
          <a:solidFill>
            <a:srgbClr val="2D3436"/>
          </a:solidFill>
        </p:spPr>
        <p:txBody>
          <a:bodyPr/>
          <a:p>
            <a:endParaRPr lang="zh-CN" altLang="en-US"/>
          </a:p>
        </p:txBody>
      </p:sp>
      <p:sp>
        <p:nvSpPr>
          <p:cNvPr id="11" name="Shape 9"/>
          <p:cNvSpPr/>
          <p:nvPr/>
        </p:nvSpPr>
        <p:spPr>
          <a:xfrm>
            <a:off x="1270000" y="1930400"/>
            <a:ext cx="609600" cy="609600"/>
          </a:xfrm>
          <a:custGeom>
            <a:avLst/>
            <a:gdLst/>
            <a:ahLst/>
            <a:cxnLst/>
            <a:rect l="l" t="t" r="r" b="b"/>
            <a:pathLst>
              <a:path w="609600" h="609600">
                <a:moveTo>
                  <a:pt x="304800" y="0"/>
                </a:moveTo>
                <a:cubicBezTo>
                  <a:pt x="473024" y="0"/>
                  <a:pt x="609600" y="136576"/>
                  <a:pt x="609600" y="304800"/>
                </a:cubicBezTo>
                <a:cubicBezTo>
                  <a:pt x="609600" y="473024"/>
                  <a:pt x="473024" y="609600"/>
                  <a:pt x="304800" y="609600"/>
                </a:cubicBezTo>
                <a:cubicBezTo>
                  <a:pt x="136576" y="609600"/>
                  <a:pt x="0" y="473024"/>
                  <a:pt x="0" y="304800"/>
                </a:cubicBezTo>
                <a:cubicBezTo>
                  <a:pt x="0" y="136576"/>
                  <a:pt x="136576" y="0"/>
                  <a:pt x="304800" y="0"/>
                </a:cubicBezTo>
                <a:close/>
                <a:moveTo>
                  <a:pt x="276225" y="142875"/>
                </a:moveTo>
                <a:lnTo>
                  <a:pt x="276225" y="304800"/>
                </a:lnTo>
                <a:cubicBezTo>
                  <a:pt x="276225" y="314325"/>
                  <a:pt x="280987" y="323255"/>
                  <a:pt x="288965" y="328613"/>
                </a:cubicBezTo>
                <a:lnTo>
                  <a:pt x="403265" y="404813"/>
                </a:lnTo>
                <a:cubicBezTo>
                  <a:pt x="416362" y="413623"/>
                  <a:pt x="434102" y="410051"/>
                  <a:pt x="442913" y="396835"/>
                </a:cubicBezTo>
                <a:cubicBezTo>
                  <a:pt x="451723" y="383619"/>
                  <a:pt x="448151" y="365998"/>
                  <a:pt x="434935" y="357188"/>
                </a:cubicBezTo>
                <a:lnTo>
                  <a:pt x="333375" y="289560"/>
                </a:lnTo>
                <a:lnTo>
                  <a:pt x="333375" y="142875"/>
                </a:lnTo>
                <a:cubicBezTo>
                  <a:pt x="333375" y="127040"/>
                  <a:pt x="320635" y="114300"/>
                  <a:pt x="304800" y="114300"/>
                </a:cubicBezTo>
                <a:cubicBezTo>
                  <a:pt x="288965" y="114300"/>
                  <a:pt x="276225" y="127040"/>
                  <a:pt x="276225" y="142875"/>
                </a:cubicBezTo>
                <a:close/>
              </a:path>
            </a:pathLst>
          </a:custGeom>
          <a:solidFill>
            <a:srgbClr val="B33939"/>
          </a:solidFill>
        </p:spPr>
      </p:sp>
      <p:sp>
        <p:nvSpPr>
          <p:cNvPr id="12" name="Text 10"/>
          <p:cNvSpPr/>
          <p:nvPr/>
        </p:nvSpPr>
        <p:spPr>
          <a:xfrm>
            <a:off x="2159000" y="1841500"/>
            <a:ext cx="1524000" cy="762000"/>
          </a:xfrm>
          <a:prstGeom prst="rect">
            <a:avLst/>
          </a:prstGeom>
          <a:noFill/>
        </p:spPr>
        <p:txBody>
          <a:bodyPr wrap="none" lIns="0" tIns="0" rIns="0" bIns="0" rtlCol="0" anchor="ctr"/>
          <a:lstStyle/>
          <a:p>
            <a:pPr>
              <a:lnSpc>
                <a:spcPct val="100000"/>
              </a:lnSpc>
            </a:pPr>
            <a:endParaRPr lang="en-US" sz="1600" dirty="0"/>
          </a:p>
        </p:txBody>
      </p:sp>
      <p:sp>
        <p:nvSpPr>
          <p:cNvPr id="14" name="Text 12"/>
          <p:cNvSpPr/>
          <p:nvPr/>
        </p:nvSpPr>
        <p:spPr>
          <a:xfrm>
            <a:off x="2628900" y="1841500"/>
            <a:ext cx="8001000" cy="762000"/>
          </a:xfrm>
          <a:prstGeom prst="rect">
            <a:avLst/>
          </a:prstGeom>
          <a:noFill/>
        </p:spPr>
        <p:txBody>
          <a:bodyPr wrap="square" lIns="0" tIns="0" rIns="0" bIns="0" rtlCol="0" anchor="ctr"/>
          <a:lstStyle/>
          <a:p>
            <a:pPr>
              <a:lnSpc>
                <a:spcPct val="150000"/>
              </a:lnSpc>
            </a:pPr>
            <a:r>
              <a:rPr lang="en-US" sz="1800" dirty="0">
                <a:solidFill>
                  <a:srgbClr val="B0BEC5"/>
                </a:solidFill>
                <a:latin typeface="Quattrocento Sans" panose="020B0502050000020003" pitchFamily="34" charset="0"/>
                <a:ea typeface="Quattrocento Sans" panose="020B0502050000020003" pitchFamily="34" charset="-122"/>
                <a:cs typeface="Quattrocento Sans" panose="020B0502050000020003" pitchFamily="34" charset="-120"/>
              </a:rPr>
              <a:t>基于软件工程与AI技术视角，分析算法传播机制与数字化治理路径</a:t>
            </a:r>
            <a:endParaRPr lang="en-US" sz="1800" dirty="0">
              <a:solidFill>
                <a:srgbClr val="B0BEC5"/>
              </a:solidFill>
              <a:latin typeface="Quattrocento Sans" panose="020B0502050000020003" pitchFamily="34" charset="0"/>
              <a:ea typeface="Quattrocento Sans" panose="020B0502050000020003" pitchFamily="34" charset="-122"/>
              <a:cs typeface="Quattrocento Sans" panose="020B0502050000020003" pitchFamily="34" charset="-120"/>
            </a:endParaRPr>
          </a:p>
        </p:txBody>
      </p:sp>
      <p:sp>
        <p:nvSpPr>
          <p:cNvPr id="15" name="Shape 13"/>
          <p:cNvSpPr/>
          <p:nvPr/>
        </p:nvSpPr>
        <p:spPr>
          <a:xfrm>
            <a:off x="762000" y="3365500"/>
            <a:ext cx="4699000" cy="4762500"/>
          </a:xfrm>
          <a:prstGeom prst="rect">
            <a:avLst/>
          </a:prstGeom>
          <a:solidFill>
            <a:srgbClr val="FFFFFF"/>
          </a:solidFill>
          <a:effectLst>
            <a:outerShdw blurRad="152400" dist="38100" dir="5400000" algn="bl" rotWithShape="0">
              <a:srgbClr val="000000">
                <a:alpha val="3922"/>
              </a:srgbClr>
            </a:outerShdw>
          </a:effectLst>
        </p:spPr>
      </p:sp>
      <p:sp>
        <p:nvSpPr>
          <p:cNvPr id="16" name="Shape 14"/>
          <p:cNvSpPr/>
          <p:nvPr/>
        </p:nvSpPr>
        <p:spPr>
          <a:xfrm>
            <a:off x="762000" y="3365500"/>
            <a:ext cx="4699000" cy="63500"/>
          </a:xfrm>
          <a:prstGeom prst="rect">
            <a:avLst/>
          </a:prstGeom>
          <a:solidFill>
            <a:srgbClr val="B33939"/>
          </a:solidFill>
        </p:spPr>
      </p:sp>
      <p:sp>
        <p:nvSpPr>
          <p:cNvPr id="17" name="Shape 15"/>
          <p:cNvSpPr/>
          <p:nvPr/>
        </p:nvSpPr>
        <p:spPr>
          <a:xfrm>
            <a:off x="1193800" y="3746500"/>
            <a:ext cx="304800" cy="406400"/>
          </a:xfrm>
          <a:custGeom>
            <a:avLst/>
            <a:gdLst/>
            <a:ahLst/>
            <a:cxnLst/>
            <a:rect l="l" t="t" r="r" b="b"/>
            <a:pathLst>
              <a:path w="304800" h="406400">
                <a:moveTo>
                  <a:pt x="232489" y="304800"/>
                </a:moveTo>
                <a:cubicBezTo>
                  <a:pt x="238284" y="287099"/>
                  <a:pt x="249872" y="271066"/>
                  <a:pt x="262969" y="257254"/>
                </a:cubicBezTo>
                <a:cubicBezTo>
                  <a:pt x="288925" y="229949"/>
                  <a:pt x="304800" y="193040"/>
                  <a:pt x="304800" y="152400"/>
                </a:cubicBezTo>
                <a:cubicBezTo>
                  <a:pt x="304800" y="68263"/>
                  <a:pt x="236537" y="0"/>
                  <a:pt x="152400" y="0"/>
                </a:cubicBezTo>
                <a:cubicBezTo>
                  <a:pt x="68262" y="0"/>
                  <a:pt x="0" y="68263"/>
                  <a:pt x="0" y="152400"/>
                </a:cubicBezTo>
                <a:cubicBezTo>
                  <a:pt x="0" y="193040"/>
                  <a:pt x="15875" y="229949"/>
                  <a:pt x="41831" y="257254"/>
                </a:cubicBezTo>
                <a:cubicBezTo>
                  <a:pt x="54928" y="271066"/>
                  <a:pt x="66596" y="287099"/>
                  <a:pt x="72311" y="304800"/>
                </a:cubicBezTo>
                <a:lnTo>
                  <a:pt x="232410" y="304800"/>
                </a:lnTo>
                <a:close/>
                <a:moveTo>
                  <a:pt x="228600" y="342900"/>
                </a:moveTo>
                <a:lnTo>
                  <a:pt x="76200" y="342900"/>
                </a:lnTo>
                <a:lnTo>
                  <a:pt x="76200" y="355600"/>
                </a:lnTo>
                <a:cubicBezTo>
                  <a:pt x="76200" y="390684"/>
                  <a:pt x="104616" y="419100"/>
                  <a:pt x="139700" y="419100"/>
                </a:cubicBezTo>
                <a:lnTo>
                  <a:pt x="165100" y="419100"/>
                </a:lnTo>
                <a:cubicBezTo>
                  <a:pt x="200184" y="419100"/>
                  <a:pt x="228600" y="390684"/>
                  <a:pt x="228600" y="355600"/>
                </a:cubicBezTo>
                <a:lnTo>
                  <a:pt x="228600" y="342900"/>
                </a:lnTo>
                <a:close/>
                <a:moveTo>
                  <a:pt x="146050" y="88900"/>
                </a:moveTo>
                <a:cubicBezTo>
                  <a:pt x="114459" y="88900"/>
                  <a:pt x="88900" y="114459"/>
                  <a:pt x="88900" y="146050"/>
                </a:cubicBezTo>
                <a:cubicBezTo>
                  <a:pt x="88900" y="156607"/>
                  <a:pt x="80407" y="165100"/>
                  <a:pt x="69850" y="165100"/>
                </a:cubicBezTo>
                <a:cubicBezTo>
                  <a:pt x="59293" y="165100"/>
                  <a:pt x="50800" y="156607"/>
                  <a:pt x="50800" y="146050"/>
                </a:cubicBezTo>
                <a:cubicBezTo>
                  <a:pt x="50800" y="93424"/>
                  <a:pt x="93424" y="50800"/>
                  <a:pt x="146050" y="50800"/>
                </a:cubicBezTo>
                <a:cubicBezTo>
                  <a:pt x="156607" y="50800"/>
                  <a:pt x="165100" y="59293"/>
                  <a:pt x="165100" y="69850"/>
                </a:cubicBezTo>
                <a:cubicBezTo>
                  <a:pt x="165100" y="80407"/>
                  <a:pt x="156607" y="88900"/>
                  <a:pt x="146050" y="88900"/>
                </a:cubicBezTo>
                <a:close/>
              </a:path>
            </a:pathLst>
          </a:custGeom>
          <a:solidFill>
            <a:srgbClr val="B33939"/>
          </a:solidFill>
        </p:spPr>
      </p:sp>
      <p:sp>
        <p:nvSpPr>
          <p:cNvPr id="18" name="Text 16"/>
          <p:cNvSpPr/>
          <p:nvPr/>
        </p:nvSpPr>
        <p:spPr>
          <a:xfrm>
            <a:off x="1143000" y="4318000"/>
            <a:ext cx="3937000" cy="381000"/>
          </a:xfrm>
          <a:prstGeom prst="rect">
            <a:avLst/>
          </a:prstGeom>
          <a:noFill/>
        </p:spPr>
        <p:txBody>
          <a:bodyPr wrap="none" lIns="0" tIns="0" rIns="0" bIns="0" rtlCol="0" anchor="ctr"/>
          <a:lstStyle/>
          <a:p>
            <a:pPr algn="l">
              <a:lnSpc>
                <a:spcPct val="100000"/>
              </a:lnSpc>
              <a:buClrTx/>
              <a:buSzTx/>
              <a:buFontTx/>
            </a:pPr>
            <a:r>
              <a:rPr lang="en-US" sz="2000" dirty="0">
                <a:solidFill>
                  <a:srgbClr val="2D3436"/>
                </a:solidFill>
                <a:latin typeface="Liter" panose="02000503030000020004" pitchFamily="34" charset="0"/>
                <a:ea typeface="Liter" panose="02000503030000020004" pitchFamily="34" charset="-122"/>
                <a:cs typeface="Liter" panose="02000503030000020004" pitchFamily="34" charset="-120"/>
              </a:rPr>
              <a:t>推荐算法机制分析</a:t>
            </a:r>
            <a:endParaRPr lang="en-US" sz="2000" dirty="0">
              <a:solidFill>
                <a:srgbClr val="2D3436"/>
              </a:solidFill>
              <a:latin typeface="Liter" panose="02000503030000020004" pitchFamily="34" charset="0"/>
              <a:ea typeface="Liter" panose="02000503030000020004" pitchFamily="34" charset="-122"/>
              <a:cs typeface="Liter" panose="02000503030000020004" pitchFamily="34" charset="-120"/>
            </a:endParaRPr>
          </a:p>
        </p:txBody>
      </p:sp>
      <p:sp>
        <p:nvSpPr>
          <p:cNvPr id="19" name="Text 17"/>
          <p:cNvSpPr/>
          <p:nvPr/>
        </p:nvSpPr>
        <p:spPr>
          <a:xfrm>
            <a:off x="1161415" y="4864100"/>
            <a:ext cx="3937000" cy="2921000"/>
          </a:xfrm>
          <a:prstGeom prst="rect">
            <a:avLst/>
          </a:prstGeom>
          <a:noFill/>
        </p:spPr>
        <p:txBody>
          <a:bodyPr wrap="square" lIns="0" tIns="0" rIns="0" bIns="0" rtlCol="0" anchor="t"/>
          <a:lstStyle/>
          <a:p>
            <a:pPr>
              <a:lnSpc>
                <a:spcPct val="170000"/>
              </a:lnSpc>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研究短视频平台与社交媒体中的个性化推荐机制，分析算法如何影响信息传播路径与用户认知模式，并探讨“信息茧房”等现象的形成逻辑</a:t>
            </a:r>
            <a:r>
              <a:rPr lang="zh-CN" altLang="en-US" sz="1800" dirty="0"/>
              <a:t>。</a:t>
            </a:r>
            <a:endParaRPr lang="zh-CN" altLang="en-US" sz="1800" dirty="0"/>
          </a:p>
        </p:txBody>
      </p:sp>
      <p:sp>
        <p:nvSpPr>
          <p:cNvPr id="20" name="Shape 18"/>
          <p:cNvSpPr/>
          <p:nvPr/>
        </p:nvSpPr>
        <p:spPr>
          <a:xfrm>
            <a:off x="5778500" y="3365500"/>
            <a:ext cx="4699000" cy="4762500"/>
          </a:xfrm>
          <a:prstGeom prst="rect">
            <a:avLst/>
          </a:prstGeom>
          <a:solidFill>
            <a:srgbClr val="FFFFFF"/>
          </a:solidFill>
          <a:effectLst>
            <a:outerShdw blurRad="152400" dist="38100" dir="5400000" algn="bl" rotWithShape="0">
              <a:srgbClr val="000000">
                <a:alpha val="3922"/>
              </a:srgbClr>
            </a:outerShdw>
          </a:effectLst>
        </p:spPr>
      </p:sp>
      <p:sp>
        <p:nvSpPr>
          <p:cNvPr id="21" name="Shape 19"/>
          <p:cNvSpPr/>
          <p:nvPr/>
        </p:nvSpPr>
        <p:spPr>
          <a:xfrm>
            <a:off x="5778500" y="3365500"/>
            <a:ext cx="4699000" cy="63500"/>
          </a:xfrm>
          <a:prstGeom prst="rect">
            <a:avLst/>
          </a:prstGeom>
          <a:solidFill>
            <a:srgbClr val="B33939"/>
          </a:solidFill>
        </p:spPr>
      </p:sp>
      <p:sp>
        <p:nvSpPr>
          <p:cNvPr id="22" name="Shape 20"/>
          <p:cNvSpPr/>
          <p:nvPr/>
        </p:nvSpPr>
        <p:spPr>
          <a:xfrm>
            <a:off x="6159500" y="3746500"/>
            <a:ext cx="406400" cy="406400"/>
          </a:xfrm>
          <a:custGeom>
            <a:avLst/>
            <a:gdLst/>
            <a:ahLst/>
            <a:cxnLst/>
            <a:rect l="l" t="t" r="r" b="b"/>
            <a:pathLst>
              <a:path w="406400" h="406400">
                <a:moveTo>
                  <a:pt x="152400" y="50800"/>
                </a:moveTo>
                <a:cubicBezTo>
                  <a:pt x="152400" y="36751"/>
                  <a:pt x="163751" y="25400"/>
                  <a:pt x="177800" y="25400"/>
                </a:cubicBezTo>
                <a:lnTo>
                  <a:pt x="228600" y="25400"/>
                </a:lnTo>
                <a:cubicBezTo>
                  <a:pt x="242649" y="25400"/>
                  <a:pt x="254000" y="36751"/>
                  <a:pt x="254000" y="50800"/>
                </a:cubicBezTo>
                <a:lnTo>
                  <a:pt x="254000" y="101600"/>
                </a:lnTo>
                <a:cubicBezTo>
                  <a:pt x="254000" y="115649"/>
                  <a:pt x="242649" y="127000"/>
                  <a:pt x="228600" y="127000"/>
                </a:cubicBezTo>
                <a:lnTo>
                  <a:pt x="222250" y="127000"/>
                </a:lnTo>
                <a:lnTo>
                  <a:pt x="222250" y="177800"/>
                </a:lnTo>
                <a:lnTo>
                  <a:pt x="317500" y="177800"/>
                </a:lnTo>
                <a:cubicBezTo>
                  <a:pt x="349091" y="177800"/>
                  <a:pt x="374650" y="203359"/>
                  <a:pt x="374650" y="234950"/>
                </a:cubicBezTo>
                <a:lnTo>
                  <a:pt x="374650" y="279400"/>
                </a:lnTo>
                <a:lnTo>
                  <a:pt x="381000" y="279400"/>
                </a:lnTo>
                <a:cubicBezTo>
                  <a:pt x="395049" y="279400"/>
                  <a:pt x="406400" y="290751"/>
                  <a:pt x="406400" y="304800"/>
                </a:cubicBezTo>
                <a:lnTo>
                  <a:pt x="406400" y="355600"/>
                </a:lnTo>
                <a:cubicBezTo>
                  <a:pt x="406400" y="369649"/>
                  <a:pt x="395049" y="381000"/>
                  <a:pt x="381000" y="381000"/>
                </a:cubicBezTo>
                <a:lnTo>
                  <a:pt x="330200" y="381000"/>
                </a:lnTo>
                <a:cubicBezTo>
                  <a:pt x="316151" y="381000"/>
                  <a:pt x="304800" y="369649"/>
                  <a:pt x="304800" y="355600"/>
                </a:cubicBezTo>
                <a:lnTo>
                  <a:pt x="304800" y="304800"/>
                </a:lnTo>
                <a:cubicBezTo>
                  <a:pt x="304800" y="290751"/>
                  <a:pt x="316151" y="279400"/>
                  <a:pt x="330200" y="279400"/>
                </a:cubicBezTo>
                <a:lnTo>
                  <a:pt x="336550" y="279400"/>
                </a:lnTo>
                <a:lnTo>
                  <a:pt x="336550" y="234950"/>
                </a:lnTo>
                <a:cubicBezTo>
                  <a:pt x="336550" y="224393"/>
                  <a:pt x="328057" y="215900"/>
                  <a:pt x="317500" y="215900"/>
                </a:cubicBezTo>
                <a:lnTo>
                  <a:pt x="222250" y="215900"/>
                </a:lnTo>
                <a:lnTo>
                  <a:pt x="222250" y="279400"/>
                </a:lnTo>
                <a:lnTo>
                  <a:pt x="228600" y="279400"/>
                </a:lnTo>
                <a:cubicBezTo>
                  <a:pt x="242649" y="279400"/>
                  <a:pt x="254000" y="290751"/>
                  <a:pt x="254000" y="304800"/>
                </a:cubicBezTo>
                <a:lnTo>
                  <a:pt x="254000" y="355600"/>
                </a:lnTo>
                <a:cubicBezTo>
                  <a:pt x="254000" y="369649"/>
                  <a:pt x="242649" y="381000"/>
                  <a:pt x="228600" y="381000"/>
                </a:cubicBezTo>
                <a:lnTo>
                  <a:pt x="177800" y="381000"/>
                </a:lnTo>
                <a:cubicBezTo>
                  <a:pt x="163751" y="381000"/>
                  <a:pt x="152400" y="369649"/>
                  <a:pt x="152400" y="355600"/>
                </a:cubicBezTo>
                <a:lnTo>
                  <a:pt x="152400" y="304800"/>
                </a:lnTo>
                <a:cubicBezTo>
                  <a:pt x="152400" y="290751"/>
                  <a:pt x="163751" y="279400"/>
                  <a:pt x="177800" y="279400"/>
                </a:cubicBezTo>
                <a:lnTo>
                  <a:pt x="184150" y="279400"/>
                </a:lnTo>
                <a:lnTo>
                  <a:pt x="184150" y="215900"/>
                </a:lnTo>
                <a:lnTo>
                  <a:pt x="88900" y="215900"/>
                </a:lnTo>
                <a:cubicBezTo>
                  <a:pt x="78343" y="215900"/>
                  <a:pt x="69850" y="224393"/>
                  <a:pt x="69850" y="234950"/>
                </a:cubicBezTo>
                <a:lnTo>
                  <a:pt x="69850" y="279400"/>
                </a:lnTo>
                <a:lnTo>
                  <a:pt x="76200" y="279400"/>
                </a:lnTo>
                <a:cubicBezTo>
                  <a:pt x="90249" y="279400"/>
                  <a:pt x="101600" y="290751"/>
                  <a:pt x="101600" y="304800"/>
                </a:cubicBezTo>
                <a:lnTo>
                  <a:pt x="101600" y="355600"/>
                </a:lnTo>
                <a:cubicBezTo>
                  <a:pt x="101600" y="369649"/>
                  <a:pt x="90249" y="381000"/>
                  <a:pt x="76200" y="381000"/>
                </a:cubicBezTo>
                <a:lnTo>
                  <a:pt x="25400" y="381000"/>
                </a:lnTo>
                <a:cubicBezTo>
                  <a:pt x="11351" y="381000"/>
                  <a:pt x="0" y="369649"/>
                  <a:pt x="0" y="355600"/>
                </a:cubicBezTo>
                <a:lnTo>
                  <a:pt x="0" y="304800"/>
                </a:lnTo>
                <a:cubicBezTo>
                  <a:pt x="0" y="290751"/>
                  <a:pt x="11351" y="279400"/>
                  <a:pt x="25400" y="279400"/>
                </a:cubicBezTo>
                <a:lnTo>
                  <a:pt x="31750" y="279400"/>
                </a:lnTo>
                <a:lnTo>
                  <a:pt x="31750" y="234950"/>
                </a:lnTo>
                <a:cubicBezTo>
                  <a:pt x="31750" y="203359"/>
                  <a:pt x="57309" y="177800"/>
                  <a:pt x="88900" y="177800"/>
                </a:cubicBezTo>
                <a:lnTo>
                  <a:pt x="184150" y="177800"/>
                </a:lnTo>
                <a:lnTo>
                  <a:pt x="184150" y="127000"/>
                </a:lnTo>
                <a:lnTo>
                  <a:pt x="177800" y="127000"/>
                </a:lnTo>
                <a:cubicBezTo>
                  <a:pt x="163751" y="127000"/>
                  <a:pt x="152400" y="115649"/>
                  <a:pt x="152400" y="101600"/>
                </a:cubicBezTo>
                <a:lnTo>
                  <a:pt x="152400" y="50800"/>
                </a:lnTo>
                <a:close/>
              </a:path>
            </a:pathLst>
          </a:custGeom>
          <a:solidFill>
            <a:srgbClr val="B33939"/>
          </a:solidFill>
        </p:spPr>
      </p:sp>
      <p:sp>
        <p:nvSpPr>
          <p:cNvPr id="23" name="Text 21"/>
          <p:cNvSpPr/>
          <p:nvPr/>
        </p:nvSpPr>
        <p:spPr>
          <a:xfrm>
            <a:off x="6159500" y="4318000"/>
            <a:ext cx="3937000" cy="381000"/>
          </a:xfrm>
          <a:prstGeom prst="rect">
            <a:avLst/>
          </a:prstGeom>
          <a:noFill/>
        </p:spPr>
        <p:txBody>
          <a:bodyPr wrap="none" lIns="0" tIns="0" rIns="0" bIns="0" rtlCol="0" anchor="ctr"/>
          <a:lstStyle/>
          <a:p>
            <a:pPr algn="l">
              <a:lnSpc>
                <a:spcPct val="100000"/>
              </a:lnSpc>
            </a:pPr>
            <a:r>
              <a:rPr lang="en-US" sz="2000" dirty="0">
                <a:solidFill>
                  <a:srgbClr val="2D3436"/>
                </a:solidFill>
                <a:latin typeface="Liter" panose="02000503030000020004" pitchFamily="34" charset="0"/>
                <a:ea typeface="Liter" panose="02000503030000020004" pitchFamily="34" charset="-122"/>
                <a:cs typeface="Liter" panose="02000503030000020004" pitchFamily="34" charset="-120"/>
              </a:rPr>
              <a:t>AIGC传播风险研究</a:t>
            </a:r>
            <a:endParaRPr lang="en-US" sz="2000" dirty="0">
              <a:solidFill>
                <a:srgbClr val="2D3436"/>
              </a:solidFill>
              <a:latin typeface="Liter" panose="02000503030000020004" pitchFamily="34" charset="0"/>
              <a:ea typeface="Liter" panose="02000503030000020004" pitchFamily="34" charset="-122"/>
              <a:cs typeface="Liter" panose="02000503030000020004" pitchFamily="34" charset="-120"/>
            </a:endParaRPr>
          </a:p>
        </p:txBody>
      </p:sp>
      <p:sp>
        <p:nvSpPr>
          <p:cNvPr id="24" name="Text 22"/>
          <p:cNvSpPr/>
          <p:nvPr/>
        </p:nvSpPr>
        <p:spPr>
          <a:xfrm>
            <a:off x="6159500" y="4826000"/>
            <a:ext cx="3937000" cy="2921000"/>
          </a:xfrm>
          <a:prstGeom prst="rect">
            <a:avLst/>
          </a:prstGeom>
          <a:noFill/>
        </p:spPr>
        <p:txBody>
          <a:bodyPr wrap="square" lIns="0" tIns="0" rIns="0" bIns="0" rtlCol="0" anchor="t"/>
          <a:lstStyle/>
          <a:p>
            <a:pPr>
              <a:lnSpc>
                <a:spcPct val="170000"/>
              </a:lnSpc>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结合生成式AI技术的发展，分析AI内容生成、自动传播与舆情放大效应对意识形态传播环境带来的影响与挑战</a:t>
            </a:r>
            <a:r>
              <a:rPr lang="zh-CN" altLang="en-US" sz="1800" dirty="0"/>
              <a:t>。</a:t>
            </a:r>
            <a:endParaRPr lang="zh-CN" altLang="en-US" sz="1800" dirty="0"/>
          </a:p>
        </p:txBody>
      </p:sp>
      <p:sp>
        <p:nvSpPr>
          <p:cNvPr id="25" name="Shape 23"/>
          <p:cNvSpPr/>
          <p:nvPr/>
        </p:nvSpPr>
        <p:spPr>
          <a:xfrm>
            <a:off x="10795000" y="3365500"/>
            <a:ext cx="4699000" cy="4762500"/>
          </a:xfrm>
          <a:prstGeom prst="rect">
            <a:avLst/>
          </a:prstGeom>
          <a:solidFill>
            <a:srgbClr val="FFFFFF"/>
          </a:solidFill>
          <a:effectLst>
            <a:outerShdw blurRad="152400" dist="38100" dir="5400000" algn="bl" rotWithShape="0">
              <a:srgbClr val="000000">
                <a:alpha val="3922"/>
              </a:srgbClr>
            </a:outerShdw>
          </a:effectLst>
        </p:spPr>
      </p:sp>
      <p:sp>
        <p:nvSpPr>
          <p:cNvPr id="26" name="Shape 24"/>
          <p:cNvSpPr/>
          <p:nvPr/>
        </p:nvSpPr>
        <p:spPr>
          <a:xfrm>
            <a:off x="10795000" y="3365500"/>
            <a:ext cx="4699000" cy="63500"/>
          </a:xfrm>
          <a:prstGeom prst="rect">
            <a:avLst/>
          </a:prstGeom>
          <a:solidFill>
            <a:srgbClr val="B33939"/>
          </a:solidFill>
        </p:spPr>
      </p:sp>
      <p:sp>
        <p:nvSpPr>
          <p:cNvPr id="27" name="Shape 25"/>
          <p:cNvSpPr/>
          <p:nvPr/>
        </p:nvSpPr>
        <p:spPr>
          <a:xfrm>
            <a:off x="11176000" y="3746500"/>
            <a:ext cx="406400" cy="406400"/>
          </a:xfrm>
          <a:custGeom>
            <a:avLst/>
            <a:gdLst/>
            <a:ahLst/>
            <a:cxnLst/>
            <a:rect l="l" t="t" r="r" b="b"/>
            <a:pathLst>
              <a:path w="406400" h="406400">
                <a:moveTo>
                  <a:pt x="184547" y="4128"/>
                </a:moveTo>
                <a:cubicBezTo>
                  <a:pt x="196374" y="-1349"/>
                  <a:pt x="210026" y="-1349"/>
                  <a:pt x="221853" y="4128"/>
                </a:cubicBezTo>
                <a:lnTo>
                  <a:pt x="395367" y="84296"/>
                </a:lnTo>
                <a:cubicBezTo>
                  <a:pt x="402114" y="87392"/>
                  <a:pt x="406400" y="94139"/>
                  <a:pt x="406400" y="101600"/>
                </a:cubicBezTo>
                <a:cubicBezTo>
                  <a:pt x="406400" y="109061"/>
                  <a:pt x="402114" y="115808"/>
                  <a:pt x="395367" y="118904"/>
                </a:cubicBezTo>
                <a:lnTo>
                  <a:pt x="221853" y="199073"/>
                </a:lnTo>
                <a:cubicBezTo>
                  <a:pt x="210026" y="204549"/>
                  <a:pt x="196374" y="204549"/>
                  <a:pt x="184547" y="199073"/>
                </a:cubicBezTo>
                <a:lnTo>
                  <a:pt x="11033" y="118904"/>
                </a:lnTo>
                <a:cubicBezTo>
                  <a:pt x="4286" y="115729"/>
                  <a:pt x="0" y="108982"/>
                  <a:pt x="0" y="101600"/>
                </a:cubicBezTo>
                <a:cubicBezTo>
                  <a:pt x="0" y="94218"/>
                  <a:pt x="4286" y="87392"/>
                  <a:pt x="11033" y="84296"/>
                </a:cubicBezTo>
                <a:lnTo>
                  <a:pt x="184547" y="4128"/>
                </a:lnTo>
                <a:close/>
                <a:moveTo>
                  <a:pt x="38179" y="173355"/>
                </a:moveTo>
                <a:lnTo>
                  <a:pt x="168593" y="233601"/>
                </a:lnTo>
                <a:cubicBezTo>
                  <a:pt x="190579" y="243761"/>
                  <a:pt x="215900" y="243761"/>
                  <a:pt x="237887" y="233601"/>
                </a:cubicBezTo>
                <a:lnTo>
                  <a:pt x="368300" y="173355"/>
                </a:lnTo>
                <a:lnTo>
                  <a:pt x="395367" y="185896"/>
                </a:lnTo>
                <a:cubicBezTo>
                  <a:pt x="402114" y="188992"/>
                  <a:pt x="406400" y="195739"/>
                  <a:pt x="406400" y="203200"/>
                </a:cubicBezTo>
                <a:cubicBezTo>
                  <a:pt x="406400" y="210661"/>
                  <a:pt x="402114" y="217408"/>
                  <a:pt x="395367" y="220504"/>
                </a:cubicBezTo>
                <a:lnTo>
                  <a:pt x="221853" y="300673"/>
                </a:lnTo>
                <a:cubicBezTo>
                  <a:pt x="210026" y="306149"/>
                  <a:pt x="196374" y="306149"/>
                  <a:pt x="184547" y="300673"/>
                </a:cubicBezTo>
                <a:lnTo>
                  <a:pt x="11033" y="220504"/>
                </a:lnTo>
                <a:cubicBezTo>
                  <a:pt x="4286" y="217329"/>
                  <a:pt x="0" y="210582"/>
                  <a:pt x="0" y="203200"/>
                </a:cubicBezTo>
                <a:cubicBezTo>
                  <a:pt x="0" y="195818"/>
                  <a:pt x="4286" y="188992"/>
                  <a:pt x="11033" y="185896"/>
                </a:cubicBezTo>
                <a:lnTo>
                  <a:pt x="38100" y="173355"/>
                </a:lnTo>
                <a:close/>
                <a:moveTo>
                  <a:pt x="11033" y="287496"/>
                </a:moveTo>
                <a:lnTo>
                  <a:pt x="38100" y="274955"/>
                </a:lnTo>
                <a:lnTo>
                  <a:pt x="168513" y="335201"/>
                </a:lnTo>
                <a:cubicBezTo>
                  <a:pt x="190500" y="345361"/>
                  <a:pt x="215821" y="345361"/>
                  <a:pt x="237808" y="335201"/>
                </a:cubicBezTo>
                <a:lnTo>
                  <a:pt x="368221" y="274955"/>
                </a:lnTo>
                <a:lnTo>
                  <a:pt x="395288" y="287496"/>
                </a:lnTo>
                <a:cubicBezTo>
                  <a:pt x="402034" y="290592"/>
                  <a:pt x="406321" y="297339"/>
                  <a:pt x="406321" y="304800"/>
                </a:cubicBezTo>
                <a:cubicBezTo>
                  <a:pt x="406321" y="312261"/>
                  <a:pt x="402034" y="319008"/>
                  <a:pt x="395288" y="322104"/>
                </a:cubicBezTo>
                <a:lnTo>
                  <a:pt x="221774" y="402273"/>
                </a:lnTo>
                <a:cubicBezTo>
                  <a:pt x="209947" y="407749"/>
                  <a:pt x="196294" y="407749"/>
                  <a:pt x="184468" y="402273"/>
                </a:cubicBezTo>
                <a:lnTo>
                  <a:pt x="11033" y="322104"/>
                </a:lnTo>
                <a:cubicBezTo>
                  <a:pt x="4286" y="318929"/>
                  <a:pt x="0" y="312182"/>
                  <a:pt x="0" y="304800"/>
                </a:cubicBezTo>
                <a:cubicBezTo>
                  <a:pt x="0" y="297418"/>
                  <a:pt x="4286" y="290592"/>
                  <a:pt x="11033" y="287496"/>
                </a:cubicBezTo>
                <a:close/>
              </a:path>
            </a:pathLst>
          </a:custGeom>
          <a:solidFill>
            <a:srgbClr val="B33939"/>
          </a:solidFill>
        </p:spPr>
      </p:sp>
      <p:sp>
        <p:nvSpPr>
          <p:cNvPr id="28" name="Text 26"/>
          <p:cNvSpPr/>
          <p:nvPr/>
        </p:nvSpPr>
        <p:spPr>
          <a:xfrm>
            <a:off x="11176000" y="4318000"/>
            <a:ext cx="3937000" cy="381000"/>
          </a:xfrm>
          <a:prstGeom prst="rect">
            <a:avLst/>
          </a:prstGeom>
          <a:noFill/>
        </p:spPr>
        <p:txBody>
          <a:bodyPr wrap="none" lIns="0" tIns="0" rIns="0" bIns="0" rtlCol="0" anchor="ctr"/>
          <a:lstStyle/>
          <a:p>
            <a:pPr algn="l">
              <a:lnSpc>
                <a:spcPct val="100000"/>
              </a:lnSpc>
              <a:buClrTx/>
              <a:buSzTx/>
              <a:buFontTx/>
            </a:pPr>
            <a:r>
              <a:rPr lang="en-US" sz="2000" dirty="0">
                <a:solidFill>
                  <a:srgbClr val="2D3436"/>
                </a:solidFill>
                <a:latin typeface="Liter" panose="02000503030000020004" pitchFamily="34" charset="0"/>
                <a:ea typeface="Liter" panose="02000503030000020004" pitchFamily="34" charset="-122"/>
                <a:cs typeface="Liter" panose="02000503030000020004" pitchFamily="34" charset="-120"/>
              </a:rPr>
              <a:t>舆情分析与技术治理</a:t>
            </a:r>
            <a:endParaRPr lang="en-US" sz="2000" dirty="0">
              <a:solidFill>
                <a:srgbClr val="2D3436"/>
              </a:solidFill>
              <a:latin typeface="Liter" panose="02000503030000020004" pitchFamily="34" charset="0"/>
              <a:ea typeface="Liter" panose="02000503030000020004" pitchFamily="34" charset="-122"/>
              <a:cs typeface="Liter" panose="02000503030000020004" pitchFamily="34" charset="-120"/>
            </a:endParaRPr>
          </a:p>
        </p:txBody>
      </p:sp>
      <p:sp>
        <p:nvSpPr>
          <p:cNvPr id="29" name="Text 27"/>
          <p:cNvSpPr/>
          <p:nvPr/>
        </p:nvSpPr>
        <p:spPr>
          <a:xfrm>
            <a:off x="11176000" y="4826000"/>
            <a:ext cx="3937000" cy="2921000"/>
          </a:xfrm>
          <a:prstGeom prst="rect">
            <a:avLst/>
          </a:prstGeom>
          <a:noFill/>
        </p:spPr>
        <p:txBody>
          <a:bodyPr wrap="square" lIns="0" tIns="0" rIns="0" bIns="0" rtlCol="0" anchor="t"/>
          <a:lstStyle/>
          <a:p>
            <a:pPr>
              <a:lnSpc>
                <a:spcPct val="170000"/>
              </a:lnSpc>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从软件工程与数据分析视角，探索数字化舆情监测、情感识别与风险预警等技术方案，增强研究成果的工程化与实践价值</a:t>
            </a:r>
            <a:r>
              <a:rPr lang="zh-CN" altLang="en-US" sz="1800" dirty="0"/>
              <a:t>。</a:t>
            </a:r>
            <a:endParaRPr lang="zh-CN" altLang="en-US" sz="1800" dirty="0"/>
          </a:p>
        </p:txBody>
      </p:sp>
      <p:sp>
        <p:nvSpPr>
          <p:cNvPr id="30" name="Text 28"/>
          <p:cNvSpPr/>
          <p:nvPr/>
        </p:nvSpPr>
        <p:spPr>
          <a:xfrm>
            <a:off x="15240000" y="8763000"/>
            <a:ext cx="635000" cy="254000"/>
          </a:xfrm>
          <a:prstGeom prst="rect">
            <a:avLst/>
          </a:prstGeom>
          <a:noFill/>
        </p:spPr>
        <p:txBody>
          <a:bodyPr wrap="none" lIns="0" tIns="0" rIns="0" bIns="0" rtlCol="0" anchor="ctr"/>
          <a:lstStyle/>
          <a:p>
            <a:pPr algn="r">
              <a:lnSpc>
                <a:spcPct val="140000"/>
              </a:lnSpc>
            </a:pPr>
            <a:r>
              <a:rPr lang="en-US" sz="1400" dirty="0">
                <a:solidFill>
                  <a:srgbClr val="636E72"/>
                </a:solidFill>
                <a:latin typeface="QuattrocentoSans" panose="020B0502050000020003" pitchFamily="34" charset="0"/>
                <a:ea typeface="QuattrocentoSans" panose="020B0502050000020003" pitchFamily="34" charset="-122"/>
                <a:cs typeface="QuattrocentoSans" panose="020B0502050000020003" pitchFamily="34" charset="-120"/>
              </a:rPr>
              <a:t>09</a:t>
            </a:r>
            <a:endParaRPr lang="en-US" sz="14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okc/vddp6qs6dys5m/mnt/agents/output/dcq_midterm_report/images/6_Communication_social_network_and.png"/>
          <p:cNvPicPr>
            <a:picLocks noChangeAspect="1"/>
          </p:cNvPicPr>
          <p:nvPr/>
        </p:nvPicPr>
        <p:blipFill>
          <a:blip r:embed="rId1"/>
          <a:srcRect t="2731" b="2731"/>
          <a:stretch>
            <a:fillRect/>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flip="none" rotWithShape="1">
            <a:gsLst>
              <a:gs pos="0">
                <a:srgbClr val="2D3436">
                  <a:alpha val="94000"/>
                </a:srgbClr>
              </a:gs>
              <a:gs pos="60000">
                <a:srgbClr val="2D3436">
                  <a:alpha val="82000"/>
                </a:srgbClr>
              </a:gs>
              <a:gs pos="100000">
                <a:srgbClr val="2D3436">
                  <a:alpha val="50000"/>
                </a:srgbClr>
              </a:gs>
            </a:gsLst>
            <a:lin ang="0" scaled="1"/>
          </a:gradFill>
          <a:ln w="12700">
            <a:solidFill>
              <a:srgbClr val="333333"/>
            </a:solidFill>
            <a:prstDash val="solid"/>
          </a:ln>
        </p:spPr>
      </p:sp>
      <p:sp>
        <p:nvSpPr>
          <p:cNvPr id="4" name="Text 1"/>
          <p:cNvSpPr/>
          <p:nvPr/>
        </p:nvSpPr>
        <p:spPr>
          <a:xfrm>
            <a:off x="762000" y="1778000"/>
            <a:ext cx="5080000" cy="2032000"/>
          </a:xfrm>
          <a:prstGeom prst="rect">
            <a:avLst/>
          </a:prstGeom>
          <a:noFill/>
        </p:spPr>
        <p:txBody>
          <a:bodyPr wrap="none" lIns="0" tIns="0" rIns="0" bIns="0" rtlCol="0" anchor="t"/>
          <a:lstStyle/>
          <a:p>
            <a:pPr>
              <a:lnSpc>
                <a:spcPct val="100000"/>
              </a:lnSpc>
            </a:pPr>
            <a:r>
              <a:rPr lang="en-US" sz="14000" dirty="0">
                <a:solidFill>
                  <a:srgbClr val="FFFFFF">
                    <a:alpha val="3137"/>
                  </a:srgbClr>
                </a:solidFill>
                <a:latin typeface="Liter" panose="02000503030000020004" pitchFamily="34" charset="0"/>
                <a:ea typeface="Liter" panose="02000503030000020004" pitchFamily="34" charset="-122"/>
                <a:cs typeface="Liter" panose="02000503030000020004" pitchFamily="34" charset="-120"/>
              </a:rPr>
              <a:t>03</a:t>
            </a:r>
            <a:endParaRPr lang="en-US" sz="1600" dirty="0"/>
          </a:p>
        </p:txBody>
      </p:sp>
      <p:sp>
        <p:nvSpPr>
          <p:cNvPr id="5" name="Text 2"/>
          <p:cNvSpPr/>
          <p:nvPr/>
        </p:nvSpPr>
        <p:spPr>
          <a:xfrm>
            <a:off x="1016000" y="4064000"/>
            <a:ext cx="2794000" cy="304800"/>
          </a:xfrm>
          <a:prstGeom prst="rect">
            <a:avLst/>
          </a:prstGeom>
          <a:noFill/>
        </p:spPr>
        <p:txBody>
          <a:bodyPr wrap="none" lIns="0" tIns="0" rIns="0" bIns="0" rtlCol="0" anchor="ctr"/>
          <a:lstStyle/>
          <a:p>
            <a:pPr>
              <a:lnSpc>
                <a:spcPct val="100000"/>
              </a:lnSpc>
            </a:pPr>
            <a:r>
              <a:rPr lang="en-US" sz="1300" kern="0" spc="400" dirty="0">
                <a:solidFill>
                  <a:srgbClr val="E8A0A0"/>
                </a:solidFill>
                <a:latin typeface="Liter" panose="02000503030000020004" pitchFamily="34" charset="0"/>
                <a:ea typeface="Liter" panose="02000503030000020004" pitchFamily="34" charset="-122"/>
                <a:cs typeface="Liter" panose="02000503030000020004" pitchFamily="34" charset="-120"/>
              </a:rPr>
              <a:t>CHAPTER THREE</a:t>
            </a:r>
            <a:endParaRPr lang="en-US" sz="1600" dirty="0"/>
          </a:p>
        </p:txBody>
      </p:sp>
      <p:sp>
        <p:nvSpPr>
          <p:cNvPr id="6" name="Shape 3"/>
          <p:cNvSpPr/>
          <p:nvPr/>
        </p:nvSpPr>
        <p:spPr>
          <a:xfrm>
            <a:off x="1016000" y="4508500"/>
            <a:ext cx="762000" cy="38100"/>
          </a:xfrm>
          <a:prstGeom prst="rect">
            <a:avLst/>
          </a:prstGeom>
          <a:solidFill>
            <a:srgbClr val="B33939"/>
          </a:solidFill>
        </p:spPr>
      </p:sp>
      <p:sp>
        <p:nvSpPr>
          <p:cNvPr id="7" name="Text 4"/>
          <p:cNvSpPr/>
          <p:nvPr/>
        </p:nvSpPr>
        <p:spPr>
          <a:xfrm>
            <a:off x="1016000" y="4762500"/>
            <a:ext cx="7620000" cy="698500"/>
          </a:xfrm>
          <a:prstGeom prst="rect">
            <a:avLst/>
          </a:prstGeom>
          <a:noFill/>
        </p:spPr>
        <p:txBody>
          <a:bodyPr wrap="none" lIns="0" tIns="0" rIns="0" bIns="0" rtlCol="0" anchor="ctr"/>
          <a:lstStyle/>
          <a:p>
            <a:pPr>
              <a:lnSpc>
                <a:spcPct val="100000"/>
              </a:lnSpc>
            </a:pPr>
            <a:r>
              <a:rPr lang="en-US" sz="4200" kern="0" spc="300" dirty="0">
                <a:solidFill>
                  <a:srgbClr val="F5F6F7"/>
                </a:solidFill>
                <a:latin typeface="Liter" panose="02000503030000020004" pitchFamily="34" charset="0"/>
                <a:ea typeface="Liter" panose="02000503030000020004" pitchFamily="34" charset="-122"/>
                <a:cs typeface="Liter" panose="02000503030000020004" pitchFamily="34" charset="-120"/>
              </a:rPr>
              <a:t>成果汇总</a:t>
            </a:r>
            <a:endParaRPr lang="en-US" sz="4000" dirty="0"/>
          </a:p>
        </p:txBody>
      </p:sp>
      <p:sp>
        <p:nvSpPr>
          <p:cNvPr id="8" name="Text 5"/>
          <p:cNvSpPr/>
          <p:nvPr/>
        </p:nvSpPr>
        <p:spPr>
          <a:xfrm>
            <a:off x="1016000" y="5651500"/>
            <a:ext cx="8890000" cy="381000"/>
          </a:xfrm>
          <a:prstGeom prst="rect">
            <a:avLst/>
          </a:prstGeom>
          <a:noFill/>
        </p:spPr>
        <p:txBody>
          <a:bodyPr wrap="none" lIns="0" tIns="0" rIns="0" bIns="0" rtlCol="0" anchor="ctr"/>
          <a:lstStyle/>
          <a:p>
            <a:pPr>
              <a:lnSpc>
                <a:spcPct val="150000"/>
              </a:lnSpc>
            </a:pPr>
            <a:r>
              <a:rPr lang="en-US" sz="1800" dirty="0">
                <a:solidFill>
                  <a:srgbClr val="B0BEC5"/>
                </a:solidFill>
                <a:latin typeface="QuattrocentoSans" panose="020B0502050000020003" pitchFamily="34" charset="0"/>
                <a:ea typeface="QuattrocentoSans" panose="020B0502050000020003" pitchFamily="34" charset="-122"/>
                <a:cs typeface="QuattrocentoSans" panose="020B0502050000020003" pitchFamily="34" charset="-120"/>
              </a:rPr>
              <a:t>理论研究与实践探索的阶段性成果</a:t>
            </a:r>
            <a:endParaRPr lang="en-US" sz="22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7"/>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2D3436"/>
          </a:solidFill>
        </p:spPr>
      </p:sp>
      <p:sp>
        <p:nvSpPr>
          <p:cNvPr id="3" name="Text 1"/>
          <p:cNvSpPr/>
          <p:nvPr/>
        </p:nvSpPr>
        <p:spPr>
          <a:xfrm>
            <a:off x="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项目背景与意义</a:t>
            </a:r>
            <a:endParaRPr lang="en-US" sz="1300" dirty="0"/>
          </a:p>
        </p:txBody>
      </p:sp>
      <p:sp>
        <p:nvSpPr>
          <p:cNvPr id="4" name="Text 2"/>
          <p:cNvSpPr/>
          <p:nvPr/>
        </p:nvSpPr>
        <p:spPr>
          <a:xfrm>
            <a:off x="4064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项目进展</a:t>
            </a:r>
            <a:endParaRPr lang="en-US" sz="1300" dirty="0"/>
          </a:p>
        </p:txBody>
      </p:sp>
      <p:sp>
        <p:nvSpPr>
          <p:cNvPr id="5" name="Text 3"/>
          <p:cNvSpPr/>
          <p:nvPr/>
        </p:nvSpPr>
        <p:spPr>
          <a:xfrm>
            <a:off x="8128000" y="0"/>
            <a:ext cx="4064000" cy="508000"/>
          </a:xfrm>
          <a:prstGeom prst="rect">
            <a:avLst/>
          </a:prstGeom>
          <a:noFill/>
        </p:spPr>
        <p:txBody>
          <a:bodyPr wrap="none" lIns="0" tIns="0" rIns="0" bIns="0" rtlCol="0" anchor="ctr"/>
          <a:lstStyle/>
          <a:p>
            <a:pPr algn="ctr">
              <a:lnSpc>
                <a:spcPct val="100000"/>
              </a:lnSpc>
            </a:pPr>
            <a:r>
              <a:rPr lang="en-US" sz="1300" dirty="0">
                <a:solidFill>
                  <a:srgbClr val="F5F6F7"/>
                </a:solidFill>
                <a:latin typeface="QuattrocentoSans" panose="020B0502050000020003" pitchFamily="34" charset="0"/>
                <a:ea typeface="QuattrocentoSans" panose="020B0502050000020003" pitchFamily="34" charset="-122"/>
                <a:cs typeface="QuattrocentoSans" panose="020B0502050000020003" pitchFamily="34" charset="-120"/>
              </a:rPr>
              <a:t>成果汇总</a:t>
            </a:r>
            <a:endParaRPr lang="en-US" sz="1300" dirty="0"/>
          </a:p>
        </p:txBody>
      </p:sp>
      <p:sp>
        <p:nvSpPr>
          <p:cNvPr id="6" name="Shape 4"/>
          <p:cNvSpPr/>
          <p:nvPr/>
        </p:nvSpPr>
        <p:spPr>
          <a:xfrm>
            <a:off x="8890000" y="520700"/>
            <a:ext cx="2540000" cy="38100"/>
          </a:xfrm>
          <a:prstGeom prst="rect">
            <a:avLst/>
          </a:prstGeom>
          <a:solidFill>
            <a:srgbClr val="B33939"/>
          </a:solidFill>
        </p:spPr>
      </p:sp>
      <p:sp>
        <p:nvSpPr>
          <p:cNvPr id="7" name="Text 5"/>
          <p:cNvSpPr/>
          <p:nvPr/>
        </p:nvSpPr>
        <p:spPr>
          <a:xfrm>
            <a:off x="12192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未来计划</a:t>
            </a:r>
            <a:endParaRPr lang="en-US" sz="1300" dirty="0"/>
          </a:p>
        </p:txBody>
      </p:sp>
      <p:sp>
        <p:nvSpPr>
          <p:cNvPr id="8" name="Text 6"/>
          <p:cNvSpPr/>
          <p:nvPr/>
        </p:nvSpPr>
        <p:spPr>
          <a:xfrm>
            <a:off x="762000" y="736600"/>
            <a:ext cx="8890000" cy="508000"/>
          </a:xfrm>
          <a:prstGeom prst="rect">
            <a:avLst/>
          </a:prstGeom>
          <a:noFill/>
        </p:spPr>
        <p:txBody>
          <a:bodyPr wrap="none" lIns="0" tIns="0" rIns="0" bIns="0" rtlCol="0" anchor="ctr"/>
          <a:lstStyle/>
          <a:p>
            <a:pPr>
              <a:lnSpc>
                <a:spcPct val="100000"/>
              </a:lnSpc>
            </a:pPr>
            <a:r>
              <a:rPr lang="en-US" sz="2800" dirty="0">
                <a:solidFill>
                  <a:srgbClr val="2D3436"/>
                </a:solidFill>
                <a:latin typeface="Liter" panose="02000503030000020004" pitchFamily="34" charset="0"/>
                <a:ea typeface="Liter" panose="02000503030000020004" pitchFamily="34" charset="-122"/>
                <a:cs typeface="Liter" panose="02000503030000020004" pitchFamily="34" charset="-120"/>
              </a:rPr>
              <a:t>已完成成果</a:t>
            </a:r>
            <a:endParaRPr lang="en-US" sz="2800" dirty="0"/>
          </a:p>
        </p:txBody>
      </p:sp>
      <p:sp>
        <p:nvSpPr>
          <p:cNvPr id="9" name="Shape 7"/>
          <p:cNvSpPr/>
          <p:nvPr/>
        </p:nvSpPr>
        <p:spPr>
          <a:xfrm>
            <a:off x="762000" y="1308100"/>
            <a:ext cx="635000" cy="38100"/>
          </a:xfrm>
          <a:prstGeom prst="rect">
            <a:avLst/>
          </a:prstGeom>
          <a:solidFill>
            <a:srgbClr val="B33939"/>
          </a:solidFill>
        </p:spPr>
      </p:sp>
      <p:sp>
        <p:nvSpPr>
          <p:cNvPr id="10" name="Shape 8"/>
          <p:cNvSpPr/>
          <p:nvPr/>
        </p:nvSpPr>
        <p:spPr>
          <a:xfrm>
            <a:off x="8408035" y="1855470"/>
            <a:ext cx="7048500" cy="6413500"/>
          </a:xfrm>
          <a:prstGeom prst="rect">
            <a:avLst/>
          </a:prstGeom>
          <a:solidFill>
            <a:srgbClr val="2D3436"/>
          </a:solidFill>
        </p:spPr>
      </p:sp>
      <p:sp>
        <p:nvSpPr>
          <p:cNvPr id="11" name="Shape 9"/>
          <p:cNvSpPr/>
          <p:nvPr/>
        </p:nvSpPr>
        <p:spPr>
          <a:xfrm>
            <a:off x="8865235" y="2299970"/>
            <a:ext cx="457200" cy="609600"/>
          </a:xfrm>
          <a:custGeom>
            <a:avLst/>
            <a:gdLst/>
            <a:ahLst/>
            <a:cxnLst/>
            <a:rect l="l" t="t" r="r" b="b"/>
            <a:pathLst>
              <a:path w="457200" h="609600">
                <a:moveTo>
                  <a:pt x="0" y="76200"/>
                </a:moveTo>
                <a:cubicBezTo>
                  <a:pt x="0" y="34171"/>
                  <a:pt x="34171" y="0"/>
                  <a:pt x="76200" y="0"/>
                </a:cubicBezTo>
                <a:lnTo>
                  <a:pt x="254198" y="0"/>
                </a:lnTo>
                <a:cubicBezTo>
                  <a:pt x="274439" y="0"/>
                  <a:pt x="293846" y="7977"/>
                  <a:pt x="308134" y="22265"/>
                </a:cubicBezTo>
                <a:lnTo>
                  <a:pt x="434935" y="149185"/>
                </a:lnTo>
                <a:cubicBezTo>
                  <a:pt x="449223" y="163473"/>
                  <a:pt x="457200" y="182880"/>
                  <a:pt x="457200" y="203121"/>
                </a:cubicBezTo>
                <a:lnTo>
                  <a:pt x="457200" y="533400"/>
                </a:lnTo>
                <a:cubicBezTo>
                  <a:pt x="457200" y="575429"/>
                  <a:pt x="423029" y="609600"/>
                  <a:pt x="381000" y="609600"/>
                </a:cubicBezTo>
                <a:lnTo>
                  <a:pt x="76200" y="609600"/>
                </a:lnTo>
                <a:cubicBezTo>
                  <a:pt x="34171" y="609600"/>
                  <a:pt x="0" y="575429"/>
                  <a:pt x="0" y="533400"/>
                </a:cubicBezTo>
                <a:lnTo>
                  <a:pt x="0" y="76200"/>
                </a:lnTo>
                <a:close/>
                <a:moveTo>
                  <a:pt x="247650" y="69652"/>
                </a:moveTo>
                <a:lnTo>
                  <a:pt x="247650" y="180975"/>
                </a:lnTo>
                <a:cubicBezTo>
                  <a:pt x="247650" y="196810"/>
                  <a:pt x="260390" y="209550"/>
                  <a:pt x="276225" y="209550"/>
                </a:cubicBezTo>
                <a:lnTo>
                  <a:pt x="387548" y="209550"/>
                </a:lnTo>
                <a:lnTo>
                  <a:pt x="247650" y="69652"/>
                </a:lnTo>
                <a:close/>
                <a:moveTo>
                  <a:pt x="142875" y="304800"/>
                </a:moveTo>
                <a:cubicBezTo>
                  <a:pt x="127040" y="304800"/>
                  <a:pt x="114300" y="317540"/>
                  <a:pt x="114300" y="333375"/>
                </a:cubicBezTo>
                <a:cubicBezTo>
                  <a:pt x="114300" y="349210"/>
                  <a:pt x="127040" y="361950"/>
                  <a:pt x="142875" y="361950"/>
                </a:cubicBezTo>
                <a:lnTo>
                  <a:pt x="314325" y="361950"/>
                </a:lnTo>
                <a:cubicBezTo>
                  <a:pt x="330160" y="361950"/>
                  <a:pt x="342900" y="349210"/>
                  <a:pt x="342900" y="333375"/>
                </a:cubicBezTo>
                <a:cubicBezTo>
                  <a:pt x="342900" y="317540"/>
                  <a:pt x="330160" y="304800"/>
                  <a:pt x="314325" y="304800"/>
                </a:cubicBezTo>
                <a:lnTo>
                  <a:pt x="142875" y="304800"/>
                </a:lnTo>
                <a:close/>
                <a:moveTo>
                  <a:pt x="142875" y="419100"/>
                </a:moveTo>
                <a:cubicBezTo>
                  <a:pt x="127040" y="419100"/>
                  <a:pt x="114300" y="431840"/>
                  <a:pt x="114300" y="447675"/>
                </a:cubicBezTo>
                <a:cubicBezTo>
                  <a:pt x="114300" y="463510"/>
                  <a:pt x="127040" y="476250"/>
                  <a:pt x="142875" y="476250"/>
                </a:cubicBezTo>
                <a:lnTo>
                  <a:pt x="314325" y="476250"/>
                </a:lnTo>
                <a:cubicBezTo>
                  <a:pt x="330160" y="476250"/>
                  <a:pt x="342900" y="463510"/>
                  <a:pt x="342900" y="447675"/>
                </a:cubicBezTo>
                <a:cubicBezTo>
                  <a:pt x="342900" y="431840"/>
                  <a:pt x="330160" y="419100"/>
                  <a:pt x="314325" y="419100"/>
                </a:cubicBezTo>
                <a:lnTo>
                  <a:pt x="142875" y="419100"/>
                </a:lnTo>
                <a:close/>
              </a:path>
            </a:pathLst>
          </a:custGeom>
          <a:solidFill>
            <a:srgbClr val="B33939"/>
          </a:solidFill>
        </p:spPr>
      </p:sp>
      <p:sp>
        <p:nvSpPr>
          <p:cNvPr id="12" name="Shape 10"/>
          <p:cNvSpPr/>
          <p:nvPr/>
        </p:nvSpPr>
        <p:spPr>
          <a:xfrm>
            <a:off x="13488035" y="2299970"/>
            <a:ext cx="1524000" cy="406400"/>
          </a:xfrm>
          <a:prstGeom prst="rect">
            <a:avLst/>
          </a:prstGeom>
          <a:solidFill>
            <a:srgbClr val="B33939"/>
          </a:solidFill>
        </p:spPr>
      </p:sp>
      <p:sp>
        <p:nvSpPr>
          <p:cNvPr id="13" name="Text 11"/>
          <p:cNvSpPr/>
          <p:nvPr/>
        </p:nvSpPr>
        <p:spPr>
          <a:xfrm>
            <a:off x="13488035" y="2299970"/>
            <a:ext cx="1524000" cy="406400"/>
          </a:xfrm>
          <a:prstGeom prst="rect">
            <a:avLst/>
          </a:prstGeom>
          <a:noFill/>
        </p:spPr>
        <p:txBody>
          <a:bodyPr wrap="none" lIns="0" tIns="0" rIns="0" bIns="0" rtlCol="0" anchor="ctr"/>
          <a:lstStyle/>
          <a:p>
            <a:pPr algn="ctr">
              <a:lnSpc>
                <a:spcPct val="100000"/>
              </a:lnSpc>
            </a:pPr>
            <a:r>
              <a:rPr lang="en-US" sz="1300" dirty="0">
                <a:solidFill>
                  <a:srgbClr val="F5F6F7"/>
                </a:solidFill>
                <a:latin typeface="Quattrocento Sans" panose="020B0502050000020003" pitchFamily="34" charset="0"/>
                <a:ea typeface="Quattrocento Sans" panose="020B0502050000020003" pitchFamily="34" charset="-122"/>
                <a:cs typeface="Quattrocento Sans" panose="020B0502050000020003" pitchFamily="34" charset="-120"/>
              </a:rPr>
              <a:t>投稿阶段</a:t>
            </a:r>
            <a:endParaRPr lang="en-US" sz="1600" dirty="0"/>
          </a:p>
        </p:txBody>
      </p:sp>
      <p:sp>
        <p:nvSpPr>
          <p:cNvPr id="14" name="Text 12"/>
          <p:cNvSpPr/>
          <p:nvPr/>
        </p:nvSpPr>
        <p:spPr>
          <a:xfrm>
            <a:off x="8789035" y="3188970"/>
            <a:ext cx="6286500" cy="444500"/>
          </a:xfrm>
          <a:prstGeom prst="rect">
            <a:avLst/>
          </a:prstGeom>
          <a:noFill/>
        </p:spPr>
        <p:txBody>
          <a:bodyPr wrap="none" lIns="0" tIns="0" rIns="0" bIns="0" rtlCol="0" anchor="ctr"/>
          <a:lstStyle/>
          <a:p>
            <a:pPr>
              <a:lnSpc>
                <a:spcPct val="100000"/>
              </a:lnSpc>
            </a:pPr>
            <a:r>
              <a:rPr lang="en-US" sz="2400" dirty="0">
                <a:solidFill>
                  <a:srgbClr val="F5F6F7"/>
                </a:solidFill>
                <a:latin typeface="Liter" panose="02000503030000020004" pitchFamily="34" charset="0"/>
                <a:ea typeface="Liter" panose="02000503030000020004" pitchFamily="34" charset="-122"/>
                <a:cs typeface="Liter" panose="02000503030000020004" pitchFamily="34" charset="-120"/>
              </a:rPr>
              <a:t>学术论文已完成</a:t>
            </a:r>
            <a:endParaRPr lang="en-US" sz="1600" dirty="0"/>
          </a:p>
        </p:txBody>
      </p:sp>
      <p:sp>
        <p:nvSpPr>
          <p:cNvPr id="15" name="Shape 13"/>
          <p:cNvSpPr/>
          <p:nvPr/>
        </p:nvSpPr>
        <p:spPr>
          <a:xfrm>
            <a:off x="8789035" y="3798570"/>
            <a:ext cx="6286500" cy="12700"/>
          </a:xfrm>
          <a:prstGeom prst="rect">
            <a:avLst/>
          </a:prstGeom>
          <a:solidFill>
            <a:srgbClr val="FFFFFF">
              <a:alpha val="18824"/>
            </a:srgbClr>
          </a:solidFill>
        </p:spPr>
      </p:sp>
      <p:sp>
        <p:nvSpPr>
          <p:cNvPr id="16" name="Text 14"/>
          <p:cNvSpPr/>
          <p:nvPr/>
        </p:nvSpPr>
        <p:spPr>
          <a:xfrm>
            <a:off x="8789035" y="4052570"/>
            <a:ext cx="6286500" cy="3810000"/>
          </a:xfrm>
          <a:prstGeom prst="rect">
            <a:avLst/>
          </a:prstGeom>
          <a:noFill/>
        </p:spPr>
        <p:txBody>
          <a:bodyPr wrap="square" lIns="0" tIns="0" rIns="0" bIns="0" rtlCol="0" anchor="t"/>
          <a:lstStyle/>
          <a:p>
            <a:pPr>
              <a:lnSpc>
                <a:spcPct val="170000"/>
              </a:lnSpc>
            </a:pPr>
            <a:r>
              <a:rPr lang="en-US" sz="1800" dirty="0">
                <a:solidFill>
                  <a:srgbClr val="CFD8DC"/>
                </a:solidFill>
                <a:latin typeface="Quattrocento Sans" panose="020B0502050000020003" pitchFamily="34" charset="0"/>
                <a:ea typeface="Quattrocento Sans" panose="020B0502050000020003" pitchFamily="34" charset="-122"/>
                <a:cs typeface="Quattrocento Sans" panose="020B0502050000020003" pitchFamily="34" charset="-120"/>
              </a:rPr>
              <a:t>已完成一篇与项目方向高度相关的学术论文，现已进入</a:t>
            </a:r>
            <a:r>
              <a:rPr lang="en-US" sz="1800" b="1" dirty="0">
                <a:solidFill>
                  <a:srgbClr val="B33939"/>
                </a:solidFill>
                <a:latin typeface="Quattrocento Sans" panose="020B0502050000020003" pitchFamily="34" charset="0"/>
                <a:ea typeface="Quattrocento Sans" panose="020B0502050000020003" pitchFamily="34" charset="-122"/>
                <a:cs typeface="Quattrocento Sans" panose="020B0502050000020003" pitchFamily="34" charset="-120"/>
              </a:rPr>
              <a:t>投稿阶段</a:t>
            </a:r>
            <a:r>
              <a:rPr lang="en-US" sz="1800" dirty="0">
                <a:solidFill>
                  <a:srgbClr val="CFD8DC"/>
                </a:solidFill>
                <a:latin typeface="Quattrocento Sans" panose="020B0502050000020003" pitchFamily="34" charset="0"/>
                <a:ea typeface="Quattrocento Sans" panose="020B0502050000020003" pitchFamily="34" charset="-122"/>
                <a:cs typeface="Quattrocento Sans" panose="020B0502050000020003" pitchFamily="34" charset="-120"/>
              </a:rPr>
              <a:t>。</a:t>
            </a:r>
            <a:endParaRPr lang="en-US" sz="1600" dirty="0"/>
          </a:p>
          <a:p>
            <a:pPr>
              <a:lnSpc>
                <a:spcPct val="170000"/>
              </a:lnSpc>
              <a:spcBef>
                <a:spcPts val="1400"/>
              </a:spcBef>
            </a:pPr>
            <a:r>
              <a:rPr lang="en-US" sz="1800" dirty="0">
                <a:solidFill>
                  <a:srgbClr val="CFD8DC"/>
                </a:solidFill>
                <a:latin typeface="Quattrocento Sans" panose="020B0502050000020003" pitchFamily="34" charset="0"/>
                <a:ea typeface="Quattrocento Sans" panose="020B0502050000020003" pitchFamily="34" charset="-122"/>
                <a:cs typeface="Quattrocento Sans" panose="020B0502050000020003" pitchFamily="34" charset="-120"/>
              </a:rPr>
              <a:t>论文围绕算法时代意识形态传播这一核心主题，系统分析了新媒体与AI技术对意识形态引导的深层影响，提出了具有创新性的理论观点。</a:t>
            </a:r>
            <a:endParaRPr lang="en-US" sz="1600" dirty="0"/>
          </a:p>
          <a:p>
            <a:pPr>
              <a:lnSpc>
                <a:spcPct val="170000"/>
              </a:lnSpc>
              <a:spcBef>
                <a:spcPts val="1400"/>
              </a:spcBef>
            </a:pPr>
            <a:r>
              <a:rPr lang="en-US" sz="1800" dirty="0">
                <a:solidFill>
                  <a:srgbClr val="CFD8DC"/>
                </a:solidFill>
                <a:latin typeface="Quattrocento Sans" panose="020B0502050000020003" pitchFamily="34" charset="0"/>
                <a:ea typeface="Quattrocento Sans" panose="020B0502050000020003" pitchFamily="34" charset="-122"/>
                <a:cs typeface="Quattrocento Sans" panose="020B0502050000020003" pitchFamily="34" charset="-120"/>
              </a:rPr>
              <a:t>这是项目团队在中期阶段取得的核心学术产出，标志着研究工作已从探索期进入成果产出期。</a:t>
            </a:r>
            <a:endParaRPr lang="en-US" sz="1600" dirty="0"/>
          </a:p>
        </p:txBody>
      </p:sp>
      <p:sp>
        <p:nvSpPr>
          <p:cNvPr id="17" name="Shape 15"/>
          <p:cNvSpPr/>
          <p:nvPr/>
        </p:nvSpPr>
        <p:spPr>
          <a:xfrm>
            <a:off x="661035" y="1855470"/>
            <a:ext cx="7048500" cy="6413500"/>
          </a:xfrm>
          <a:prstGeom prst="rect">
            <a:avLst/>
          </a:prstGeom>
          <a:solidFill>
            <a:srgbClr val="FFFFFF"/>
          </a:solidFill>
          <a:effectLst>
            <a:outerShdw blurRad="203200" dist="50800" dir="5400000" algn="bl" rotWithShape="0">
              <a:srgbClr val="000000">
                <a:alpha val="3922"/>
              </a:srgbClr>
            </a:outerShdw>
          </a:effectLst>
        </p:spPr>
      </p:sp>
      <p:sp>
        <p:nvSpPr>
          <p:cNvPr id="18" name="Shape 16"/>
          <p:cNvSpPr/>
          <p:nvPr/>
        </p:nvSpPr>
        <p:spPr>
          <a:xfrm>
            <a:off x="1042035" y="2299970"/>
            <a:ext cx="609600" cy="609600"/>
          </a:xfrm>
          <a:custGeom>
            <a:avLst/>
            <a:gdLst/>
            <a:ahLst/>
            <a:cxnLst/>
            <a:rect l="l" t="t" r="r" b="b"/>
            <a:pathLst>
              <a:path w="609600" h="609600">
                <a:moveTo>
                  <a:pt x="0" y="95250"/>
                </a:moveTo>
                <a:cubicBezTo>
                  <a:pt x="0" y="63698"/>
                  <a:pt x="25598" y="38100"/>
                  <a:pt x="57150" y="38100"/>
                </a:cubicBezTo>
                <a:lnTo>
                  <a:pt x="171450" y="38100"/>
                </a:lnTo>
                <a:cubicBezTo>
                  <a:pt x="203002" y="38100"/>
                  <a:pt x="228600" y="63698"/>
                  <a:pt x="228600" y="95250"/>
                </a:cubicBezTo>
                <a:lnTo>
                  <a:pt x="228600" y="114300"/>
                </a:lnTo>
                <a:lnTo>
                  <a:pt x="381000" y="114300"/>
                </a:lnTo>
                <a:lnTo>
                  <a:pt x="381000" y="95250"/>
                </a:lnTo>
                <a:cubicBezTo>
                  <a:pt x="381000" y="63698"/>
                  <a:pt x="406598" y="38100"/>
                  <a:pt x="438150" y="38100"/>
                </a:cubicBezTo>
                <a:lnTo>
                  <a:pt x="552450" y="38100"/>
                </a:lnTo>
                <a:cubicBezTo>
                  <a:pt x="584002" y="38100"/>
                  <a:pt x="609600" y="63698"/>
                  <a:pt x="609600" y="95250"/>
                </a:cubicBezTo>
                <a:lnTo>
                  <a:pt x="609600" y="209550"/>
                </a:lnTo>
                <a:cubicBezTo>
                  <a:pt x="609600" y="241102"/>
                  <a:pt x="584002" y="266700"/>
                  <a:pt x="552450" y="266700"/>
                </a:cubicBezTo>
                <a:lnTo>
                  <a:pt x="438150" y="266700"/>
                </a:lnTo>
                <a:cubicBezTo>
                  <a:pt x="406598" y="266700"/>
                  <a:pt x="381000" y="241102"/>
                  <a:pt x="381000" y="209550"/>
                </a:cubicBezTo>
                <a:lnTo>
                  <a:pt x="381000" y="190500"/>
                </a:lnTo>
                <a:lnTo>
                  <a:pt x="228600" y="190500"/>
                </a:lnTo>
                <a:lnTo>
                  <a:pt x="228600" y="209550"/>
                </a:lnTo>
                <a:cubicBezTo>
                  <a:pt x="228600" y="218242"/>
                  <a:pt x="226576" y="226576"/>
                  <a:pt x="223123" y="233958"/>
                </a:cubicBezTo>
                <a:lnTo>
                  <a:pt x="304800" y="342900"/>
                </a:lnTo>
                <a:lnTo>
                  <a:pt x="400050" y="342900"/>
                </a:lnTo>
                <a:cubicBezTo>
                  <a:pt x="431602" y="342900"/>
                  <a:pt x="457200" y="368498"/>
                  <a:pt x="457200" y="400050"/>
                </a:cubicBezTo>
                <a:lnTo>
                  <a:pt x="457200" y="514350"/>
                </a:lnTo>
                <a:cubicBezTo>
                  <a:pt x="457200" y="545902"/>
                  <a:pt x="431602" y="571500"/>
                  <a:pt x="400050" y="571500"/>
                </a:cubicBezTo>
                <a:lnTo>
                  <a:pt x="285750" y="571500"/>
                </a:lnTo>
                <a:cubicBezTo>
                  <a:pt x="254198" y="571500"/>
                  <a:pt x="228600" y="545902"/>
                  <a:pt x="228600" y="514350"/>
                </a:cubicBezTo>
                <a:lnTo>
                  <a:pt x="228600" y="400050"/>
                </a:lnTo>
                <a:cubicBezTo>
                  <a:pt x="228600" y="391358"/>
                  <a:pt x="230624" y="383024"/>
                  <a:pt x="234077" y="375642"/>
                </a:cubicBezTo>
                <a:lnTo>
                  <a:pt x="152400" y="266700"/>
                </a:lnTo>
                <a:lnTo>
                  <a:pt x="57150" y="266700"/>
                </a:lnTo>
                <a:cubicBezTo>
                  <a:pt x="25598" y="266700"/>
                  <a:pt x="0" y="241102"/>
                  <a:pt x="0" y="209550"/>
                </a:cubicBezTo>
                <a:lnTo>
                  <a:pt x="0" y="95250"/>
                </a:lnTo>
                <a:close/>
              </a:path>
            </a:pathLst>
          </a:custGeom>
          <a:solidFill>
            <a:srgbClr val="2D3436"/>
          </a:solidFill>
        </p:spPr>
      </p:sp>
      <p:sp>
        <p:nvSpPr>
          <p:cNvPr id="19" name="Shape 17"/>
          <p:cNvSpPr/>
          <p:nvPr/>
        </p:nvSpPr>
        <p:spPr>
          <a:xfrm>
            <a:off x="5741035" y="2299970"/>
            <a:ext cx="1524000" cy="406400"/>
          </a:xfrm>
          <a:prstGeom prst="rect">
            <a:avLst/>
          </a:prstGeom>
          <a:solidFill>
            <a:srgbClr val="2D3436"/>
          </a:solidFill>
        </p:spPr>
      </p:sp>
      <p:sp>
        <p:nvSpPr>
          <p:cNvPr id="20" name="Text 18"/>
          <p:cNvSpPr/>
          <p:nvPr/>
        </p:nvSpPr>
        <p:spPr>
          <a:xfrm>
            <a:off x="5741035" y="2299970"/>
            <a:ext cx="1524000" cy="406400"/>
          </a:xfrm>
          <a:prstGeom prst="rect">
            <a:avLst/>
          </a:prstGeom>
          <a:noFill/>
        </p:spPr>
        <p:txBody>
          <a:bodyPr wrap="none" lIns="0" tIns="0" rIns="0" bIns="0" rtlCol="0" anchor="ctr"/>
          <a:lstStyle/>
          <a:p>
            <a:pPr algn="ctr">
              <a:lnSpc>
                <a:spcPct val="100000"/>
              </a:lnSpc>
            </a:pPr>
            <a:r>
              <a:rPr lang="en-US" sz="1300" dirty="0">
                <a:solidFill>
                  <a:srgbClr val="F5F6F7"/>
                </a:solidFill>
                <a:latin typeface="Quattrocento Sans" panose="020B0502050000020003" pitchFamily="34" charset="0"/>
                <a:ea typeface="Quattrocento Sans" panose="020B0502050000020003" pitchFamily="34" charset="-122"/>
                <a:cs typeface="Quattrocento Sans" panose="020B0502050000020003" pitchFamily="34" charset="-120"/>
              </a:rPr>
              <a:t>初步框架</a:t>
            </a:r>
            <a:endParaRPr lang="en-US" sz="1600" dirty="0"/>
          </a:p>
        </p:txBody>
      </p:sp>
      <p:sp>
        <p:nvSpPr>
          <p:cNvPr id="21" name="Text 19"/>
          <p:cNvSpPr/>
          <p:nvPr/>
        </p:nvSpPr>
        <p:spPr>
          <a:xfrm>
            <a:off x="1042035" y="3188970"/>
            <a:ext cx="6286500" cy="444500"/>
          </a:xfrm>
          <a:prstGeom prst="rect">
            <a:avLst/>
          </a:prstGeom>
          <a:noFill/>
        </p:spPr>
        <p:txBody>
          <a:bodyPr wrap="none" lIns="0" tIns="0" rIns="0" bIns="0" rtlCol="0" anchor="ctr"/>
          <a:lstStyle/>
          <a:p>
            <a:pPr>
              <a:lnSpc>
                <a:spcPct val="100000"/>
              </a:lnSpc>
            </a:pPr>
            <a:r>
              <a:rPr lang="en-US" sz="2400" dirty="0">
                <a:solidFill>
                  <a:srgbClr val="2D3436"/>
                </a:solidFill>
                <a:latin typeface="Liter" panose="02000503030000020004" pitchFamily="34" charset="0"/>
                <a:ea typeface="Liter" panose="02000503030000020004" pitchFamily="34" charset="-122"/>
                <a:cs typeface="Liter" panose="02000503030000020004" pitchFamily="34" charset="-120"/>
              </a:rPr>
              <a:t>分析框架已形成</a:t>
            </a:r>
            <a:endParaRPr lang="en-US" sz="1600" dirty="0"/>
          </a:p>
        </p:txBody>
      </p:sp>
      <p:sp>
        <p:nvSpPr>
          <p:cNvPr id="22" name="Shape 20"/>
          <p:cNvSpPr/>
          <p:nvPr/>
        </p:nvSpPr>
        <p:spPr>
          <a:xfrm>
            <a:off x="1042035" y="3798570"/>
            <a:ext cx="6286500" cy="12700"/>
          </a:xfrm>
          <a:prstGeom prst="rect">
            <a:avLst/>
          </a:prstGeom>
          <a:solidFill>
            <a:srgbClr val="D5DBDB"/>
          </a:solidFill>
        </p:spPr>
      </p:sp>
      <p:sp>
        <p:nvSpPr>
          <p:cNvPr id="23" name="Text 21"/>
          <p:cNvSpPr/>
          <p:nvPr/>
        </p:nvSpPr>
        <p:spPr>
          <a:xfrm>
            <a:off x="1042035" y="4052570"/>
            <a:ext cx="6286500" cy="3810000"/>
          </a:xfrm>
          <a:prstGeom prst="rect">
            <a:avLst/>
          </a:prstGeom>
          <a:noFill/>
        </p:spPr>
        <p:txBody>
          <a:bodyPr wrap="square" lIns="0" tIns="0" rIns="0" bIns="0" rtlCol="0" anchor="t"/>
          <a:lstStyle/>
          <a:p>
            <a:pPr>
              <a:lnSpc>
                <a:spcPct val="170000"/>
              </a:lnSpc>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形成了对新媒体与AI技术背景下意识形态传播问题的</a:t>
            </a:r>
            <a:r>
              <a:rPr lang="en-US" sz="1800" b="1"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初步分析框架</a:t>
            </a: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，为后续研究提供了坚实基础。</a:t>
            </a:r>
            <a:endParaRPr lang="en-US" sz="1800" dirty="0"/>
          </a:p>
          <a:p>
            <a:pPr>
              <a:lnSpc>
                <a:spcPct val="170000"/>
              </a:lnSpc>
              <a:spcBef>
                <a:spcPts val="1400"/>
              </a:spcBef>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该框架涵盖传播特征分析、挑战识别、理论反思和策略建议等多个维度，具有较好的系统性和可操作性。</a:t>
            </a:r>
            <a:endParaRPr lang="en-US" sz="1800" dirty="0"/>
          </a:p>
          <a:p>
            <a:pPr>
              <a:lnSpc>
                <a:spcPct val="170000"/>
              </a:lnSpc>
              <a:spcBef>
                <a:spcPts val="1400"/>
              </a:spcBef>
            </a:pPr>
            <a:r>
              <a:rPr lang="en-US" sz="18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框架的建立意味着研究团队已具备独立开展深入研究的方法论基础和分析工具。</a:t>
            </a:r>
            <a:endParaRPr lang="en-US" sz="1800" dirty="0"/>
          </a:p>
        </p:txBody>
      </p:sp>
      <p:sp>
        <p:nvSpPr>
          <p:cNvPr id="24" name="Text 22"/>
          <p:cNvSpPr/>
          <p:nvPr/>
        </p:nvSpPr>
        <p:spPr>
          <a:xfrm>
            <a:off x="15202535" y="1599565"/>
            <a:ext cx="635000" cy="254000"/>
          </a:xfrm>
          <a:prstGeom prst="rect">
            <a:avLst/>
          </a:prstGeom>
          <a:noFill/>
        </p:spPr>
        <p:txBody>
          <a:bodyPr wrap="none" lIns="0" tIns="0" rIns="0" bIns="0" rtlCol="0" anchor="ctr"/>
          <a:lstStyle/>
          <a:p>
            <a:pPr algn="r">
              <a:lnSpc>
                <a:spcPct val="140000"/>
              </a:lnSpc>
            </a:pPr>
            <a:r>
              <a:rPr lang="en-US" sz="1400" dirty="0">
                <a:solidFill>
                  <a:srgbClr val="636E72"/>
                </a:solidFill>
                <a:latin typeface="QuattrocentoSans" panose="020B0502050000020003" pitchFamily="34" charset="0"/>
                <a:ea typeface="QuattrocentoSans" panose="020B0502050000020003" pitchFamily="34" charset="-122"/>
                <a:cs typeface="QuattrocentoSans" panose="020B0502050000020003" pitchFamily="34" charset="-120"/>
              </a:rPr>
              <a:t>11</a:t>
            </a:r>
            <a:endParaRPr lang="en-US" sz="14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7"/>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2D3436"/>
          </a:solidFill>
        </p:spPr>
      </p:sp>
      <p:sp>
        <p:nvSpPr>
          <p:cNvPr id="3" name="Text 1"/>
          <p:cNvSpPr/>
          <p:nvPr/>
        </p:nvSpPr>
        <p:spPr>
          <a:xfrm>
            <a:off x="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项目背景与意义</a:t>
            </a:r>
            <a:endParaRPr lang="en-US" sz="1300" dirty="0"/>
          </a:p>
        </p:txBody>
      </p:sp>
      <p:sp>
        <p:nvSpPr>
          <p:cNvPr id="4" name="Text 2"/>
          <p:cNvSpPr/>
          <p:nvPr/>
        </p:nvSpPr>
        <p:spPr>
          <a:xfrm>
            <a:off x="4064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项目进展</a:t>
            </a:r>
            <a:endParaRPr lang="en-US" sz="1300" dirty="0"/>
          </a:p>
        </p:txBody>
      </p:sp>
      <p:sp>
        <p:nvSpPr>
          <p:cNvPr id="5" name="Text 3"/>
          <p:cNvSpPr/>
          <p:nvPr/>
        </p:nvSpPr>
        <p:spPr>
          <a:xfrm>
            <a:off x="8128000" y="0"/>
            <a:ext cx="4064000" cy="508000"/>
          </a:xfrm>
          <a:prstGeom prst="rect">
            <a:avLst/>
          </a:prstGeom>
          <a:noFill/>
        </p:spPr>
        <p:txBody>
          <a:bodyPr wrap="none" lIns="0" tIns="0" rIns="0" bIns="0" rtlCol="0" anchor="ctr"/>
          <a:lstStyle/>
          <a:p>
            <a:pPr algn="ctr">
              <a:lnSpc>
                <a:spcPct val="100000"/>
              </a:lnSpc>
            </a:pPr>
            <a:r>
              <a:rPr lang="en-US" sz="1300" dirty="0">
                <a:solidFill>
                  <a:srgbClr val="F5F6F7"/>
                </a:solidFill>
                <a:latin typeface="QuattrocentoSans" panose="020B0502050000020003" pitchFamily="34" charset="0"/>
                <a:ea typeface="QuattrocentoSans" panose="020B0502050000020003" pitchFamily="34" charset="-122"/>
                <a:cs typeface="QuattrocentoSans" panose="020B0502050000020003" pitchFamily="34" charset="-120"/>
              </a:rPr>
              <a:t>成果汇总</a:t>
            </a:r>
            <a:endParaRPr lang="en-US" sz="1300" dirty="0"/>
          </a:p>
        </p:txBody>
      </p:sp>
      <p:sp>
        <p:nvSpPr>
          <p:cNvPr id="6" name="Shape 4"/>
          <p:cNvSpPr/>
          <p:nvPr/>
        </p:nvSpPr>
        <p:spPr>
          <a:xfrm>
            <a:off x="8890000" y="520700"/>
            <a:ext cx="2540000" cy="38100"/>
          </a:xfrm>
          <a:prstGeom prst="rect">
            <a:avLst/>
          </a:prstGeom>
          <a:solidFill>
            <a:srgbClr val="B33939"/>
          </a:solidFill>
        </p:spPr>
      </p:sp>
      <p:sp>
        <p:nvSpPr>
          <p:cNvPr id="7" name="Text 5"/>
          <p:cNvSpPr/>
          <p:nvPr/>
        </p:nvSpPr>
        <p:spPr>
          <a:xfrm>
            <a:off x="12192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未来计划</a:t>
            </a:r>
            <a:endParaRPr lang="en-US" sz="1300" dirty="0"/>
          </a:p>
        </p:txBody>
      </p:sp>
      <p:sp>
        <p:nvSpPr>
          <p:cNvPr id="8" name="Text 6"/>
          <p:cNvSpPr/>
          <p:nvPr/>
        </p:nvSpPr>
        <p:spPr>
          <a:xfrm>
            <a:off x="762000" y="736600"/>
            <a:ext cx="8890000" cy="508000"/>
          </a:xfrm>
          <a:prstGeom prst="rect">
            <a:avLst/>
          </a:prstGeom>
          <a:noFill/>
        </p:spPr>
        <p:txBody>
          <a:bodyPr wrap="none" lIns="0" tIns="0" rIns="0" bIns="0" rtlCol="0" anchor="ctr"/>
          <a:lstStyle/>
          <a:p>
            <a:pPr>
              <a:lnSpc>
                <a:spcPct val="100000"/>
              </a:lnSpc>
            </a:pPr>
            <a:r>
              <a:rPr lang="en-US" sz="2800" dirty="0">
                <a:solidFill>
                  <a:srgbClr val="2D3436"/>
                </a:solidFill>
                <a:latin typeface="Liter" panose="02000503030000020004" pitchFamily="34" charset="0"/>
                <a:ea typeface="Liter" panose="02000503030000020004" pitchFamily="34" charset="-122"/>
                <a:cs typeface="Liter" panose="02000503030000020004" pitchFamily="34" charset="-120"/>
              </a:rPr>
              <a:t>问题与解决方案</a:t>
            </a:r>
            <a:endParaRPr lang="en-US" sz="2800" dirty="0"/>
          </a:p>
        </p:txBody>
      </p:sp>
      <p:sp>
        <p:nvSpPr>
          <p:cNvPr id="9" name="Shape 7"/>
          <p:cNvSpPr/>
          <p:nvPr/>
        </p:nvSpPr>
        <p:spPr>
          <a:xfrm>
            <a:off x="762000" y="1308100"/>
            <a:ext cx="635000" cy="38100"/>
          </a:xfrm>
          <a:prstGeom prst="rect">
            <a:avLst/>
          </a:prstGeom>
          <a:solidFill>
            <a:srgbClr val="B33939"/>
          </a:solidFill>
        </p:spPr>
      </p:sp>
      <p:graphicFrame>
        <p:nvGraphicFramePr>
          <p:cNvPr id="13" name="Table 0"/>
          <p:cNvGraphicFramePr>
            <a:graphicFrameLocks noGrp="1"/>
          </p:cNvGraphicFramePr>
          <p:nvPr/>
        </p:nvGraphicFramePr>
        <p:xfrm>
          <a:off x="762000" y="1714500"/>
          <a:ext cx="14732000" cy="6413500"/>
        </p:xfrm>
        <a:graphic>
          <a:graphicData uri="http://schemas.openxmlformats.org/drawingml/2006/table">
            <a:tbl>
              <a:tblPr/>
              <a:tblGrid>
                <a:gridCol w="736600"/>
                <a:gridCol w="4419600"/>
                <a:gridCol w="4419600"/>
                <a:gridCol w="5156200"/>
              </a:tblGrid>
              <a:tr h="774700">
                <a:tc>
                  <a:txBody>
                    <a:bodyPr/>
                    <a:lstStyle/>
                    <a:p>
                      <a:pPr algn="l"/>
                      <a:r>
                        <a:rPr lang="en-US" sz="1600" b="1" u="none" dirty="0">
                          <a:solidFill>
                            <a:srgbClr val="F5F6F7"/>
                          </a:solidFill>
                          <a:latin typeface="QuattrocentoSans" panose="020B0502050000020003" pitchFamily="34" charset="0"/>
                          <a:ea typeface="QuattrocentoSans" panose="020B0502050000020003" pitchFamily="34" charset="-122"/>
                          <a:cs typeface="QuattrocentoSans" panose="020B0502050000020003" pitchFamily="34" charset="-120"/>
                        </a:rPr>
                        <a:t>#</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2D3436"/>
                    </a:solidFill>
                  </a:tcPr>
                </a:tc>
                <a:tc>
                  <a:txBody>
                    <a:bodyPr/>
                    <a:lstStyle/>
                    <a:p>
                      <a:pPr algn="l"/>
                      <a:r>
                        <a:rPr lang="en-US" sz="1600" b="1" u="none" dirty="0">
                          <a:solidFill>
                            <a:srgbClr val="F5F6F7"/>
                          </a:solidFill>
                          <a:latin typeface="QuattrocentoSans" panose="020B0502050000020003" pitchFamily="34" charset="0"/>
                          <a:ea typeface="QuattrocentoSans" panose="020B0502050000020003" pitchFamily="34" charset="-122"/>
                          <a:cs typeface="QuattrocentoSans" panose="020B0502050000020003" pitchFamily="34" charset="-120"/>
                        </a:rPr>
                        <a:t>遇到的问题</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2D3436"/>
                    </a:solidFill>
                  </a:tcPr>
                </a:tc>
                <a:tc>
                  <a:txBody>
                    <a:bodyPr/>
                    <a:lstStyle/>
                    <a:p>
                      <a:pPr algn="l"/>
                      <a:r>
                        <a:rPr lang="en-US" sz="1600" b="1" u="none" dirty="0">
                          <a:solidFill>
                            <a:srgbClr val="F5F6F7"/>
                          </a:solidFill>
                          <a:latin typeface="QuattrocentoSans" panose="020B0502050000020003" pitchFamily="34" charset="0"/>
                          <a:ea typeface="QuattrocentoSans" panose="020B0502050000020003" pitchFamily="34" charset="-122"/>
                          <a:cs typeface="QuattrocentoSans" panose="020B0502050000020003" pitchFamily="34" charset="-120"/>
                        </a:rPr>
                        <a:t>原因分析</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2D3436"/>
                    </a:solidFill>
                  </a:tcPr>
                </a:tc>
                <a:tc>
                  <a:txBody>
                    <a:bodyPr/>
                    <a:lstStyle/>
                    <a:p>
                      <a:pPr algn="l"/>
                      <a:r>
                        <a:rPr lang="en-US" sz="1600" b="1" u="none" dirty="0">
                          <a:solidFill>
                            <a:srgbClr val="F5F6F7"/>
                          </a:solidFill>
                          <a:latin typeface="QuattrocentoSans" panose="020B0502050000020003" pitchFamily="34" charset="0"/>
                          <a:ea typeface="QuattrocentoSans" panose="020B0502050000020003" pitchFamily="34" charset="-122"/>
                          <a:cs typeface="QuattrocentoSans" panose="020B0502050000020003" pitchFamily="34" charset="-120"/>
                        </a:rPr>
                        <a:t>解决方案</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2D3436"/>
                    </a:solidFill>
                  </a:tcPr>
                </a:tc>
              </a:tr>
              <a:tr h="1409700">
                <a:tc>
                  <a:txBody>
                    <a:bodyPr/>
                    <a:lstStyle/>
                    <a:p>
                      <a:pPr algn="l"/>
                      <a:r>
                        <a:rPr lang="en-US" sz="1600" u="none"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1</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c>
                  <a:txBody>
                    <a:bodyPr/>
                    <a:lstStyle/>
                    <a:p>
                      <a:pPr algn="l"/>
                      <a:r>
                        <a:rPr lang="en-US" sz="1600" u="none"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理论文献梳理量大，信息筛选困难</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c>
                  <a:txBody>
                    <a:bodyPr/>
                    <a:lstStyle/>
                    <a:p>
                      <a:pPr algn="l"/>
                      <a:r>
                        <a:rPr lang="en-US" sz="1600" u="none"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算法与意识形态交叉领域文献分散，缺乏系统性综述</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c>
                  <a:txBody>
                    <a:bodyPr/>
                    <a:lstStyle/>
                    <a:p>
                      <a:pPr algn="l"/>
                      <a:r>
                        <a:rPr lang="en-US" sz="1600" u="none"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建立文献管理数据库，按主题分类整理；定期与导师讨论筛选重点文献</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r>
              <a:tr h="1409700">
                <a:tc>
                  <a:txBody>
                    <a:bodyPr/>
                    <a:lstStyle/>
                    <a:p>
                      <a:pPr algn="l"/>
                      <a:r>
                        <a:rPr lang="en-US" sz="1600" u="none"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2</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EFF1"/>
                    </a:solidFill>
                  </a:tcPr>
                </a:tc>
                <a:tc>
                  <a:txBody>
                    <a:bodyPr/>
                    <a:lstStyle/>
                    <a:p>
                      <a:pPr algn="l"/>
                      <a:r>
                        <a:rPr lang="en-US" sz="1600" u="none"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核心概念界定存在分歧</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EFF1"/>
                    </a:solidFill>
                  </a:tcPr>
                </a:tc>
                <a:tc>
                  <a:txBody>
                    <a:bodyPr/>
                    <a:lstStyle/>
                    <a:p>
                      <a:pPr algn="l"/>
                      <a:r>
                        <a:rPr lang="en-US" sz="1600" u="none"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"信息茧房""数字泔水"等概念在不同学科语境下含义有差异</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EFF1"/>
                    </a:solidFill>
                  </a:tcPr>
                </a:tc>
                <a:tc>
                  <a:txBody>
                    <a:bodyPr/>
                    <a:lstStyle/>
                    <a:p>
                      <a:pPr algn="l"/>
                      <a:r>
                        <a:rPr lang="en-US" sz="1600" u="none"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通过导师指导和文献对比，明确本项目采用的概念定义和分析视角</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EFF1"/>
                    </a:solidFill>
                  </a:tcPr>
                </a:tc>
              </a:tr>
              <a:tr h="1409700">
                <a:tc>
                  <a:txBody>
                    <a:bodyPr/>
                    <a:lstStyle/>
                    <a:p>
                      <a:pPr algn="l"/>
                      <a:r>
                        <a:rPr lang="en-US" sz="1600" u="none"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3</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c>
                  <a:txBody>
                    <a:bodyPr/>
                    <a:lstStyle/>
                    <a:p>
                      <a:pPr algn="l"/>
                      <a:r>
                        <a:rPr lang="en-US" sz="1600" u="none"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实证数据获取渠道有限</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c>
                  <a:txBody>
                    <a:bodyPr/>
                    <a:lstStyle/>
                    <a:p>
                      <a:pPr algn="l"/>
                      <a:r>
                        <a:rPr lang="en-US" sz="1600" u="none"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平台算法数据不透明，官方统计数据更新滞后</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c>
                  <a:txBody>
                    <a:bodyPr/>
                    <a:lstStyle/>
                    <a:p>
                      <a:pPr algn="l"/>
                      <a:r>
                        <a:rPr lang="en-US" sz="1600" u="none"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拓展数据来源，结合案例分析、问卷调查和公开报告等多种方式补充</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FFFFFF"/>
                    </a:solidFill>
                  </a:tcPr>
                </a:tc>
              </a:tr>
              <a:tr h="1409700">
                <a:tc>
                  <a:txBody>
                    <a:bodyPr/>
                    <a:lstStyle/>
                    <a:p>
                      <a:pPr algn="l"/>
                      <a:r>
                        <a:rPr lang="en-US" sz="1600" u="none" dirty="0">
                          <a:solidFill>
                            <a:srgbClr val="B33939"/>
                          </a:solidFill>
                          <a:latin typeface="QuattrocentoSans" panose="020B0502050000020003" pitchFamily="34" charset="0"/>
                          <a:ea typeface="QuattrocentoSans" panose="020B0502050000020003" pitchFamily="34" charset="-122"/>
                          <a:cs typeface="QuattrocentoSans" panose="020B0502050000020003" pitchFamily="34" charset="-120"/>
                        </a:rPr>
                        <a:t>4</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EFF1"/>
                    </a:solidFill>
                  </a:tcPr>
                </a:tc>
                <a:tc>
                  <a:txBody>
                    <a:bodyPr/>
                    <a:lstStyle/>
                    <a:p>
                      <a:pPr algn="l"/>
                      <a:r>
                        <a:rPr lang="en-US" sz="1600" u="none"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理论与实践结合度有待提升</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EFF1"/>
                    </a:solidFill>
                  </a:tcPr>
                </a:tc>
                <a:tc>
                  <a:txBody>
                    <a:bodyPr/>
                    <a:lstStyle/>
                    <a:p>
                      <a:pPr algn="l"/>
                      <a:r>
                        <a:rPr lang="en-US" sz="1600" u="none"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学术研究与政策实践之间存在话语体系差异</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EFF1"/>
                    </a:solidFill>
                  </a:tcPr>
                </a:tc>
                <a:tc>
                  <a:txBody>
                    <a:bodyPr/>
                    <a:lstStyle/>
                    <a:p>
                      <a:pPr algn="l"/>
                      <a:r>
                        <a:rPr lang="en-US" sz="1600" u="none"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加强与政府宣传部门的沟通，邀请实务专家参与研讨，增强对策建议的可操作性</a:t>
                      </a:r>
                      <a:endParaRPr lang="en-US" sz="1600" dirty="0">
                        <a:latin typeface="QuattrocentoSans" panose="020B0502050000020003" pitchFamily="34" charset="0"/>
                        <a:ea typeface="QuattrocentoSans" panose="020B0502050000020003" pitchFamily="34" charset="0"/>
                        <a:cs typeface="QuattrocentoSans" panose="020B0502050000020003" pitchFamily="34" charset="0"/>
                      </a:endParaRPr>
                    </a:p>
                  </a:txBody>
                  <a:tcPr marT="0" marB="0" anchor="ctr">
                    <a:lnL w="12700" cap="flat" cmpd="sng" algn="ctr">
                      <a:solidFill>
                        <a:srgbClr val="D5DBDB"/>
                      </a:solidFill>
                      <a:prstDash val="solid"/>
                      <a:round/>
                      <a:headEnd type="none" w="med" len="med"/>
                      <a:tailEnd type="none" w="med" len="med"/>
                    </a:lnL>
                    <a:lnR w="12700" cap="flat" cmpd="sng" algn="ctr">
                      <a:solidFill>
                        <a:srgbClr val="D5DBDB"/>
                      </a:solidFill>
                      <a:prstDash val="solid"/>
                      <a:round/>
                      <a:headEnd type="none" w="med" len="med"/>
                      <a:tailEnd type="none" w="med" len="med"/>
                    </a:lnR>
                    <a:lnT w="12700" cap="flat" cmpd="sng" algn="ctr">
                      <a:solidFill>
                        <a:srgbClr val="D5DBDB"/>
                      </a:solidFill>
                      <a:prstDash val="solid"/>
                      <a:round/>
                      <a:headEnd type="none" w="med" len="med"/>
                      <a:tailEnd type="none" w="med" len="med"/>
                    </a:lnT>
                    <a:lnB w="12700" cap="flat" cmpd="sng" algn="ctr">
                      <a:solidFill>
                        <a:srgbClr val="D5DBDB"/>
                      </a:solidFill>
                      <a:prstDash val="solid"/>
                      <a:round/>
                      <a:headEnd type="none" w="med" len="med"/>
                      <a:tailEnd type="none" w="med" len="med"/>
                    </a:lnB>
                    <a:solidFill>
                      <a:srgbClr val="ECEFF1"/>
                    </a:solidFill>
                  </a:tcPr>
                </a:tc>
              </a:tr>
            </a:tbl>
          </a:graphicData>
        </a:graphic>
      </p:graphicFrame>
      <p:sp>
        <p:nvSpPr>
          <p:cNvPr id="11" name="Text 8"/>
          <p:cNvSpPr/>
          <p:nvPr/>
        </p:nvSpPr>
        <p:spPr>
          <a:xfrm>
            <a:off x="15240000" y="8763000"/>
            <a:ext cx="635000" cy="254000"/>
          </a:xfrm>
          <a:prstGeom prst="rect">
            <a:avLst/>
          </a:prstGeom>
          <a:noFill/>
        </p:spPr>
        <p:txBody>
          <a:bodyPr wrap="none" lIns="0" tIns="0" rIns="0" bIns="0" rtlCol="0" anchor="ctr"/>
          <a:lstStyle/>
          <a:p>
            <a:pPr algn="r">
              <a:lnSpc>
                <a:spcPct val="140000"/>
              </a:lnSpc>
            </a:pPr>
            <a:r>
              <a:rPr lang="en-US" sz="1400" dirty="0">
                <a:solidFill>
                  <a:srgbClr val="636E72"/>
                </a:solidFill>
                <a:latin typeface="QuattrocentoSans" panose="020B0502050000020003" pitchFamily="34" charset="0"/>
                <a:ea typeface="QuattrocentoSans" panose="020B0502050000020003" pitchFamily="34" charset="-122"/>
                <a:cs typeface="QuattrocentoSans" panose="020B0502050000020003" pitchFamily="34" charset="-120"/>
              </a:rPr>
              <a:t>12</a:t>
            </a:r>
            <a:endParaRPr lang="en-US" sz="14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okc/vddp6qs6dys5m/mnt/agents/output/dcq_midterm_report/images/10_Innovate_Background_Images_Browse.png"/>
          <p:cNvPicPr>
            <a:picLocks noChangeAspect="1"/>
          </p:cNvPicPr>
          <p:nvPr/>
        </p:nvPicPr>
        <p:blipFill>
          <a:blip r:embed="rId1"/>
          <a:srcRect l="5556" r="5556"/>
          <a:stretch>
            <a:fillRect/>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flip="none" rotWithShape="1">
            <a:gsLst>
              <a:gs pos="0">
                <a:srgbClr val="2D3436">
                  <a:alpha val="94000"/>
                </a:srgbClr>
              </a:gs>
              <a:gs pos="60000">
                <a:srgbClr val="2D3436">
                  <a:alpha val="82000"/>
                </a:srgbClr>
              </a:gs>
              <a:gs pos="100000">
                <a:srgbClr val="2D3436">
                  <a:alpha val="50000"/>
                </a:srgbClr>
              </a:gs>
            </a:gsLst>
            <a:lin ang="0" scaled="1"/>
          </a:gradFill>
          <a:ln w="12700">
            <a:solidFill>
              <a:srgbClr val="333333"/>
            </a:solidFill>
            <a:prstDash val="solid"/>
          </a:ln>
        </p:spPr>
      </p:sp>
      <p:sp>
        <p:nvSpPr>
          <p:cNvPr id="4" name="Text 1"/>
          <p:cNvSpPr/>
          <p:nvPr/>
        </p:nvSpPr>
        <p:spPr>
          <a:xfrm>
            <a:off x="762000" y="1778000"/>
            <a:ext cx="5080000" cy="2032000"/>
          </a:xfrm>
          <a:prstGeom prst="rect">
            <a:avLst/>
          </a:prstGeom>
          <a:noFill/>
        </p:spPr>
        <p:txBody>
          <a:bodyPr wrap="none" lIns="0" tIns="0" rIns="0" bIns="0" rtlCol="0" anchor="t"/>
          <a:lstStyle/>
          <a:p>
            <a:pPr>
              <a:lnSpc>
                <a:spcPct val="100000"/>
              </a:lnSpc>
            </a:pPr>
            <a:r>
              <a:rPr lang="en-US" sz="14000" dirty="0">
                <a:solidFill>
                  <a:srgbClr val="FFFFFF">
                    <a:alpha val="3137"/>
                  </a:srgbClr>
                </a:solidFill>
                <a:latin typeface="Liter" panose="02000503030000020004" pitchFamily="34" charset="0"/>
                <a:ea typeface="Liter" panose="02000503030000020004" pitchFamily="34" charset="-122"/>
                <a:cs typeface="Liter" panose="02000503030000020004" pitchFamily="34" charset="-120"/>
              </a:rPr>
              <a:t>04</a:t>
            </a:r>
            <a:endParaRPr lang="en-US" sz="1600" dirty="0"/>
          </a:p>
        </p:txBody>
      </p:sp>
      <p:sp>
        <p:nvSpPr>
          <p:cNvPr id="5" name="Text 2"/>
          <p:cNvSpPr/>
          <p:nvPr/>
        </p:nvSpPr>
        <p:spPr>
          <a:xfrm>
            <a:off x="1016000" y="4064000"/>
            <a:ext cx="2794000" cy="304800"/>
          </a:xfrm>
          <a:prstGeom prst="rect">
            <a:avLst/>
          </a:prstGeom>
          <a:noFill/>
        </p:spPr>
        <p:txBody>
          <a:bodyPr wrap="none" lIns="0" tIns="0" rIns="0" bIns="0" rtlCol="0" anchor="ctr"/>
          <a:lstStyle/>
          <a:p>
            <a:pPr>
              <a:lnSpc>
                <a:spcPct val="100000"/>
              </a:lnSpc>
            </a:pPr>
            <a:r>
              <a:rPr lang="en-US" sz="1300" kern="0" spc="400" dirty="0">
                <a:solidFill>
                  <a:srgbClr val="E8A0A0"/>
                </a:solidFill>
                <a:latin typeface="Liter" panose="02000503030000020004" pitchFamily="34" charset="0"/>
                <a:ea typeface="Liter" panose="02000503030000020004" pitchFamily="34" charset="-122"/>
                <a:cs typeface="Liter" panose="02000503030000020004" pitchFamily="34" charset="-120"/>
              </a:rPr>
              <a:t>CHAPTER FOUR</a:t>
            </a:r>
            <a:endParaRPr lang="en-US" sz="1600" dirty="0"/>
          </a:p>
        </p:txBody>
      </p:sp>
      <p:sp>
        <p:nvSpPr>
          <p:cNvPr id="6" name="Shape 3"/>
          <p:cNvSpPr/>
          <p:nvPr/>
        </p:nvSpPr>
        <p:spPr>
          <a:xfrm>
            <a:off x="1016000" y="4508500"/>
            <a:ext cx="762000" cy="38100"/>
          </a:xfrm>
          <a:prstGeom prst="rect">
            <a:avLst/>
          </a:prstGeom>
          <a:solidFill>
            <a:srgbClr val="B33939"/>
          </a:solidFill>
        </p:spPr>
      </p:sp>
      <p:sp>
        <p:nvSpPr>
          <p:cNvPr id="7" name="Text 4"/>
          <p:cNvSpPr/>
          <p:nvPr/>
        </p:nvSpPr>
        <p:spPr>
          <a:xfrm>
            <a:off x="1016000" y="4762500"/>
            <a:ext cx="7620000" cy="698500"/>
          </a:xfrm>
          <a:prstGeom prst="rect">
            <a:avLst/>
          </a:prstGeom>
          <a:noFill/>
        </p:spPr>
        <p:txBody>
          <a:bodyPr wrap="none" lIns="0" tIns="0" rIns="0" bIns="0" rtlCol="0" anchor="ctr"/>
          <a:lstStyle/>
          <a:p>
            <a:pPr>
              <a:lnSpc>
                <a:spcPct val="100000"/>
              </a:lnSpc>
            </a:pPr>
            <a:r>
              <a:rPr lang="en-US" sz="4200" kern="0" spc="300" dirty="0">
                <a:solidFill>
                  <a:srgbClr val="F5F6F7"/>
                </a:solidFill>
                <a:latin typeface="Liter" panose="02000503030000020004" pitchFamily="34" charset="0"/>
                <a:ea typeface="Liter" panose="02000503030000020004" pitchFamily="34" charset="-122"/>
                <a:cs typeface="Liter" panose="02000503030000020004" pitchFamily="34" charset="-120"/>
              </a:rPr>
              <a:t>未来计划</a:t>
            </a:r>
            <a:endParaRPr lang="en-US" sz="4000" dirty="0"/>
          </a:p>
        </p:txBody>
      </p:sp>
      <p:sp>
        <p:nvSpPr>
          <p:cNvPr id="8" name="Text 5"/>
          <p:cNvSpPr/>
          <p:nvPr/>
        </p:nvSpPr>
        <p:spPr>
          <a:xfrm>
            <a:off x="1016000" y="5651500"/>
            <a:ext cx="8890000" cy="381000"/>
          </a:xfrm>
          <a:prstGeom prst="rect">
            <a:avLst/>
          </a:prstGeom>
          <a:noFill/>
        </p:spPr>
        <p:txBody>
          <a:bodyPr wrap="none" lIns="0" tIns="0" rIns="0" bIns="0" rtlCol="0" anchor="ctr"/>
          <a:lstStyle/>
          <a:p>
            <a:pPr>
              <a:lnSpc>
                <a:spcPct val="150000"/>
              </a:lnSpc>
            </a:pPr>
            <a:r>
              <a:rPr lang="en-US" sz="1800" dirty="0">
                <a:solidFill>
                  <a:srgbClr val="B0BEC5"/>
                </a:solidFill>
                <a:latin typeface="QuattrocentoSans" panose="020B0502050000020003" pitchFamily="34" charset="0"/>
                <a:ea typeface="QuattrocentoSans" panose="020B0502050000020003" pitchFamily="34" charset="-122"/>
                <a:cs typeface="QuattrocentoSans" panose="020B0502050000020003" pitchFamily="34" charset="-120"/>
              </a:rPr>
              <a:t>深化研究，服务实践</a:t>
            </a:r>
            <a:endParaRPr lang="en-US" sz="22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7"/>
        </a:solidFill>
        <a:effectLst/>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2D3436"/>
          </a:solidFill>
        </p:spPr>
      </p:sp>
      <p:sp>
        <p:nvSpPr>
          <p:cNvPr id="3" name="Text 1"/>
          <p:cNvSpPr/>
          <p:nvPr/>
        </p:nvSpPr>
        <p:spPr>
          <a:xfrm>
            <a:off x="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项目背景与意义</a:t>
            </a:r>
            <a:endParaRPr lang="en-US" sz="1300" dirty="0"/>
          </a:p>
        </p:txBody>
      </p:sp>
      <p:sp>
        <p:nvSpPr>
          <p:cNvPr id="4" name="Text 2"/>
          <p:cNvSpPr/>
          <p:nvPr/>
        </p:nvSpPr>
        <p:spPr>
          <a:xfrm>
            <a:off x="4064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项目进展</a:t>
            </a:r>
            <a:endParaRPr lang="en-US" sz="1300" dirty="0"/>
          </a:p>
        </p:txBody>
      </p:sp>
      <p:sp>
        <p:nvSpPr>
          <p:cNvPr id="5" name="Text 3"/>
          <p:cNvSpPr/>
          <p:nvPr/>
        </p:nvSpPr>
        <p:spPr>
          <a:xfrm>
            <a:off x="8128000" y="0"/>
            <a:ext cx="4064000" cy="508000"/>
          </a:xfrm>
          <a:prstGeom prst="rect">
            <a:avLst/>
          </a:prstGeom>
          <a:noFill/>
        </p:spPr>
        <p:txBody>
          <a:bodyPr wrap="none" lIns="0" tIns="0" rIns="0" bIns="0" rtlCol="0" anchor="ctr"/>
          <a:lstStyle/>
          <a:p>
            <a:pPr algn="ctr">
              <a:lnSpc>
                <a:spcPct val="100000"/>
              </a:lnSpc>
            </a:pPr>
            <a:r>
              <a:rPr lang="en-US" sz="1300" dirty="0">
                <a:solidFill>
                  <a:srgbClr val="8896A4"/>
                </a:solidFill>
                <a:latin typeface="QuattrocentoSans" panose="020B0502050000020003" pitchFamily="34" charset="0"/>
                <a:ea typeface="QuattrocentoSans" panose="020B0502050000020003" pitchFamily="34" charset="-122"/>
                <a:cs typeface="QuattrocentoSans" panose="020B0502050000020003" pitchFamily="34" charset="-120"/>
              </a:rPr>
              <a:t>成果汇总</a:t>
            </a:r>
            <a:endParaRPr lang="en-US" sz="1300" dirty="0"/>
          </a:p>
        </p:txBody>
      </p:sp>
      <p:sp>
        <p:nvSpPr>
          <p:cNvPr id="6" name="Text 4"/>
          <p:cNvSpPr/>
          <p:nvPr/>
        </p:nvSpPr>
        <p:spPr>
          <a:xfrm>
            <a:off x="12192000" y="0"/>
            <a:ext cx="4064000" cy="508000"/>
          </a:xfrm>
          <a:prstGeom prst="rect">
            <a:avLst/>
          </a:prstGeom>
          <a:noFill/>
        </p:spPr>
        <p:txBody>
          <a:bodyPr wrap="none" lIns="0" tIns="0" rIns="0" bIns="0" rtlCol="0" anchor="ctr"/>
          <a:lstStyle/>
          <a:p>
            <a:pPr algn="ctr">
              <a:lnSpc>
                <a:spcPct val="100000"/>
              </a:lnSpc>
            </a:pPr>
            <a:r>
              <a:rPr lang="en-US" sz="1300" dirty="0">
                <a:solidFill>
                  <a:srgbClr val="F5F6F7"/>
                </a:solidFill>
                <a:latin typeface="QuattrocentoSans" panose="020B0502050000020003" pitchFamily="34" charset="0"/>
                <a:ea typeface="QuattrocentoSans" panose="020B0502050000020003" pitchFamily="34" charset="-122"/>
                <a:cs typeface="QuattrocentoSans" panose="020B0502050000020003" pitchFamily="34" charset="-120"/>
              </a:rPr>
              <a:t>未来计划</a:t>
            </a:r>
            <a:endParaRPr lang="en-US" sz="1300" dirty="0"/>
          </a:p>
        </p:txBody>
      </p:sp>
      <p:sp>
        <p:nvSpPr>
          <p:cNvPr id="7" name="Shape 5"/>
          <p:cNvSpPr/>
          <p:nvPr/>
        </p:nvSpPr>
        <p:spPr>
          <a:xfrm>
            <a:off x="12954000" y="520700"/>
            <a:ext cx="2540000" cy="38100"/>
          </a:xfrm>
          <a:prstGeom prst="rect">
            <a:avLst/>
          </a:prstGeom>
          <a:solidFill>
            <a:srgbClr val="B33939"/>
          </a:solidFill>
        </p:spPr>
      </p:sp>
      <p:sp>
        <p:nvSpPr>
          <p:cNvPr id="8" name="Text 6"/>
          <p:cNvSpPr/>
          <p:nvPr/>
        </p:nvSpPr>
        <p:spPr>
          <a:xfrm>
            <a:off x="762000" y="736600"/>
            <a:ext cx="8890000" cy="508000"/>
          </a:xfrm>
          <a:prstGeom prst="rect">
            <a:avLst/>
          </a:prstGeom>
          <a:noFill/>
        </p:spPr>
        <p:txBody>
          <a:bodyPr wrap="none" lIns="0" tIns="0" rIns="0" bIns="0" rtlCol="0" anchor="ctr"/>
          <a:lstStyle/>
          <a:p>
            <a:pPr>
              <a:lnSpc>
                <a:spcPct val="100000"/>
              </a:lnSpc>
            </a:pPr>
            <a:r>
              <a:rPr lang="en-US" sz="2800" dirty="0">
                <a:solidFill>
                  <a:srgbClr val="2D3436"/>
                </a:solidFill>
                <a:latin typeface="Liter" panose="02000503030000020004" pitchFamily="34" charset="0"/>
                <a:ea typeface="Liter" panose="02000503030000020004" pitchFamily="34" charset="-122"/>
                <a:cs typeface="Liter" panose="02000503030000020004" pitchFamily="34" charset="-120"/>
              </a:rPr>
              <a:t>后续研究规划</a:t>
            </a:r>
            <a:endParaRPr lang="en-US" sz="2800" dirty="0"/>
          </a:p>
        </p:txBody>
      </p:sp>
      <p:sp>
        <p:nvSpPr>
          <p:cNvPr id="9" name="Shape 7"/>
          <p:cNvSpPr/>
          <p:nvPr/>
        </p:nvSpPr>
        <p:spPr>
          <a:xfrm>
            <a:off x="762000" y="1308100"/>
            <a:ext cx="635000" cy="38100"/>
          </a:xfrm>
          <a:prstGeom prst="rect">
            <a:avLst/>
          </a:prstGeom>
          <a:solidFill>
            <a:srgbClr val="B33939"/>
          </a:solidFill>
        </p:spPr>
      </p:sp>
      <p:sp>
        <p:nvSpPr>
          <p:cNvPr id="10" name="Text 8"/>
          <p:cNvSpPr/>
          <p:nvPr/>
        </p:nvSpPr>
        <p:spPr>
          <a:xfrm>
            <a:off x="762000" y="1422400"/>
            <a:ext cx="8890000" cy="330200"/>
          </a:xfrm>
          <a:prstGeom prst="rect">
            <a:avLst/>
          </a:prstGeom>
          <a:noFill/>
        </p:spPr>
        <p:txBody>
          <a:bodyPr wrap="none" lIns="0" tIns="0" rIns="0" bIns="0" rtlCol="0" anchor="ctr"/>
          <a:lstStyle/>
          <a:p>
            <a:pPr>
              <a:lnSpc>
                <a:spcPct val="140000"/>
              </a:lnSpc>
            </a:pPr>
            <a:r>
              <a:rPr lang="en-US" sz="1400" dirty="0">
                <a:solidFill>
                  <a:srgbClr val="636E72"/>
                </a:solidFill>
                <a:latin typeface="QuattrocentoSans" panose="020B0502050000020003" pitchFamily="34" charset="0"/>
                <a:ea typeface="QuattrocentoSans" panose="020B0502050000020003" pitchFamily="34" charset="-122"/>
                <a:cs typeface="QuattrocentoSans" panose="020B0502050000020003" pitchFamily="34" charset="-120"/>
              </a:rPr>
              <a:t>从理论走向实践，服务国家战略需求</a:t>
            </a:r>
            <a:endParaRPr lang="en-US" sz="1400" dirty="0"/>
          </a:p>
        </p:txBody>
      </p:sp>
      <p:sp>
        <p:nvSpPr>
          <p:cNvPr id="11" name="Shape 9"/>
          <p:cNvSpPr/>
          <p:nvPr/>
        </p:nvSpPr>
        <p:spPr>
          <a:xfrm>
            <a:off x="762000" y="2095500"/>
            <a:ext cx="7048500" cy="2794000"/>
          </a:xfrm>
          <a:prstGeom prst="rect">
            <a:avLst/>
          </a:prstGeom>
          <a:solidFill>
            <a:srgbClr val="FFFFFF"/>
          </a:solidFill>
          <a:effectLst>
            <a:outerShdw blurRad="152400" dist="38100" dir="5400000" algn="bl" rotWithShape="0">
              <a:srgbClr val="000000">
                <a:alpha val="3922"/>
              </a:srgbClr>
            </a:outerShdw>
          </a:effectLst>
        </p:spPr>
      </p:sp>
      <p:sp>
        <p:nvSpPr>
          <p:cNvPr id="12" name="Text 10"/>
          <p:cNvSpPr/>
          <p:nvPr/>
        </p:nvSpPr>
        <p:spPr>
          <a:xfrm>
            <a:off x="1016000" y="2286000"/>
            <a:ext cx="762000" cy="508000"/>
          </a:xfrm>
          <a:prstGeom prst="rect">
            <a:avLst/>
          </a:prstGeom>
          <a:noFill/>
        </p:spPr>
        <p:txBody>
          <a:bodyPr wrap="none" lIns="0" tIns="0" rIns="0" bIns="0" rtlCol="0" anchor="ctr"/>
          <a:lstStyle/>
          <a:p>
            <a:pPr>
              <a:lnSpc>
                <a:spcPct val="100000"/>
              </a:lnSpc>
            </a:pPr>
            <a:r>
              <a:rPr lang="en-US" sz="3200" dirty="0">
                <a:solidFill>
                  <a:srgbClr val="B33939"/>
                </a:solidFill>
                <a:latin typeface="Liter" panose="02000503030000020004" pitchFamily="34" charset="0"/>
                <a:ea typeface="Liter" panose="02000503030000020004" pitchFamily="34" charset="-122"/>
                <a:cs typeface="Liter" panose="02000503030000020004" pitchFamily="34" charset="-120"/>
              </a:rPr>
              <a:t>01</a:t>
            </a:r>
            <a:endParaRPr lang="en-US" sz="1600" dirty="0"/>
          </a:p>
        </p:txBody>
      </p:sp>
      <p:sp>
        <p:nvSpPr>
          <p:cNvPr id="13" name="Text 11"/>
          <p:cNvSpPr/>
          <p:nvPr/>
        </p:nvSpPr>
        <p:spPr>
          <a:xfrm>
            <a:off x="1905000" y="2286000"/>
            <a:ext cx="5588000" cy="444500"/>
          </a:xfrm>
          <a:prstGeom prst="rect">
            <a:avLst/>
          </a:prstGeom>
          <a:noFill/>
        </p:spPr>
        <p:txBody>
          <a:bodyPr wrap="none" lIns="0" tIns="0" rIns="0" bIns="0" rtlCol="0" anchor="ctr"/>
          <a:lstStyle/>
          <a:p>
            <a:pPr>
              <a:lnSpc>
                <a:spcPct val="100000"/>
              </a:lnSpc>
            </a:pPr>
            <a:r>
              <a:rPr lang="en-US" sz="2000" dirty="0">
                <a:solidFill>
                  <a:srgbClr val="2D3436"/>
                </a:solidFill>
                <a:latin typeface="Liter" panose="02000503030000020004" pitchFamily="34" charset="0"/>
                <a:ea typeface="Liter" panose="02000503030000020004" pitchFamily="34" charset="-122"/>
                <a:cs typeface="Liter" panose="02000503030000020004" pitchFamily="34" charset="-120"/>
              </a:rPr>
              <a:t>完善理论体系</a:t>
            </a:r>
            <a:endParaRPr lang="en-US" sz="1600" dirty="0"/>
          </a:p>
        </p:txBody>
      </p:sp>
      <p:sp>
        <p:nvSpPr>
          <p:cNvPr id="14" name="Text 12"/>
          <p:cNvSpPr/>
          <p:nvPr/>
        </p:nvSpPr>
        <p:spPr>
          <a:xfrm>
            <a:off x="1016000" y="2895600"/>
            <a:ext cx="6477000" cy="1651000"/>
          </a:xfrm>
          <a:prstGeom prst="rect">
            <a:avLst/>
          </a:prstGeom>
          <a:noFill/>
        </p:spPr>
        <p:txBody>
          <a:bodyPr wrap="square" lIns="0" tIns="0" rIns="0" bIns="0" rtlCol="0" anchor="t"/>
          <a:lstStyle/>
          <a:p>
            <a:pPr>
              <a:lnSpc>
                <a:spcPct val="160000"/>
              </a:lnSpc>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持续深化对算法时代意识形态传播规律的理论研究，进一步丰富案例分析与实证数据，增强研究的理论深度和学术价值。</a:t>
            </a:r>
            <a:endParaRPr lang="en-US" sz="1800" dirty="0"/>
          </a:p>
        </p:txBody>
      </p:sp>
      <p:sp>
        <p:nvSpPr>
          <p:cNvPr id="15" name="Shape 13"/>
          <p:cNvSpPr/>
          <p:nvPr/>
        </p:nvSpPr>
        <p:spPr>
          <a:xfrm>
            <a:off x="8445500" y="2095500"/>
            <a:ext cx="7048500" cy="2794000"/>
          </a:xfrm>
          <a:prstGeom prst="rect">
            <a:avLst/>
          </a:prstGeom>
          <a:solidFill>
            <a:srgbClr val="FFFFFF"/>
          </a:solidFill>
          <a:effectLst>
            <a:outerShdw blurRad="152400" dist="38100" dir="5400000" algn="bl" rotWithShape="0">
              <a:srgbClr val="000000">
                <a:alpha val="3922"/>
              </a:srgbClr>
            </a:outerShdw>
          </a:effectLst>
        </p:spPr>
      </p:sp>
      <p:sp>
        <p:nvSpPr>
          <p:cNvPr id="16" name="Text 14"/>
          <p:cNvSpPr/>
          <p:nvPr/>
        </p:nvSpPr>
        <p:spPr>
          <a:xfrm>
            <a:off x="8699500" y="2286000"/>
            <a:ext cx="762000" cy="508000"/>
          </a:xfrm>
          <a:prstGeom prst="rect">
            <a:avLst/>
          </a:prstGeom>
          <a:noFill/>
        </p:spPr>
        <p:txBody>
          <a:bodyPr wrap="none" lIns="0" tIns="0" rIns="0" bIns="0" rtlCol="0" anchor="ctr"/>
          <a:lstStyle/>
          <a:p>
            <a:pPr>
              <a:lnSpc>
                <a:spcPct val="100000"/>
              </a:lnSpc>
            </a:pPr>
            <a:r>
              <a:rPr lang="en-US" sz="3200" dirty="0">
                <a:solidFill>
                  <a:srgbClr val="B33939"/>
                </a:solidFill>
                <a:latin typeface="Liter" panose="02000503030000020004" pitchFamily="34" charset="0"/>
                <a:ea typeface="Liter" panose="02000503030000020004" pitchFamily="34" charset="-122"/>
                <a:cs typeface="Liter" panose="02000503030000020004" pitchFamily="34" charset="-120"/>
              </a:rPr>
              <a:t>02</a:t>
            </a:r>
            <a:endParaRPr lang="en-US" sz="1600" dirty="0"/>
          </a:p>
        </p:txBody>
      </p:sp>
      <p:sp>
        <p:nvSpPr>
          <p:cNvPr id="17" name="Text 15"/>
          <p:cNvSpPr/>
          <p:nvPr/>
        </p:nvSpPr>
        <p:spPr>
          <a:xfrm>
            <a:off x="9588500" y="2286000"/>
            <a:ext cx="5588000" cy="444500"/>
          </a:xfrm>
          <a:prstGeom prst="rect">
            <a:avLst/>
          </a:prstGeom>
          <a:noFill/>
        </p:spPr>
        <p:txBody>
          <a:bodyPr wrap="none" lIns="0" tIns="0" rIns="0" bIns="0" rtlCol="0" anchor="ctr"/>
          <a:lstStyle/>
          <a:p>
            <a:pPr>
              <a:lnSpc>
                <a:spcPct val="100000"/>
              </a:lnSpc>
            </a:pPr>
            <a:r>
              <a:rPr lang="en-US" sz="2000" dirty="0">
                <a:solidFill>
                  <a:srgbClr val="2D3436"/>
                </a:solidFill>
                <a:latin typeface="Liter" panose="02000503030000020004" pitchFamily="34" charset="0"/>
                <a:ea typeface="Liter" panose="02000503030000020004" pitchFamily="34" charset="-122"/>
                <a:cs typeface="Liter" panose="02000503030000020004" pitchFamily="34" charset="-120"/>
              </a:rPr>
              <a:t>AI赋能价值传播</a:t>
            </a:r>
            <a:endParaRPr lang="en-US" sz="1600" dirty="0"/>
          </a:p>
        </p:txBody>
      </p:sp>
      <p:sp>
        <p:nvSpPr>
          <p:cNvPr id="18" name="Text 16"/>
          <p:cNvSpPr/>
          <p:nvPr/>
        </p:nvSpPr>
        <p:spPr>
          <a:xfrm>
            <a:off x="8699500" y="2895600"/>
            <a:ext cx="6477000" cy="1651000"/>
          </a:xfrm>
          <a:prstGeom prst="rect">
            <a:avLst/>
          </a:prstGeom>
          <a:noFill/>
        </p:spPr>
        <p:txBody>
          <a:bodyPr wrap="square" lIns="0" tIns="0" rIns="0" bIns="0" rtlCol="0" anchor="t"/>
          <a:lstStyle/>
          <a:p>
            <a:pPr>
              <a:lnSpc>
                <a:spcPct val="160000"/>
              </a:lnSpc>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利用AI技术提升核心价值观传播的精准性与覆盖面，探索技术赋能意识形态工作的创新路径，实现"以技制技"。</a:t>
            </a:r>
            <a:endParaRPr lang="en-US" sz="1800" dirty="0"/>
          </a:p>
        </p:txBody>
      </p:sp>
      <p:sp>
        <p:nvSpPr>
          <p:cNvPr id="19" name="Shape 17"/>
          <p:cNvSpPr/>
          <p:nvPr/>
        </p:nvSpPr>
        <p:spPr>
          <a:xfrm>
            <a:off x="762000" y="5270500"/>
            <a:ext cx="7048500" cy="2794000"/>
          </a:xfrm>
          <a:prstGeom prst="rect">
            <a:avLst/>
          </a:prstGeom>
          <a:solidFill>
            <a:srgbClr val="FFFFFF"/>
          </a:solidFill>
          <a:effectLst>
            <a:outerShdw blurRad="152400" dist="38100" dir="5400000" algn="bl" rotWithShape="0">
              <a:srgbClr val="000000">
                <a:alpha val="3922"/>
              </a:srgbClr>
            </a:outerShdw>
          </a:effectLst>
        </p:spPr>
      </p:sp>
      <p:sp>
        <p:nvSpPr>
          <p:cNvPr id="20" name="Text 18"/>
          <p:cNvSpPr/>
          <p:nvPr/>
        </p:nvSpPr>
        <p:spPr>
          <a:xfrm>
            <a:off x="1016000" y="5461000"/>
            <a:ext cx="762000" cy="508000"/>
          </a:xfrm>
          <a:prstGeom prst="rect">
            <a:avLst/>
          </a:prstGeom>
          <a:noFill/>
        </p:spPr>
        <p:txBody>
          <a:bodyPr wrap="none" lIns="0" tIns="0" rIns="0" bIns="0" rtlCol="0" anchor="ctr"/>
          <a:lstStyle/>
          <a:p>
            <a:pPr>
              <a:lnSpc>
                <a:spcPct val="100000"/>
              </a:lnSpc>
            </a:pPr>
            <a:r>
              <a:rPr lang="en-US" sz="3200" dirty="0">
                <a:solidFill>
                  <a:srgbClr val="B33939"/>
                </a:solidFill>
                <a:latin typeface="Liter" panose="02000503030000020004" pitchFamily="34" charset="0"/>
                <a:ea typeface="Liter" panose="02000503030000020004" pitchFamily="34" charset="-122"/>
                <a:cs typeface="Liter" panose="02000503030000020004" pitchFamily="34" charset="-120"/>
              </a:rPr>
              <a:t>03</a:t>
            </a:r>
            <a:endParaRPr lang="en-US" sz="1600" dirty="0"/>
          </a:p>
        </p:txBody>
      </p:sp>
      <p:sp>
        <p:nvSpPr>
          <p:cNvPr id="21" name="Text 19"/>
          <p:cNvSpPr/>
          <p:nvPr/>
        </p:nvSpPr>
        <p:spPr>
          <a:xfrm>
            <a:off x="1905000" y="5461000"/>
            <a:ext cx="5588000" cy="444500"/>
          </a:xfrm>
          <a:prstGeom prst="rect">
            <a:avLst/>
          </a:prstGeom>
          <a:noFill/>
        </p:spPr>
        <p:txBody>
          <a:bodyPr wrap="none" lIns="0" tIns="0" rIns="0" bIns="0" rtlCol="0" anchor="ctr"/>
          <a:lstStyle/>
          <a:p>
            <a:pPr>
              <a:lnSpc>
                <a:spcPct val="100000"/>
              </a:lnSpc>
            </a:pPr>
            <a:r>
              <a:rPr lang="en-US" sz="2000" dirty="0">
                <a:solidFill>
                  <a:srgbClr val="2D3436"/>
                </a:solidFill>
                <a:latin typeface="Liter" panose="02000503030000020004" pitchFamily="34" charset="0"/>
                <a:ea typeface="Liter" panose="02000503030000020004" pitchFamily="34" charset="-122"/>
                <a:cs typeface="Liter" panose="02000503030000020004" pitchFamily="34" charset="-120"/>
              </a:rPr>
              <a:t>舆情监测机制</a:t>
            </a:r>
            <a:endParaRPr lang="en-US" sz="1600" dirty="0"/>
          </a:p>
        </p:txBody>
      </p:sp>
      <p:sp>
        <p:nvSpPr>
          <p:cNvPr id="22" name="Text 20"/>
          <p:cNvSpPr/>
          <p:nvPr/>
        </p:nvSpPr>
        <p:spPr>
          <a:xfrm>
            <a:off x="1016000" y="6070600"/>
            <a:ext cx="6477000" cy="1651000"/>
          </a:xfrm>
          <a:prstGeom prst="rect">
            <a:avLst/>
          </a:prstGeom>
          <a:noFill/>
        </p:spPr>
        <p:txBody>
          <a:bodyPr wrap="square" lIns="0" tIns="0" rIns="0" bIns="0" rtlCol="0" anchor="t"/>
          <a:lstStyle/>
          <a:p>
            <a:pPr>
              <a:lnSpc>
                <a:spcPct val="160000"/>
              </a:lnSpc>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设计舆情监测和应对机制，为政府相关部门提供可落地、可操作的策略方案，提升意识形态风险的预警和处置能力。</a:t>
            </a:r>
            <a:endParaRPr lang="en-US" sz="1800" dirty="0"/>
          </a:p>
        </p:txBody>
      </p:sp>
      <p:sp>
        <p:nvSpPr>
          <p:cNvPr id="23" name="Shape 21"/>
          <p:cNvSpPr/>
          <p:nvPr/>
        </p:nvSpPr>
        <p:spPr>
          <a:xfrm>
            <a:off x="8445500" y="5270500"/>
            <a:ext cx="7048500" cy="2794000"/>
          </a:xfrm>
          <a:prstGeom prst="rect">
            <a:avLst/>
          </a:prstGeom>
          <a:solidFill>
            <a:srgbClr val="FFFFFF"/>
          </a:solidFill>
          <a:effectLst>
            <a:outerShdw blurRad="152400" dist="38100" dir="5400000" algn="bl" rotWithShape="0">
              <a:srgbClr val="000000">
                <a:alpha val="3922"/>
              </a:srgbClr>
            </a:outerShdw>
          </a:effectLst>
        </p:spPr>
      </p:sp>
      <p:sp>
        <p:nvSpPr>
          <p:cNvPr id="24" name="Text 22"/>
          <p:cNvSpPr/>
          <p:nvPr/>
        </p:nvSpPr>
        <p:spPr>
          <a:xfrm>
            <a:off x="8699500" y="5461000"/>
            <a:ext cx="762000" cy="508000"/>
          </a:xfrm>
          <a:prstGeom prst="rect">
            <a:avLst/>
          </a:prstGeom>
          <a:noFill/>
        </p:spPr>
        <p:txBody>
          <a:bodyPr wrap="none" lIns="0" tIns="0" rIns="0" bIns="0" rtlCol="0" anchor="ctr"/>
          <a:lstStyle/>
          <a:p>
            <a:pPr>
              <a:lnSpc>
                <a:spcPct val="100000"/>
              </a:lnSpc>
            </a:pPr>
            <a:r>
              <a:rPr lang="en-US" sz="3200" dirty="0">
                <a:solidFill>
                  <a:srgbClr val="B33939"/>
                </a:solidFill>
                <a:latin typeface="Liter" panose="02000503030000020004" pitchFamily="34" charset="0"/>
                <a:ea typeface="Liter" panose="02000503030000020004" pitchFamily="34" charset="-122"/>
                <a:cs typeface="Liter" panose="02000503030000020004" pitchFamily="34" charset="-120"/>
              </a:rPr>
              <a:t>04</a:t>
            </a:r>
            <a:endParaRPr lang="en-US" sz="1600" dirty="0"/>
          </a:p>
        </p:txBody>
      </p:sp>
      <p:sp>
        <p:nvSpPr>
          <p:cNvPr id="25" name="Text 23"/>
          <p:cNvSpPr/>
          <p:nvPr/>
        </p:nvSpPr>
        <p:spPr>
          <a:xfrm>
            <a:off x="9588500" y="5461000"/>
            <a:ext cx="5588000" cy="444500"/>
          </a:xfrm>
          <a:prstGeom prst="rect">
            <a:avLst/>
          </a:prstGeom>
          <a:noFill/>
        </p:spPr>
        <p:txBody>
          <a:bodyPr wrap="none" lIns="0" tIns="0" rIns="0" bIns="0" rtlCol="0" anchor="ctr"/>
          <a:lstStyle/>
          <a:p>
            <a:pPr>
              <a:lnSpc>
                <a:spcPct val="100000"/>
              </a:lnSpc>
            </a:pPr>
            <a:r>
              <a:rPr lang="en-US" sz="2000" dirty="0">
                <a:solidFill>
                  <a:srgbClr val="2D3436"/>
                </a:solidFill>
                <a:latin typeface="Liter" panose="02000503030000020004" pitchFamily="34" charset="0"/>
                <a:ea typeface="Liter" panose="02000503030000020004" pitchFamily="34" charset="-122"/>
                <a:cs typeface="Liter" panose="02000503030000020004" pitchFamily="34" charset="-120"/>
              </a:rPr>
              <a:t>创新工作模式</a:t>
            </a:r>
            <a:endParaRPr lang="en-US" sz="1600" dirty="0"/>
          </a:p>
        </p:txBody>
      </p:sp>
      <p:sp>
        <p:nvSpPr>
          <p:cNvPr id="26" name="Text 24"/>
          <p:cNvSpPr/>
          <p:nvPr/>
        </p:nvSpPr>
        <p:spPr>
          <a:xfrm>
            <a:off x="8699500" y="6070600"/>
            <a:ext cx="6477000" cy="1651000"/>
          </a:xfrm>
          <a:prstGeom prst="rect">
            <a:avLst/>
          </a:prstGeom>
          <a:noFill/>
        </p:spPr>
        <p:txBody>
          <a:bodyPr wrap="square" lIns="0" tIns="0" rIns="0" bIns="0" rtlCol="0" anchor="t"/>
          <a:lstStyle/>
          <a:p>
            <a:pPr>
              <a:lnSpc>
                <a:spcPct val="160000"/>
              </a:lnSpc>
            </a:pPr>
            <a:r>
              <a:rPr lang="en-US" sz="1600" dirty="0">
                <a:solidFill>
                  <a:srgbClr val="2D3436"/>
                </a:solidFill>
                <a:latin typeface="QuattrocentoSans" panose="020B0502050000020003" pitchFamily="34" charset="0"/>
                <a:ea typeface="QuattrocentoSans" panose="020B0502050000020003" pitchFamily="34" charset="-122"/>
                <a:cs typeface="QuattrocentoSans" panose="020B0502050000020003" pitchFamily="34" charset="-120"/>
              </a:rPr>
              <a:t>提出数字化背景下思想政治工作的创新模式，推动传统思政工作向智能化、精准化方向转型升级。</a:t>
            </a:r>
            <a:endParaRPr lang="en-US" sz="1800" dirty="0"/>
          </a:p>
        </p:txBody>
      </p:sp>
      <p:sp>
        <p:nvSpPr>
          <p:cNvPr id="27" name="Text 25"/>
          <p:cNvSpPr/>
          <p:nvPr/>
        </p:nvSpPr>
        <p:spPr>
          <a:xfrm>
            <a:off x="15240000" y="8763000"/>
            <a:ext cx="635000" cy="254000"/>
          </a:xfrm>
          <a:prstGeom prst="rect">
            <a:avLst/>
          </a:prstGeom>
          <a:noFill/>
        </p:spPr>
        <p:txBody>
          <a:bodyPr wrap="none" lIns="0" tIns="0" rIns="0" bIns="0" rtlCol="0" anchor="ctr"/>
          <a:lstStyle/>
          <a:p>
            <a:pPr algn="r">
              <a:lnSpc>
                <a:spcPct val="140000"/>
              </a:lnSpc>
            </a:pPr>
            <a:r>
              <a:rPr lang="en-US" sz="1400" dirty="0">
                <a:solidFill>
                  <a:srgbClr val="636E72"/>
                </a:solidFill>
                <a:latin typeface="QuattrocentoSans" panose="020B0502050000020003" pitchFamily="34" charset="0"/>
                <a:ea typeface="QuattrocentoSans" panose="020B0502050000020003" pitchFamily="34" charset="-122"/>
                <a:cs typeface="QuattrocentoSans" panose="020B0502050000020003" pitchFamily="34" charset="-120"/>
              </a:rPr>
              <a:t>14</a:t>
            </a:r>
            <a:endParaRPr lang="en-US" sz="14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okc/vddp6qs6dys5m/mnt/agents/output/dcq_midterm_report/images/9_Abstract_dark_background_with_plexus.png"/>
          <p:cNvPicPr>
            <a:picLocks noChangeAspect="1"/>
          </p:cNvPicPr>
          <p:nvPr/>
        </p:nvPicPr>
        <p:blipFill>
          <a:blip r:embed="rId1"/>
          <a:srcRect l="3111" r="3111"/>
          <a:stretch>
            <a:fillRect/>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flip="none" rotWithShape="1">
            <a:gsLst>
              <a:gs pos="0">
                <a:srgbClr val="2D3436">
                  <a:alpha val="25000"/>
                </a:srgbClr>
              </a:gs>
              <a:gs pos="30000">
                <a:srgbClr val="2D3436">
                  <a:alpha val="80000"/>
                </a:srgbClr>
              </a:gs>
              <a:gs pos="100000">
                <a:srgbClr val="2D3436">
                  <a:alpha val="94000"/>
                </a:srgbClr>
              </a:gs>
            </a:gsLst>
            <a:lin ang="5400000" scaled="1"/>
          </a:gradFill>
          <a:ln w="12700">
            <a:solidFill>
              <a:srgbClr val="333333"/>
            </a:solidFill>
            <a:prstDash val="solid"/>
          </a:ln>
        </p:spPr>
      </p:sp>
      <p:sp>
        <p:nvSpPr>
          <p:cNvPr id="4" name="Shape 1"/>
          <p:cNvSpPr/>
          <p:nvPr/>
        </p:nvSpPr>
        <p:spPr>
          <a:xfrm>
            <a:off x="6858000" y="2794000"/>
            <a:ext cx="2540000" cy="25400"/>
          </a:xfrm>
          <a:prstGeom prst="rect">
            <a:avLst/>
          </a:prstGeom>
          <a:solidFill>
            <a:srgbClr val="B33939"/>
          </a:solidFill>
        </p:spPr>
      </p:sp>
      <p:sp>
        <p:nvSpPr>
          <p:cNvPr id="5" name="Text 2"/>
          <p:cNvSpPr/>
          <p:nvPr/>
        </p:nvSpPr>
        <p:spPr>
          <a:xfrm>
            <a:off x="3048000" y="3111500"/>
            <a:ext cx="10160000" cy="889000"/>
          </a:xfrm>
          <a:prstGeom prst="rect">
            <a:avLst/>
          </a:prstGeom>
          <a:noFill/>
        </p:spPr>
        <p:txBody>
          <a:bodyPr wrap="none" lIns="0" tIns="0" rIns="0" bIns="0" rtlCol="0" anchor="ctr"/>
          <a:lstStyle/>
          <a:p>
            <a:pPr algn="ctr">
              <a:lnSpc>
                <a:spcPct val="100000"/>
              </a:lnSpc>
            </a:pPr>
            <a:r>
              <a:rPr lang="zh-CN" altLang="en-US" sz="4800" kern="0" spc="800" dirty="0">
                <a:solidFill>
                  <a:srgbClr val="F5F6F7"/>
                </a:solidFill>
                <a:latin typeface="Liter" panose="02000503030000020004" pitchFamily="34" charset="0"/>
                <a:ea typeface="Liter" panose="02000503030000020004" pitchFamily="34" charset="-122"/>
                <a:cs typeface="Liter" panose="02000503030000020004" pitchFamily="34" charset="-120"/>
              </a:rPr>
              <a:t>敬请各位</a:t>
            </a:r>
            <a:r>
              <a:rPr lang="zh-CN" altLang="en-US" sz="4800" kern="0" spc="800" dirty="0">
                <a:solidFill>
                  <a:srgbClr val="F5F6F7"/>
                </a:solidFill>
                <a:latin typeface="Liter" panose="02000503030000020004" pitchFamily="34" charset="0"/>
                <a:ea typeface="Liter" panose="02000503030000020004" pitchFamily="34" charset="-122"/>
                <a:cs typeface="Liter" panose="02000503030000020004" pitchFamily="34" charset="-120"/>
              </a:rPr>
              <a:t>老师批评</a:t>
            </a:r>
            <a:r>
              <a:rPr lang="zh-CN" altLang="en-US" sz="4800" kern="0" spc="800" dirty="0">
                <a:solidFill>
                  <a:srgbClr val="F5F6F7"/>
                </a:solidFill>
                <a:latin typeface="Liter" panose="02000503030000020004" pitchFamily="34" charset="0"/>
                <a:ea typeface="Liter" panose="02000503030000020004" pitchFamily="34" charset="-122"/>
                <a:cs typeface="Liter" panose="02000503030000020004" pitchFamily="34" charset="-120"/>
              </a:rPr>
              <a:t>指正</a:t>
            </a:r>
            <a:endParaRPr lang="zh-CN" altLang="en-US" sz="4800" kern="0" spc="800" dirty="0">
              <a:solidFill>
                <a:srgbClr val="F5F6F7"/>
              </a:solidFill>
              <a:latin typeface="Liter" panose="02000503030000020004" pitchFamily="34" charset="0"/>
              <a:ea typeface="Liter" panose="02000503030000020004" pitchFamily="34" charset="-122"/>
              <a:cs typeface="Liter" panose="02000503030000020004" pitchFamily="34" charset="-120"/>
            </a:endParaRPr>
          </a:p>
        </p:txBody>
      </p:sp>
      <p:sp>
        <p:nvSpPr>
          <p:cNvPr id="6" name="Shape 3"/>
          <p:cNvSpPr/>
          <p:nvPr/>
        </p:nvSpPr>
        <p:spPr>
          <a:xfrm>
            <a:off x="6858000" y="4254500"/>
            <a:ext cx="2540000" cy="25400"/>
          </a:xfrm>
          <a:prstGeom prst="rect">
            <a:avLst/>
          </a:prstGeom>
          <a:solidFill>
            <a:srgbClr val="B33939">
              <a:alpha val="50196"/>
            </a:srgbClr>
          </a:solidFill>
        </p:spPr>
      </p:sp>
      <p:sp>
        <p:nvSpPr>
          <p:cNvPr id="7" name="Text 4"/>
          <p:cNvSpPr/>
          <p:nvPr/>
        </p:nvSpPr>
        <p:spPr>
          <a:xfrm>
            <a:off x="3048000" y="5715000"/>
            <a:ext cx="10160000" cy="457200"/>
          </a:xfrm>
          <a:prstGeom prst="rect">
            <a:avLst/>
          </a:prstGeom>
          <a:noFill/>
        </p:spPr>
        <p:txBody>
          <a:bodyPr wrap="none" lIns="0" tIns="0" rIns="0" bIns="0" rtlCol="0" anchor="ctr"/>
          <a:lstStyle/>
          <a:p>
            <a:pPr algn="ctr">
              <a:lnSpc>
                <a:spcPct val="100000"/>
              </a:lnSpc>
            </a:pPr>
            <a:r>
              <a:rPr lang="en-US" sz="2000" dirty="0">
                <a:solidFill>
                  <a:srgbClr val="B0BEC5"/>
                </a:solidFill>
                <a:latin typeface="Quattrocento Sans" panose="020B0502050000020003" pitchFamily="34" charset="0"/>
                <a:ea typeface="Quattrocento Sans" panose="020B0502050000020003" pitchFamily="34" charset="-122"/>
                <a:cs typeface="Quattrocento Sans" panose="020B0502050000020003" pitchFamily="34" charset="-120"/>
              </a:rPr>
              <a:t>新媒体与AI技术背景下意识形态传播研究</a:t>
            </a:r>
            <a:endParaRPr lang="en-US" sz="1600" dirty="0"/>
          </a:p>
        </p:txBody>
      </p:sp>
      <p:sp>
        <p:nvSpPr>
          <p:cNvPr id="9" name="Text 6"/>
          <p:cNvSpPr/>
          <p:nvPr/>
        </p:nvSpPr>
        <p:spPr>
          <a:xfrm>
            <a:off x="5588000" y="7366000"/>
            <a:ext cx="5080000" cy="304800"/>
          </a:xfrm>
          <a:prstGeom prst="rect">
            <a:avLst/>
          </a:prstGeom>
          <a:noFill/>
        </p:spPr>
        <p:txBody>
          <a:bodyPr wrap="none" lIns="0" tIns="0" rIns="0" bIns="0" rtlCol="0" anchor="ctr"/>
          <a:lstStyle/>
          <a:p>
            <a:pPr algn="ctr">
              <a:lnSpc>
                <a:spcPct val="100000"/>
              </a:lnSpc>
            </a:pPr>
            <a:r>
              <a:rPr lang="en-US" sz="1400" dirty="0">
                <a:solidFill>
                  <a:srgbClr val="9EAAAD"/>
                </a:solidFill>
                <a:latin typeface="Quattrocento Sans" panose="020B0502050000020003" pitchFamily="34" charset="0"/>
                <a:ea typeface="Quattrocento Sans" panose="020B0502050000020003" pitchFamily="34" charset="-122"/>
                <a:cs typeface="Quattrocento Sans" panose="020B0502050000020003" pitchFamily="34" charset="-120"/>
              </a:rPr>
              <a:t>2026年5月</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2717</Words>
  <Application>WPS 表格</Application>
  <PresentationFormat>On-screen Show (16:9)</PresentationFormat>
  <Paragraphs>375</Paragraphs>
  <Slides>15</Slides>
  <Notes>15</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15</vt:i4>
      </vt:variant>
    </vt:vector>
  </HeadingPairs>
  <TitlesOfParts>
    <vt:vector size="37" baseType="lpstr">
      <vt:lpstr>Arial</vt:lpstr>
      <vt:lpstr>宋体</vt:lpstr>
      <vt:lpstr>Wingdings</vt:lpstr>
      <vt:lpstr>QuattrocentoSans</vt:lpstr>
      <vt:lpstr>QuattrocentoSans</vt:lpstr>
      <vt:lpstr>QuattrocentoSans</vt:lpstr>
      <vt:lpstr>Liter</vt:lpstr>
      <vt:lpstr>Liter</vt:lpstr>
      <vt:lpstr>Liter</vt:lpstr>
      <vt:lpstr>Quattrocento Sans</vt:lpstr>
      <vt:lpstr>Quattrocento Sans</vt:lpstr>
      <vt:lpstr>Quattrocento Sans</vt:lpstr>
      <vt:lpstr>宋体</vt:lpstr>
      <vt:lpstr>汉仪书宋二KW</vt:lpstr>
      <vt:lpstr>Calibri</vt:lpstr>
      <vt:lpstr>Helvetica Neue</vt:lpstr>
      <vt:lpstr>微软雅黑</vt:lpstr>
      <vt:lpstr>汉仪旗黑</vt:lpstr>
      <vt:lpstr>Arial Unicode MS</vt:lpstr>
      <vt:lpstr>等线</vt:lpstr>
      <vt:lpstr>汉仪中等线KW</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大创中期汇报 - 新媒体与AI技术背景下意识形态传播研究</dc:title>
  <dc:creator>Kimi</dc:creator>
  <dc:subject>大创中期汇报 - 新媒体与AI技术背景下意识形态传播研究</dc:subject>
  <cp:lastModifiedBy>善良的我</cp:lastModifiedBy>
  <cp:revision>3</cp:revision>
  <dcterms:created xsi:type="dcterms:W3CDTF">2026-05-19T02:47:08Z</dcterms:created>
  <dcterms:modified xsi:type="dcterms:W3CDTF">2026-05-19T02:47:08Z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{"Label":"大创中期汇报 - 新媒体与AI技术背景下意识形态传播研究","ContentProducer":"001191110108MACG2KBH8F10000","ProduceID":"19e36133-e202-80ee-8000-00004e7620cf","ReservedCode1":"","ContentPropagator":"001191110108MACG2KBH8F20000","PropagateID":"19e36133-e202-80ee-8000-00004e7620cf","ReservedCode2":""}</vt:lpwstr>
  </property>
  <property fmtid="{D5CDD505-2E9C-101B-9397-08002B2CF9AE}" pid="3" name="KSOProductBuildVer">
    <vt:lpwstr>2052-12.1.25869.25869</vt:lpwstr>
  </property>
  <property fmtid="{D5CDD505-2E9C-101B-9397-08002B2CF9AE}" pid="4" name="ICV">
    <vt:lpwstr>F4C6B304EDEACACF2CCF0B6AFCEE13BE_43</vt:lpwstr>
  </property>
</Properties>
</file>